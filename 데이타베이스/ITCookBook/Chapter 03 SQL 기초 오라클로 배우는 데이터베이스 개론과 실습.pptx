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9"/>
  </p:handoutMasterIdLst>
  <p:sldIdLst>
    <p:sldId id="256" r:id="rId2"/>
    <p:sldId id="266" r:id="rId3"/>
    <p:sldId id="383" r:id="rId4"/>
    <p:sldId id="382" r:id="rId5"/>
    <p:sldId id="384" r:id="rId6"/>
    <p:sldId id="389" r:id="rId7"/>
    <p:sldId id="390" r:id="rId8"/>
    <p:sldId id="391" r:id="rId9"/>
    <p:sldId id="385" r:id="rId10"/>
    <p:sldId id="455" r:id="rId11"/>
    <p:sldId id="462" r:id="rId12"/>
    <p:sldId id="392" r:id="rId13"/>
    <p:sldId id="463" r:id="rId14"/>
    <p:sldId id="393" r:id="rId15"/>
    <p:sldId id="464" r:id="rId16"/>
    <p:sldId id="395" r:id="rId17"/>
    <p:sldId id="403" r:id="rId18"/>
    <p:sldId id="461" r:id="rId19"/>
    <p:sldId id="404" r:id="rId20"/>
    <p:sldId id="405" r:id="rId21"/>
    <p:sldId id="398" r:id="rId22"/>
    <p:sldId id="394" r:id="rId23"/>
    <p:sldId id="396" r:id="rId24"/>
    <p:sldId id="397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415" r:id="rId35"/>
    <p:sldId id="417" r:id="rId36"/>
    <p:sldId id="418" r:id="rId37"/>
    <p:sldId id="419" r:id="rId38"/>
    <p:sldId id="420" r:id="rId39"/>
    <p:sldId id="421" r:id="rId40"/>
    <p:sldId id="459" r:id="rId41"/>
    <p:sldId id="422" r:id="rId42"/>
    <p:sldId id="423" r:id="rId43"/>
    <p:sldId id="424" r:id="rId44"/>
    <p:sldId id="425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433" r:id="rId53"/>
    <p:sldId id="434" r:id="rId54"/>
    <p:sldId id="435" r:id="rId55"/>
    <p:sldId id="436" r:id="rId56"/>
    <p:sldId id="437" r:id="rId57"/>
    <p:sldId id="438" r:id="rId58"/>
    <p:sldId id="460" r:id="rId59"/>
    <p:sldId id="399" r:id="rId60"/>
    <p:sldId id="440" r:id="rId61"/>
    <p:sldId id="441" r:id="rId62"/>
    <p:sldId id="442" r:id="rId63"/>
    <p:sldId id="443" r:id="rId64"/>
    <p:sldId id="444" r:id="rId65"/>
    <p:sldId id="445" r:id="rId66"/>
    <p:sldId id="446" r:id="rId67"/>
    <p:sldId id="447" r:id="rId68"/>
    <p:sldId id="448" r:id="rId69"/>
    <p:sldId id="400" r:id="rId70"/>
    <p:sldId id="449" r:id="rId71"/>
    <p:sldId id="450" r:id="rId72"/>
    <p:sldId id="451" r:id="rId73"/>
    <p:sldId id="452" r:id="rId74"/>
    <p:sldId id="453" r:id="rId75"/>
    <p:sldId id="439" r:id="rId76"/>
    <p:sldId id="458" r:id="rId77"/>
    <p:sldId id="401" r:id="rId78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5050"/>
    <a:srgbClr val="CDF1FF"/>
    <a:srgbClr val="97E1FF"/>
    <a:srgbClr val="00A4E6"/>
    <a:srgbClr val="5BD0FF"/>
    <a:srgbClr val="29C2FF"/>
    <a:srgbClr val="11BBFF"/>
    <a:srgbClr val="21C0FF"/>
    <a:srgbClr val="AB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98898" autoAdjust="0"/>
  </p:normalViewPr>
  <p:slideViewPr>
    <p:cSldViewPr>
      <p:cViewPr>
        <p:scale>
          <a:sx n="123" d="100"/>
          <a:sy n="123" d="100"/>
        </p:scale>
        <p:origin x="-144" y="-48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70"/>
    </p:cViewPr>
  </p:sorterViewPr>
  <p:notesViewPr>
    <p:cSldViewPr>
      <p:cViewPr varScale="1">
        <p:scale>
          <a:sx n="92" d="100"/>
          <a:sy n="92" d="100"/>
        </p:scale>
        <p:origin x="-4080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323850" y="6021388"/>
            <a:ext cx="51256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 dirty="0" smtClean="0">
                <a:latin typeface="+mn-lt"/>
                <a:ea typeface="+mn-ea"/>
              </a:rPr>
              <a:t>SQL</a:t>
            </a:r>
            <a:r>
              <a:rPr kumimoji="0" lang="en-US" altLang="ko-KR" sz="1800" baseline="0" dirty="0" smtClean="0">
                <a:latin typeface="+mn-lt"/>
                <a:ea typeface="+mn-ea"/>
              </a:rPr>
              <a:t> Server</a:t>
            </a:r>
            <a:r>
              <a:rPr kumimoji="0" lang="ko-KR" altLang="en-US" sz="1800" baseline="0" dirty="0" smtClean="0">
                <a:latin typeface="+mn-lt"/>
                <a:ea typeface="+mn-ea"/>
              </a:rPr>
              <a:t>로 배우는 데이터베이스 개론과 실습</a:t>
            </a:r>
            <a:endParaRPr kumimoji="0" lang="ko-KR" altLang="en-US" sz="1600" dirty="0">
              <a:latin typeface="+mn-lt"/>
              <a:ea typeface="+mn-ea"/>
            </a:endParaRPr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323528" y="4689058"/>
            <a:ext cx="8229600" cy="1332230"/>
          </a:xfrm>
        </p:spPr>
        <p:txBody>
          <a:bodyPr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6516211"/>
            <a:ext cx="1558694" cy="230623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97" b="39011"/>
          <a:stretch/>
        </p:blipFill>
        <p:spPr>
          <a:xfrm>
            <a:off x="6444208" y="5693066"/>
            <a:ext cx="2699792" cy="1152128"/>
          </a:xfrm>
          <a:prstGeom prst="rect">
            <a:avLst/>
          </a:prstGeom>
        </p:spPr>
      </p:pic>
      <p:sp>
        <p:nvSpPr>
          <p:cNvPr id="11" name="제목 1"/>
          <p:cNvSpPr txBox="1">
            <a:spLocks/>
          </p:cNvSpPr>
          <p:nvPr userDrawn="1"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en-US" altLang="ko-KR" sz="2800" i="1" dirty="0" smtClean="0">
                <a:solidFill>
                  <a:schemeClr val="bg1"/>
                </a:solidFill>
              </a:rPr>
              <a:t>Chapter 03</a:t>
            </a:r>
            <a:r>
              <a:rPr kumimoji="0" lang="en-US" altLang="ko-KR" dirty="0" smtClean="0">
                <a:solidFill>
                  <a:schemeClr val="bg1"/>
                </a:solidFill>
              </a:rPr>
              <a:t/>
            </a:r>
            <a:br>
              <a:rPr kumimoji="0" lang="en-US" altLang="ko-KR" dirty="0" smtClean="0">
                <a:solidFill>
                  <a:schemeClr val="bg1"/>
                </a:solidFill>
              </a:rPr>
            </a:br>
            <a:r>
              <a:rPr kumimoji="0" lang="en-US" altLang="ko-KR" b="1" dirty="0" smtClean="0">
                <a:solidFill>
                  <a:schemeClr val="bg1"/>
                </a:solidFill>
              </a:rPr>
              <a:t>SQL</a:t>
            </a:r>
            <a:r>
              <a:rPr kumimoji="0" lang="en-US" altLang="ko-KR" b="1" baseline="0" dirty="0" smtClean="0">
                <a:solidFill>
                  <a:schemeClr val="bg1"/>
                </a:solidFill>
              </a:rPr>
              <a:t> </a:t>
            </a:r>
            <a:r>
              <a:rPr kumimoji="0" lang="ko-KR" altLang="en-US" b="1" baseline="0" dirty="0" smtClean="0">
                <a:solidFill>
                  <a:schemeClr val="bg1"/>
                </a:solidFill>
              </a:rPr>
              <a:t>기초</a:t>
            </a:r>
            <a:endParaRPr kumimoji="0"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9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6810" y="3573016"/>
            <a:ext cx="6143382" cy="1902073"/>
          </a:xfrm>
        </p:spPr>
        <p:txBody>
          <a:bodyPr/>
          <a:lstStyle>
            <a:lvl1pPr algn="l"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감사합니다</a:t>
            </a:r>
            <a:endParaRPr lang="ko-KR" altLang="en-US" dirty="0"/>
          </a:p>
        </p:txBody>
      </p:sp>
      <p:sp>
        <p:nvSpPr>
          <p:cNvPr id="7" name="TextBox 9"/>
          <p:cNvSpPr txBox="1"/>
          <p:nvPr userDrawn="1"/>
        </p:nvSpPr>
        <p:spPr>
          <a:xfrm>
            <a:off x="107504" y="5596657"/>
            <a:ext cx="5125634" cy="4062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 dirty="0" smtClean="0">
                <a:latin typeface="+mn-lt"/>
                <a:ea typeface="+mn-ea"/>
              </a:rPr>
              <a:t>SQL</a:t>
            </a:r>
            <a:r>
              <a:rPr kumimoji="0" lang="en-US" altLang="ko-KR" sz="1800" baseline="0" dirty="0" smtClean="0">
                <a:latin typeface="+mn-lt"/>
                <a:ea typeface="+mn-ea"/>
              </a:rPr>
              <a:t> Server</a:t>
            </a:r>
            <a:r>
              <a:rPr kumimoji="0" lang="ko-KR" altLang="en-US" sz="1800" baseline="0" dirty="0" smtClean="0">
                <a:latin typeface="+mn-lt"/>
                <a:ea typeface="+mn-ea"/>
              </a:rPr>
              <a:t>로 배우는 데이터베이스 개론과 실습</a:t>
            </a:r>
            <a:endParaRPr kumimoji="0" lang="ko-KR" altLang="en-US" sz="1600" dirty="0">
              <a:latin typeface="+mn-lt"/>
              <a:ea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0"/>
            <a:ext cx="2771800" cy="6858000"/>
          </a:xfrm>
          <a:prstGeom prst="rect">
            <a:avLst/>
          </a:prstGeom>
        </p:spPr>
      </p:pic>
      <p:sp>
        <p:nvSpPr>
          <p:cNvPr id="9" name="직사각형 6"/>
          <p:cNvSpPr/>
          <p:nvPr userDrawn="1"/>
        </p:nvSpPr>
        <p:spPr>
          <a:xfrm>
            <a:off x="0" y="-17584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97" b="39011"/>
          <a:stretch/>
        </p:blipFill>
        <p:spPr>
          <a:xfrm>
            <a:off x="6444208" y="5693066"/>
            <a:ext cx="2699792" cy="1152128"/>
          </a:xfrm>
          <a:prstGeom prst="rect">
            <a:avLst/>
          </a:prstGeom>
        </p:spPr>
      </p:pic>
      <p:sp>
        <p:nvSpPr>
          <p:cNvPr id="13" name="제목 1"/>
          <p:cNvSpPr txBox="1">
            <a:spLocks/>
          </p:cNvSpPr>
          <p:nvPr userDrawn="1"/>
        </p:nvSpPr>
        <p:spPr bwMode="auto">
          <a:xfrm>
            <a:off x="179512" y="37254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mtClean="0"/>
              <a:t>감사합니다</a:t>
            </a:r>
            <a:endParaRPr kumimoji="0" lang="ko-KR" altLang="en-US" dirty="0"/>
          </a:p>
        </p:txBody>
      </p:sp>
      <p:sp>
        <p:nvSpPr>
          <p:cNvPr id="14" name="직사각형 10"/>
          <p:cNvSpPr/>
          <p:nvPr userDrawn="1"/>
        </p:nvSpPr>
        <p:spPr>
          <a:xfrm flipV="1">
            <a:off x="0" y="5599536"/>
            <a:ext cx="9036496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 userDrawn="1"/>
        </p:nvSpPr>
        <p:spPr bwMode="auto">
          <a:xfrm>
            <a:off x="634256" y="1375873"/>
            <a:ext cx="7186612" cy="646331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dirty="0" err="1" smtClean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rPr>
              <a:t>오라클</a:t>
            </a:r>
            <a:r>
              <a:rPr kumimoji="0" lang="ko-KR" altLang="en-US" sz="1800" baseline="0" dirty="0" err="1" smtClean="0">
                <a:latin typeface="HY견고딕" pitchFamily="18" charset="-127"/>
                <a:ea typeface="HY견고딕" pitchFamily="18" charset="-127"/>
              </a:rPr>
              <a:t>로</a:t>
            </a:r>
            <a:r>
              <a:rPr kumimoji="0" lang="ko-KR" altLang="en-US" sz="1800" baseline="0" dirty="0" smtClean="0">
                <a:latin typeface="HY견고딕" pitchFamily="18" charset="-127"/>
                <a:ea typeface="HY견고딕" pitchFamily="18" charset="-127"/>
              </a:rPr>
              <a:t> 배우는 </a:t>
            </a:r>
            <a:endParaRPr kumimoji="0" lang="en-US" altLang="ko-KR" sz="1800" baseline="0" dirty="0" smtClean="0">
              <a:latin typeface="HY견고딕" pitchFamily="18" charset="-127"/>
              <a:ea typeface="HY견고딕" pitchFamily="18" charset="-127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baseline="0" dirty="0" smtClean="0">
                <a:latin typeface="HY견고딕" pitchFamily="18" charset="-127"/>
                <a:ea typeface="HY견고딕" pitchFamily="18" charset="-127"/>
              </a:rPr>
              <a:t>데이터베이스 개론과 실습 </a:t>
            </a:r>
            <a:endParaRPr kumimoji="0" lang="de-DE" altLang="ko-KR" sz="1800" dirty="0" smtClean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" name="TextBox 7"/>
          <p:cNvSpPr txBox="1"/>
          <p:nvPr userDrawn="1"/>
        </p:nvSpPr>
        <p:spPr>
          <a:xfrm>
            <a:off x="634256" y="2276872"/>
            <a:ext cx="7991475" cy="9848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[</a:t>
            </a:r>
            <a:r>
              <a:rPr kumimoji="0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000" dirty="0" err="1" smtClean="0">
                <a:ea typeface="맑은 고딕" pitchFamily="50" charset="-127"/>
              </a:rPr>
              <a:t>한빛아카데미</a:t>
            </a:r>
            <a:r>
              <a:rPr kumimoji="0" lang="ko-KR" altLang="en-US" sz="1000" dirty="0" smtClean="0">
                <a:ea typeface="맑은 고딕" pitchFamily="50" charset="-127"/>
              </a:rPr>
              <a:t>㈜</a:t>
            </a:r>
            <a:r>
              <a:rPr kumimoji="0" lang="ko-KR" altLang="en-US" sz="1000" dirty="0">
                <a:ea typeface="맑은 고딕" pitchFamily="50" charset="-127"/>
              </a:rPr>
              <a:t>에 있습니다</a:t>
            </a:r>
            <a:r>
              <a:rPr kumimoji="0" lang="en-US" altLang="ko-KR" sz="1000" dirty="0">
                <a:ea typeface="맑은 고딕" pitchFamily="50" charset="-127"/>
              </a:rPr>
              <a:t>.</a:t>
            </a:r>
            <a:r>
              <a:rPr kumimoji="0" lang="ko-KR" altLang="en-US" sz="10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조에 </a:t>
            </a:r>
            <a:r>
              <a:rPr kumimoji="0" lang="ko-KR" altLang="en-US" sz="1000" u="sng" dirty="0" smtClean="0">
                <a:solidFill>
                  <a:srgbClr val="222222"/>
                </a:solidFill>
                <a:ea typeface="맑은 고딕" pitchFamily="50" charset="-127"/>
              </a:rPr>
              <a:t>의거하여 처벌을 받을 수 있습니다</a:t>
            </a:r>
            <a:r>
              <a:rPr kumimoji="0" lang="en-US" altLang="ko-KR" sz="1000" u="sng" dirty="0" smtClean="0">
                <a:solidFill>
                  <a:srgbClr val="222222"/>
                </a:solidFill>
                <a:ea typeface="맑은 고딕" pitchFamily="50" charset="-127"/>
              </a:rPr>
              <a:t>.</a:t>
            </a: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5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7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926277"/>
            <a:ext cx="121602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71577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483171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7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4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19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 smtClean="0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2017-08-04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9" r:id="rId3"/>
    <p:sldLayoutId id="2147483690" r:id="rId4"/>
    <p:sldLayoutId id="2147483679" r:id="rId5"/>
    <p:sldLayoutId id="2147483680" r:id="rId6"/>
    <p:sldLayoutId id="2147483686" r:id="rId7"/>
    <p:sldLayoutId id="2147483685" r:id="rId8"/>
    <p:sldLayoutId id="2147483688" r:id="rId9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0"/>
          <p:cNvSpPr/>
          <p:nvPr/>
        </p:nvSpPr>
        <p:spPr>
          <a:xfrm flipV="1">
            <a:off x="0" y="5599536"/>
            <a:ext cx="9036496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971550" y="1844675"/>
            <a:ext cx="7056438" cy="4105275"/>
          </a:xfrm>
        </p:spPr>
        <p:txBody>
          <a:bodyPr/>
          <a:lstStyle/>
          <a:p>
            <a:r>
              <a:rPr lang="en-US" altLang="ko-KR" dirty="0"/>
              <a:t>SQL </a:t>
            </a:r>
            <a:r>
              <a:rPr lang="ko-KR" altLang="en-US" dirty="0"/>
              <a:t>학습을 </a:t>
            </a:r>
            <a:r>
              <a:rPr lang="ko-KR" altLang="en-US" dirty="0" smtClean="0"/>
              <a:t>위한 준비</a:t>
            </a:r>
            <a:endParaRPr lang="ko-KR" altLang="en-US" dirty="0"/>
          </a:p>
          <a:p>
            <a:r>
              <a:rPr lang="en-US" altLang="ko-KR" dirty="0"/>
              <a:t>SQL </a:t>
            </a:r>
            <a:r>
              <a:rPr lang="ko-KR" altLang="en-US" dirty="0"/>
              <a:t>개요</a:t>
            </a:r>
          </a:p>
          <a:p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검색</a:t>
            </a:r>
          </a:p>
          <a:p>
            <a:r>
              <a:rPr lang="ko-KR" altLang="en-US" dirty="0"/>
              <a:t>데이터 </a:t>
            </a:r>
            <a:r>
              <a:rPr lang="ko-KR" altLang="en-US" dirty="0" err="1"/>
              <a:t>정의어</a:t>
            </a:r>
            <a:endParaRPr lang="ko-KR" altLang="en-US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삽입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 smtClean="0"/>
              <a:t>삭제</a:t>
            </a:r>
            <a:endParaRPr lang="ko-KR" altLang="en-US" dirty="0"/>
          </a:p>
          <a:p>
            <a:endParaRPr lang="en-US" altLang="ko-K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SQL</a:t>
            </a:r>
            <a:r>
              <a:rPr lang="ko-KR" altLang="en-US" sz="1600" dirty="0"/>
              <a:t>의 개념과 주요 명령어를 알아본다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SELECT </a:t>
            </a:r>
            <a:r>
              <a:rPr lang="ko-KR" altLang="en-US" sz="1600" dirty="0"/>
              <a:t>문을 이용하여 질의를 처리하는 방법을 알아본다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집계 함수와 </a:t>
            </a:r>
            <a:r>
              <a:rPr lang="en-US" altLang="ko-KR" sz="1600" dirty="0"/>
              <a:t>GROUP BY </a:t>
            </a:r>
            <a:r>
              <a:rPr lang="ko-KR" altLang="en-US" sz="1600" dirty="0"/>
              <a:t>문을 이용하여 질의를 처리하는 방법을 알아본다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두 개 이상의 테이블을 조회하여 질의를 처리하는 방법을 알아본다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DDL</a:t>
            </a:r>
            <a:r>
              <a:rPr lang="ko-KR" altLang="en-US" sz="1600" dirty="0" smtClean="0"/>
              <a:t>로 </a:t>
            </a:r>
            <a:r>
              <a:rPr lang="ko-KR" altLang="en-US" sz="1600" dirty="0"/>
              <a:t>테이블의 구조를 정의하고 변경하는 방법을 알아본다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DML</a:t>
            </a:r>
            <a:r>
              <a:rPr lang="ko-KR" altLang="en-US" sz="1600" dirty="0" smtClean="0"/>
              <a:t>로 </a:t>
            </a:r>
            <a:r>
              <a:rPr lang="ko-KR" altLang="en-US" sz="1600" dirty="0"/>
              <a:t>데이터를 삽입</a:t>
            </a:r>
            <a:r>
              <a:rPr lang="en-US" altLang="ko-KR" sz="1600" dirty="0"/>
              <a:t>, </a:t>
            </a:r>
            <a:r>
              <a:rPr lang="ko-KR" altLang="en-US" sz="1600" dirty="0"/>
              <a:t>수정</a:t>
            </a:r>
            <a:r>
              <a:rPr lang="en-US" altLang="ko-KR" sz="1600" dirty="0"/>
              <a:t>, </a:t>
            </a:r>
            <a:r>
              <a:rPr lang="ko-KR" altLang="en-US" sz="1600" dirty="0"/>
              <a:t>삭제하는 방법을 알아본다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2862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52028"/>
            <a:ext cx="7560840" cy="548680"/>
          </a:xfrm>
        </p:spPr>
        <p:txBody>
          <a:bodyPr/>
          <a:lstStyle/>
          <a:p>
            <a:r>
              <a:rPr lang="en-US" altLang="ko-KR" dirty="0" smtClean="0"/>
              <a:t>01</a:t>
            </a:r>
            <a:r>
              <a:rPr lang="en-US" altLang="ko-KR" dirty="0"/>
              <a:t>. </a:t>
            </a:r>
            <a:r>
              <a:rPr lang="en-US" altLang="ko-KR" dirty="0" smtClean="0"/>
              <a:t>SQL </a:t>
            </a:r>
            <a:r>
              <a:rPr lang="ko-KR" altLang="en-US" dirty="0" smtClean="0"/>
              <a:t>학습을 위한 준비</a:t>
            </a:r>
            <a:endParaRPr lang="ko-KR" alt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95536" y="1196752"/>
            <a:ext cx="8064896" cy="5472608"/>
          </a:xfrm>
        </p:spPr>
        <p:txBody>
          <a:bodyPr/>
          <a:lstStyle/>
          <a:p>
            <a:r>
              <a:rPr lang="ko-KR" altLang="en-US" dirty="0"/>
              <a:t>마당서점의 데이터</a:t>
            </a:r>
            <a:endParaRPr lang="en-US" altLang="ko-KR" dirty="0"/>
          </a:p>
          <a:p>
            <a:r>
              <a:rPr lang="ko-KR" altLang="en-US" dirty="0"/>
              <a:t>누가 어떤 정보를 원하는가</a:t>
            </a:r>
            <a:r>
              <a:rPr lang="en-US" altLang="ko-KR" dirty="0"/>
              <a:t>?</a:t>
            </a:r>
          </a:p>
          <a:p>
            <a:r>
              <a:rPr lang="ko-KR" altLang="en-US" dirty="0" err="1" smtClean="0"/>
              <a:t>오라클과</a:t>
            </a:r>
            <a:r>
              <a:rPr lang="ko-KR" altLang="en-US" dirty="0" smtClean="0"/>
              <a:t> 샘플 데이터 설치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SQL </a:t>
            </a:r>
            <a:r>
              <a:rPr lang="ko-KR" altLang="en-US" dirty="0" smtClean="0"/>
              <a:t>학습을 위한 준비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629715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 현황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1"/>
            <a:ext cx="5684425" cy="478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2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SQL </a:t>
            </a:r>
            <a:r>
              <a:rPr lang="ko-KR" altLang="en-US" dirty="0" smtClean="0"/>
              <a:t>학습을 위한 준비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3593" y="550358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 운영 시스템 환경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84784"/>
            <a:ext cx="7385434" cy="401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5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마당서점의 데이터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030742"/>
              </p:ext>
            </p:extLst>
          </p:nvPr>
        </p:nvGraphicFramePr>
        <p:xfrm>
          <a:off x="467544" y="1268760"/>
          <a:ext cx="3681440" cy="3124962"/>
        </p:xfrm>
        <a:graphic>
          <a:graphicData uri="http://schemas.openxmlformats.org/drawingml/2006/table">
            <a:tbl>
              <a:tblPr/>
              <a:tblGrid>
                <a:gridCol w="723938"/>
                <a:gridCol w="1373326"/>
                <a:gridCol w="936104"/>
                <a:gridCol w="648072"/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여자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95399"/>
              </p:ext>
            </p:extLst>
          </p:nvPr>
        </p:nvGraphicFramePr>
        <p:xfrm>
          <a:off x="476562" y="4942668"/>
          <a:ext cx="3697510" cy="1726692"/>
        </p:xfrm>
        <a:graphic>
          <a:graphicData uri="http://schemas.openxmlformats.org/drawingml/2006/table">
            <a:tbl>
              <a:tblPr/>
              <a:tblGrid>
                <a:gridCol w="601166"/>
                <a:gridCol w="648072"/>
                <a:gridCol w="1224136"/>
                <a:gridCol w="1224136"/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8380"/>
              </p:ext>
            </p:extLst>
          </p:nvPr>
        </p:nvGraphicFramePr>
        <p:xfrm>
          <a:off x="4581032" y="1268760"/>
          <a:ext cx="4104456" cy="3162282"/>
        </p:xfrm>
        <a:graphic>
          <a:graphicData uri="http://schemas.openxmlformats.org/drawingml/2006/table">
            <a:tbl>
              <a:tblPr/>
              <a:tblGrid>
                <a:gridCol w="682241"/>
                <a:gridCol w="682241"/>
                <a:gridCol w="682241"/>
                <a:gridCol w="808333"/>
                <a:gridCol w="1249400"/>
              </a:tblGrid>
              <a:tr h="283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386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3988" y="446160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3-3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Book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테이블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39952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3-4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Customer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테이블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27984" y="45091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3-4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Orders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테이블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1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88" y="4293096"/>
            <a:ext cx="3950600" cy="52081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88" y="1916832"/>
            <a:ext cx="4166549" cy="52081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50" y="3137621"/>
            <a:ext cx="4788991" cy="53352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마당서점의 데이터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29605" y="501620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마당서점의 데이터 구성도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92088" y="148478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 smtClean="0"/>
              <a:t>Book(</a:t>
            </a:r>
            <a:r>
              <a:rPr lang="en-US" altLang="ko-KR" sz="1400" u="sng" dirty="0" err="1" smtClean="0"/>
              <a:t>bookid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publisher, price)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792088" y="2803029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 smtClean="0"/>
              <a:t>Orders(</a:t>
            </a:r>
            <a:r>
              <a:rPr lang="en-US" altLang="ko-KR" sz="1400" u="sng" dirty="0" err="1" smtClean="0"/>
              <a:t>orderid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custid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bookid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saleprice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orderdate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792088" y="3983037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 smtClean="0"/>
              <a:t>Customer(</a:t>
            </a:r>
            <a:r>
              <a:rPr lang="en-US" altLang="ko-KR" sz="1400" u="sng" dirty="0" err="1" smtClean="0"/>
              <a:t>custid</a:t>
            </a:r>
            <a:r>
              <a:rPr lang="en-US" altLang="ko-KR" sz="1400" dirty="0" smtClean="0"/>
              <a:t>, name, address, phone)</a:t>
            </a:r>
            <a:endParaRPr lang="ko-KR" altLang="en-US" sz="1400" dirty="0"/>
          </a:p>
        </p:txBody>
      </p:sp>
      <p:cxnSp>
        <p:nvCxnSpPr>
          <p:cNvPr id="20" name="꺾인 연결선 19"/>
          <p:cNvCxnSpPr/>
          <p:nvPr/>
        </p:nvCxnSpPr>
        <p:spPr>
          <a:xfrm rot="5400000">
            <a:off x="1003902" y="3586243"/>
            <a:ext cx="1133053" cy="530535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rot="5400000">
            <a:off x="1152128" y="2204864"/>
            <a:ext cx="288032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1296144" y="2348880"/>
            <a:ext cx="1296144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2592288" y="2348880"/>
            <a:ext cx="0" cy="936104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65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누가 어떤 정보를 원하는가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80728"/>
            <a:ext cx="7200800" cy="5384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89484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사용자 그룹별로 원하는 정보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01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오라클과</a:t>
            </a:r>
            <a:r>
              <a:rPr lang="ko-KR" altLang="en-US" dirty="0" smtClean="0"/>
              <a:t> 샘플 데이터 설치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1124744"/>
            <a:ext cx="7575484" cy="489654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 err="1" smtClean="0">
                <a:latin typeface="+mj-ea"/>
                <a:ea typeface="+mj-ea"/>
              </a:rPr>
              <a:t>오라클</a:t>
            </a:r>
            <a:r>
              <a:rPr lang="ko-KR" altLang="en-US" sz="1400" b="1" dirty="0" smtClean="0">
                <a:latin typeface="+mj-ea"/>
                <a:ea typeface="+mj-ea"/>
              </a:rPr>
              <a:t> </a:t>
            </a:r>
            <a:r>
              <a:rPr lang="en-US" altLang="ko-KR" sz="1400" b="1" dirty="0" smtClean="0">
                <a:latin typeface="+mj-ea"/>
                <a:ea typeface="+mj-ea"/>
              </a:rPr>
              <a:t>11g r2 </a:t>
            </a:r>
            <a:r>
              <a:rPr lang="ko-KR" altLang="en-US" sz="1400" b="1" dirty="0" smtClean="0">
                <a:latin typeface="+mj-ea"/>
                <a:ea typeface="+mj-ea"/>
              </a:rPr>
              <a:t>설치</a:t>
            </a:r>
            <a:r>
              <a:rPr lang="en-US" altLang="ko-KR" sz="1400" b="1" dirty="0" smtClean="0">
                <a:latin typeface="+mj-ea"/>
                <a:ea typeface="+mj-ea"/>
              </a:rPr>
              <a:t>(</a:t>
            </a:r>
            <a:r>
              <a:rPr lang="ko-KR" altLang="en-US" sz="1400" b="1" dirty="0" smtClean="0">
                <a:latin typeface="+mj-ea"/>
                <a:ea typeface="+mj-ea"/>
              </a:rPr>
              <a:t>부록 </a:t>
            </a:r>
            <a:r>
              <a:rPr lang="en-US" altLang="ko-KR" sz="1400" b="1" dirty="0" smtClean="0">
                <a:latin typeface="+mj-ea"/>
                <a:ea typeface="+mj-ea"/>
              </a:rPr>
              <a:t>A </a:t>
            </a:r>
            <a:r>
              <a:rPr lang="ko-KR" altLang="en-US" sz="1400" b="1" dirty="0" smtClean="0">
                <a:latin typeface="+mj-ea"/>
                <a:ea typeface="+mj-ea"/>
              </a:rPr>
              <a:t>참조</a:t>
            </a:r>
            <a:r>
              <a:rPr lang="en-US" altLang="ko-KR" sz="1400" b="1" dirty="0" smtClean="0">
                <a:latin typeface="+mj-ea"/>
                <a:ea typeface="+mj-ea"/>
              </a:rPr>
              <a:t>)</a:t>
            </a:r>
          </a:p>
          <a:p>
            <a:pPr marL="3556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+mj-ea"/>
                <a:ea typeface="+mj-ea"/>
              </a:rPr>
              <a:t>오라클</a:t>
            </a:r>
            <a:r>
              <a:rPr lang="ko-KR" altLang="en-US" sz="1200" dirty="0" smtClean="0">
                <a:latin typeface="+mj-ea"/>
                <a:ea typeface="+mj-ea"/>
              </a:rPr>
              <a:t> </a:t>
            </a:r>
            <a:r>
              <a:rPr lang="en-US" altLang="ko-KR" sz="1200" dirty="0" smtClean="0">
                <a:latin typeface="+mj-ea"/>
                <a:ea typeface="+mj-ea"/>
              </a:rPr>
              <a:t>DBMS</a:t>
            </a:r>
            <a:r>
              <a:rPr lang="ko-KR" altLang="en-US" sz="1200" dirty="0" smtClean="0">
                <a:latin typeface="+mj-ea"/>
                <a:ea typeface="+mj-ea"/>
              </a:rPr>
              <a:t>를 </a:t>
            </a:r>
            <a:r>
              <a:rPr lang="ko-KR" altLang="en-US" sz="1200" dirty="0" err="1" smtClean="0">
                <a:latin typeface="+mj-ea"/>
                <a:ea typeface="+mj-ea"/>
              </a:rPr>
              <a:t>내려받아</a:t>
            </a:r>
            <a:r>
              <a:rPr lang="ko-KR" altLang="en-US" sz="1200" dirty="0" smtClean="0">
                <a:latin typeface="+mj-ea"/>
                <a:ea typeface="+mj-ea"/>
              </a:rPr>
              <a:t> 설치함</a:t>
            </a:r>
            <a:r>
              <a:rPr lang="en-US" altLang="ko-KR" sz="1200" dirty="0" smtClean="0">
                <a:latin typeface="+mj-ea"/>
                <a:ea typeface="+mj-ea"/>
              </a:rPr>
              <a:t>(C:\app\madang\product\11.2.0\dbhome_1 </a:t>
            </a:r>
            <a:r>
              <a:rPr lang="ko-KR" altLang="en-US" sz="1200" dirty="0" smtClean="0">
                <a:latin typeface="+mj-ea"/>
                <a:ea typeface="+mj-ea"/>
              </a:rPr>
              <a:t>폴더</a:t>
            </a:r>
            <a:r>
              <a:rPr lang="en-US" altLang="ko-KR" sz="1200" dirty="0" smtClean="0">
                <a:latin typeface="+mj-ea"/>
                <a:ea typeface="+mj-ea"/>
              </a:rPr>
              <a:t>)</a:t>
            </a:r>
          </a:p>
          <a:p>
            <a:pPr marL="3556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j-ea"/>
                <a:ea typeface="+mj-ea"/>
              </a:rPr>
              <a:t>시스템 관리자 계정 </a:t>
            </a:r>
            <a:r>
              <a:rPr lang="en-US" altLang="ko-KR" sz="1200" dirty="0" smtClean="0">
                <a:latin typeface="+mj-ea"/>
                <a:ea typeface="+mj-ea"/>
              </a:rPr>
              <a:t>: system, </a:t>
            </a:r>
            <a:r>
              <a:rPr lang="ko-KR" altLang="en-US" sz="1200" dirty="0" smtClean="0">
                <a:latin typeface="+mj-ea"/>
                <a:ea typeface="+mj-ea"/>
              </a:rPr>
              <a:t>비밀번호 </a:t>
            </a:r>
            <a:r>
              <a:rPr lang="en-US" altLang="ko-KR" sz="1200" smtClean="0">
                <a:latin typeface="+mj-ea"/>
                <a:ea typeface="+mj-ea"/>
              </a:rPr>
              <a:t>: Manager1(</a:t>
            </a:r>
            <a:r>
              <a:rPr lang="ko-KR" altLang="en-US" sz="1200" dirty="0" smtClean="0">
                <a:latin typeface="+mj-ea"/>
                <a:ea typeface="+mj-ea"/>
              </a:rPr>
              <a:t>비밀번호에</a:t>
            </a:r>
            <a:r>
              <a:rPr lang="en-US" altLang="ko-KR" sz="1200" dirty="0" smtClean="0">
                <a:latin typeface="+mj-ea"/>
                <a:ea typeface="+mj-ea"/>
              </a:rPr>
              <a:t> </a:t>
            </a:r>
            <a:r>
              <a:rPr lang="ko-KR" altLang="en-US" sz="1200" dirty="0" smtClean="0">
                <a:latin typeface="+mj-ea"/>
                <a:ea typeface="+mj-ea"/>
              </a:rPr>
              <a:t>대문자와 숫자가 필요</a:t>
            </a:r>
            <a:r>
              <a:rPr lang="en-US" altLang="ko-KR" sz="1200" dirty="0" smtClean="0">
                <a:latin typeface="+mj-ea"/>
                <a:ea typeface="+mj-ea"/>
              </a:rPr>
              <a:t>)</a:t>
            </a:r>
          </a:p>
          <a:p>
            <a:pPr marL="3556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+mj-ea"/>
                <a:ea typeface="+mj-ea"/>
              </a:rPr>
              <a:t>[</a:t>
            </a:r>
            <a:r>
              <a:rPr lang="ko-KR" altLang="en-US" sz="1200" dirty="0" smtClean="0">
                <a:latin typeface="+mj-ea"/>
                <a:ea typeface="+mj-ea"/>
              </a:rPr>
              <a:t>시작</a:t>
            </a:r>
            <a:r>
              <a:rPr lang="en-US" altLang="ko-KR" sz="1200" dirty="0" smtClean="0">
                <a:latin typeface="+mj-ea"/>
                <a:ea typeface="+mj-ea"/>
              </a:rPr>
              <a:t>]-[</a:t>
            </a:r>
            <a:r>
              <a:rPr lang="ko-KR" altLang="en-US" sz="1200" dirty="0" smtClean="0">
                <a:latin typeface="+mj-ea"/>
                <a:ea typeface="+mj-ea"/>
              </a:rPr>
              <a:t>모든 프로그램</a:t>
            </a:r>
            <a:r>
              <a:rPr lang="en-US" altLang="ko-KR" sz="1200" dirty="0" smtClean="0">
                <a:latin typeface="+mj-ea"/>
                <a:ea typeface="+mj-ea"/>
              </a:rPr>
              <a:t>]-[Oracle-OraDB11g_home1]-[</a:t>
            </a:r>
            <a:r>
              <a:rPr lang="ko-KR" altLang="en-US" sz="1200" dirty="0" smtClean="0">
                <a:latin typeface="+mj-ea"/>
                <a:ea typeface="+mj-ea"/>
              </a:rPr>
              <a:t>응용 프로그램 개발</a:t>
            </a:r>
            <a:r>
              <a:rPr lang="en-US" altLang="ko-KR" sz="1200" dirty="0" smtClean="0">
                <a:latin typeface="+mj-ea"/>
                <a:ea typeface="+mj-ea"/>
              </a:rPr>
              <a:t>] </a:t>
            </a:r>
            <a:r>
              <a:rPr lang="ko-KR" altLang="en-US" sz="1200" dirty="0" smtClean="0">
                <a:latin typeface="+mj-ea"/>
                <a:ea typeface="+mj-ea"/>
              </a:rPr>
              <a:t>메뉴에</a:t>
            </a:r>
            <a:r>
              <a:rPr lang="en-US" altLang="ko-KR" sz="1200" dirty="0" smtClean="0">
                <a:latin typeface="+mj-ea"/>
                <a:ea typeface="+mj-ea"/>
              </a:rPr>
              <a:t> </a:t>
            </a:r>
            <a:r>
              <a:rPr lang="ko-KR" altLang="en-US" sz="1200" dirty="0" smtClean="0">
                <a:latin typeface="+mj-ea"/>
                <a:ea typeface="+mj-ea"/>
              </a:rPr>
              <a:t>포함된 </a:t>
            </a:r>
            <a:r>
              <a:rPr lang="en-US" altLang="ko-KR" sz="1200" dirty="0" smtClean="0">
                <a:latin typeface="+mj-ea"/>
                <a:ea typeface="+mj-ea"/>
              </a:rPr>
              <a:t>SQL </a:t>
            </a:r>
            <a:r>
              <a:rPr lang="ko-KR" altLang="en-US" sz="1200" dirty="0" smtClean="0">
                <a:latin typeface="+mj-ea"/>
                <a:ea typeface="+mj-ea"/>
              </a:rPr>
              <a:t>프로그램 사용 가능</a:t>
            </a:r>
            <a:endParaRPr lang="en-US" altLang="ko-KR" sz="1200" dirty="0" smtClean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 smtClean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 smtClean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+mj-ea"/>
              <a:ea typeface="+mj-ea"/>
            </a:endParaRPr>
          </a:p>
          <a:p>
            <a:endParaRPr lang="en-US" altLang="ko-KR" sz="1400" b="1" dirty="0" smtClean="0"/>
          </a:p>
          <a:p>
            <a:endParaRPr lang="en-US" altLang="ko-KR" sz="1400" b="1" dirty="0"/>
          </a:p>
          <a:p>
            <a:pPr>
              <a:lnSpc>
                <a:spcPct val="150000"/>
              </a:lnSpc>
            </a:pPr>
            <a:endParaRPr lang="en-US" altLang="ko-KR" sz="1400" b="1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smtClean="0">
                <a:latin typeface="+mn-ea"/>
                <a:ea typeface="+mn-ea"/>
              </a:rPr>
              <a:t>오라클 </a:t>
            </a:r>
            <a:r>
              <a:rPr lang="en-US" altLang="ko-KR" sz="1400" b="1" dirty="0">
                <a:latin typeface="+mn-ea"/>
                <a:ea typeface="+mn-ea"/>
              </a:rPr>
              <a:t>11g </a:t>
            </a:r>
            <a:r>
              <a:rPr lang="ko-KR" altLang="en-US" sz="1400" b="1" dirty="0">
                <a:latin typeface="+mn-ea"/>
                <a:ea typeface="+mn-ea"/>
              </a:rPr>
              <a:t>설치 소요시간 </a:t>
            </a:r>
            <a:endParaRPr lang="ko-KR" altLang="en-US" sz="1400" dirty="0">
              <a:latin typeface="+mn-ea"/>
              <a:ea typeface="+mn-ea"/>
            </a:endParaRPr>
          </a:p>
          <a:p>
            <a:pPr marL="3556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+mn-ea"/>
                <a:ea typeface="+mn-ea"/>
              </a:rPr>
              <a:t>오라클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en-US" altLang="ko-KR" sz="1200" dirty="0">
                <a:latin typeface="+mn-ea"/>
                <a:ea typeface="+mn-ea"/>
              </a:rPr>
              <a:t>11g </a:t>
            </a:r>
            <a:r>
              <a:rPr lang="ko-KR" altLang="en-US" sz="1200" dirty="0">
                <a:latin typeface="+mn-ea"/>
                <a:ea typeface="+mn-ea"/>
              </a:rPr>
              <a:t>버전은 설치 파일이 용량이 </a:t>
            </a:r>
            <a:r>
              <a:rPr lang="en-US" altLang="ko-KR" sz="1200" dirty="0">
                <a:latin typeface="+mn-ea"/>
                <a:ea typeface="+mn-ea"/>
              </a:rPr>
              <a:t>2G</a:t>
            </a:r>
            <a:r>
              <a:rPr lang="ko-KR" altLang="en-US" sz="1200" dirty="0">
                <a:latin typeface="+mn-ea"/>
                <a:ea typeface="+mn-ea"/>
              </a:rPr>
              <a:t>가 넘기 때문에 다운로드부터 설치까지 많은 </a:t>
            </a:r>
            <a:r>
              <a:rPr lang="ko-KR" altLang="en-US" sz="1200">
                <a:latin typeface="+mn-ea"/>
                <a:ea typeface="+mn-ea"/>
              </a:rPr>
              <a:t>시간이 </a:t>
            </a:r>
            <a:r>
              <a:rPr lang="ko-KR" altLang="en-US" sz="1200" smtClean="0">
                <a:latin typeface="+mn-ea"/>
                <a:ea typeface="+mn-ea"/>
              </a:rPr>
              <a:t>소요됨</a:t>
            </a:r>
            <a:r>
              <a:rPr lang="en-US" altLang="ko-KR" sz="1200" smtClean="0">
                <a:latin typeface="+mn-ea"/>
                <a:ea typeface="+mn-ea"/>
              </a:rPr>
              <a:t> </a:t>
            </a:r>
          </a:p>
          <a:p>
            <a:pPr marL="3556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mtClean="0">
                <a:latin typeface="+mn-ea"/>
                <a:ea typeface="+mn-ea"/>
              </a:rPr>
              <a:t>다운로드 </a:t>
            </a:r>
            <a:r>
              <a:rPr lang="ko-KR" altLang="en-US" sz="1200" dirty="0">
                <a:latin typeface="+mn-ea"/>
                <a:ea typeface="+mn-ea"/>
              </a:rPr>
              <a:t>속도가 </a:t>
            </a:r>
            <a:r>
              <a:rPr lang="en-US" altLang="ko-KR" sz="1200" dirty="0">
                <a:latin typeface="+mn-ea"/>
                <a:ea typeface="+mn-ea"/>
              </a:rPr>
              <a:t>5M/</a:t>
            </a:r>
            <a:r>
              <a:rPr lang="ko-KR" altLang="en-US" sz="1200" dirty="0">
                <a:latin typeface="+mn-ea"/>
                <a:ea typeface="+mn-ea"/>
              </a:rPr>
              <a:t>초인 시스템에서 </a:t>
            </a:r>
            <a:r>
              <a:rPr lang="en-US" altLang="ko-KR" sz="1200" dirty="0">
                <a:latin typeface="+mn-ea"/>
                <a:ea typeface="+mn-ea"/>
              </a:rPr>
              <a:t>10</a:t>
            </a:r>
            <a:r>
              <a:rPr lang="ko-KR" altLang="en-US" sz="1200" dirty="0" smtClean="0">
                <a:latin typeface="+mn-ea"/>
                <a:ea typeface="+mn-ea"/>
              </a:rPr>
              <a:t>분 </a:t>
            </a:r>
            <a:r>
              <a:rPr lang="ko-KR" altLang="en-US" sz="1200" smtClean="0">
                <a:latin typeface="+mn-ea"/>
                <a:ea typeface="+mn-ea"/>
              </a:rPr>
              <a:t>정도 소요</a:t>
            </a:r>
            <a:r>
              <a:rPr lang="en-US" altLang="ko-KR" sz="1200" smtClean="0">
                <a:latin typeface="+mn-ea"/>
                <a:ea typeface="+mn-ea"/>
              </a:rPr>
              <a:t>(</a:t>
            </a:r>
            <a:r>
              <a:rPr lang="ko-KR" altLang="en-US" sz="1200" smtClean="0">
                <a:latin typeface="+mn-ea"/>
                <a:ea typeface="+mn-ea"/>
              </a:rPr>
              <a:t>속도가 </a:t>
            </a:r>
            <a:r>
              <a:rPr lang="ko-KR" altLang="en-US" sz="1200" dirty="0">
                <a:latin typeface="+mn-ea"/>
                <a:ea typeface="+mn-ea"/>
              </a:rPr>
              <a:t>느리다면 </a:t>
            </a:r>
            <a:r>
              <a:rPr lang="en-US" altLang="ko-KR" sz="1200" dirty="0">
                <a:latin typeface="+mn-ea"/>
                <a:ea typeface="+mn-ea"/>
              </a:rPr>
              <a:t>30</a:t>
            </a:r>
            <a:r>
              <a:rPr lang="ko-KR" altLang="en-US" sz="1200" dirty="0">
                <a:latin typeface="+mn-ea"/>
                <a:ea typeface="+mn-ea"/>
              </a:rPr>
              <a:t>분 이상 소요될 </a:t>
            </a:r>
            <a:r>
              <a:rPr lang="ko-KR" altLang="en-US" sz="1200">
                <a:latin typeface="+mn-ea"/>
                <a:ea typeface="+mn-ea"/>
              </a:rPr>
              <a:t>수도 </a:t>
            </a:r>
            <a:r>
              <a:rPr lang="ko-KR" altLang="en-US" sz="1200" smtClean="0">
                <a:latin typeface="+mn-ea"/>
                <a:ea typeface="+mn-ea"/>
              </a:rPr>
              <a:t>있음</a:t>
            </a:r>
            <a:r>
              <a:rPr lang="en-US" altLang="ko-KR" sz="1200" smtClean="0">
                <a:latin typeface="+mn-ea"/>
                <a:ea typeface="+mn-ea"/>
              </a:rPr>
              <a:t>)</a:t>
            </a:r>
          </a:p>
          <a:p>
            <a:pPr marL="3556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mtClean="0">
                <a:latin typeface="+mn-ea"/>
                <a:ea typeface="+mn-ea"/>
              </a:rPr>
              <a:t>설치 </a:t>
            </a:r>
            <a:r>
              <a:rPr lang="ko-KR" altLang="en-US" sz="1200" dirty="0">
                <a:latin typeface="+mn-ea"/>
                <a:ea typeface="+mn-ea"/>
              </a:rPr>
              <a:t>시간도 </a:t>
            </a:r>
            <a:r>
              <a:rPr lang="en-US" altLang="ko-KR" sz="1200" dirty="0">
                <a:latin typeface="+mn-ea"/>
                <a:ea typeface="+mn-ea"/>
              </a:rPr>
              <a:t>30</a:t>
            </a:r>
            <a:r>
              <a:rPr lang="ko-KR" altLang="en-US" sz="1200" dirty="0">
                <a:latin typeface="+mn-ea"/>
                <a:ea typeface="+mn-ea"/>
              </a:rPr>
              <a:t>분 정도 소요될 </a:t>
            </a:r>
            <a:r>
              <a:rPr lang="ko-KR" altLang="en-US" sz="1200">
                <a:latin typeface="+mn-ea"/>
                <a:ea typeface="+mn-ea"/>
              </a:rPr>
              <a:t>수 </a:t>
            </a:r>
            <a:r>
              <a:rPr lang="ko-KR" altLang="en-US" sz="1200" smtClean="0">
                <a:latin typeface="+mn-ea"/>
                <a:ea typeface="+mn-ea"/>
              </a:rPr>
              <a:t>있음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86811"/>
              </p:ext>
            </p:extLst>
          </p:nvPr>
        </p:nvGraphicFramePr>
        <p:xfrm>
          <a:off x="715415" y="2724298"/>
          <a:ext cx="7155706" cy="1697436"/>
        </p:xfrm>
        <a:graphic>
          <a:graphicData uri="http://schemas.openxmlformats.org/drawingml/2006/table">
            <a:tbl>
              <a:tblPr/>
              <a:tblGrid>
                <a:gridCol w="2432394"/>
                <a:gridCol w="2361656"/>
                <a:gridCol w="2361656"/>
              </a:tblGrid>
              <a:tr h="61731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윈도우 </a:t>
                      </a:r>
                      <a:r>
                        <a:rPr lang="ko-KR" altLang="en-US" sz="1200" b="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오라클</a:t>
                      </a:r>
                      <a:r>
                        <a:rPr lang="ko-KR" altLang="en-US" sz="1200" b="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버전 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윈도우 </a:t>
                      </a:r>
                      <a:r>
                        <a:rPr lang="en-US" altLang="ko-KR" sz="1200" b="0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7(32bit)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윈도우 </a:t>
                      </a:r>
                      <a:r>
                        <a:rPr lang="en-US" altLang="ko-KR" sz="1200" b="0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7(64bit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11g</a:t>
                      </a: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sz="1200" b="0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XE(Express </a:t>
                      </a: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Edition)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11g </a:t>
                      </a:r>
                      <a:r>
                        <a:rPr lang="en-US" sz="1200" b="0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r2 standard </a:t>
                      </a: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r2(release 2)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12c </a:t>
                      </a:r>
                      <a:r>
                        <a:rPr lang="pt-BR" sz="1200" b="0" kern="0" spc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r1 standard </a:t>
                      </a:r>
                      <a:r>
                        <a:rPr lang="pt-BR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r1(release 1)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O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25638" y="28162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715415" y="2765550"/>
            <a:ext cx="2448272" cy="564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40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오라클과</a:t>
            </a:r>
            <a:r>
              <a:rPr lang="ko-KR" altLang="en-US" dirty="0" smtClean="0"/>
              <a:t> 샘플 데이터 설치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1268760"/>
            <a:ext cx="7575484" cy="324036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 smtClean="0">
                <a:latin typeface="+mj-ea"/>
                <a:ea typeface="+mj-ea"/>
              </a:rPr>
              <a:t>샘플 데이터베이스 설치</a:t>
            </a:r>
            <a:r>
              <a:rPr lang="en-US" altLang="ko-KR" sz="1400" b="1" dirty="0" smtClean="0">
                <a:latin typeface="+mj-ea"/>
                <a:ea typeface="+mj-ea"/>
              </a:rPr>
              <a:t>(</a:t>
            </a:r>
            <a:r>
              <a:rPr lang="ko-KR" altLang="en-US" sz="1400" b="1" dirty="0" smtClean="0">
                <a:latin typeface="+mj-ea"/>
                <a:ea typeface="+mj-ea"/>
              </a:rPr>
              <a:t>부록 </a:t>
            </a:r>
            <a:r>
              <a:rPr lang="en-US" altLang="ko-KR" sz="1400" b="1" dirty="0" smtClean="0">
                <a:latin typeface="+mj-ea"/>
                <a:ea typeface="+mj-ea"/>
              </a:rPr>
              <a:t>B.3~B4 </a:t>
            </a:r>
            <a:r>
              <a:rPr lang="ko-KR" altLang="en-US" sz="1400" b="1" dirty="0" smtClean="0">
                <a:latin typeface="+mj-ea"/>
                <a:ea typeface="+mj-ea"/>
              </a:rPr>
              <a:t>참조</a:t>
            </a:r>
            <a:r>
              <a:rPr lang="en-US" altLang="ko-KR" sz="1400" b="1" dirty="0" smtClean="0">
                <a:latin typeface="+mj-ea"/>
                <a:ea typeface="+mj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>
                <a:latin typeface="+mj-ea"/>
                <a:ea typeface="+mj-ea"/>
              </a:rPr>
              <a:t>madang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ko-KR" altLang="en-US" sz="1400" dirty="0" smtClean="0">
                <a:latin typeface="+mj-ea"/>
                <a:ea typeface="+mj-ea"/>
              </a:rPr>
              <a:t>사용자 계정 및 샘플 데이터베이스 설치 </a:t>
            </a:r>
            <a:r>
              <a:rPr lang="en-US" altLang="ko-KR" sz="1400" dirty="0" smtClean="0">
                <a:latin typeface="+mj-ea"/>
                <a:ea typeface="+mj-ea"/>
              </a:rPr>
              <a:t>: </a:t>
            </a:r>
            <a:r>
              <a:rPr lang="en-US" altLang="ko-KR" sz="1400" b="1" dirty="0" smtClean="0">
                <a:latin typeface="+mj-ea"/>
                <a:ea typeface="+mj-ea"/>
              </a:rPr>
              <a:t>B.3 </a:t>
            </a:r>
            <a:br>
              <a:rPr lang="en-US" altLang="ko-KR" sz="1400" b="1" dirty="0" smtClean="0">
                <a:latin typeface="+mj-ea"/>
                <a:ea typeface="+mj-ea"/>
              </a:rPr>
            </a:br>
            <a:r>
              <a:rPr lang="en-US" altLang="ko-KR" sz="1400" dirty="0" smtClean="0">
                <a:latin typeface="+mj-ea"/>
                <a:ea typeface="+mj-ea"/>
              </a:rPr>
              <a:t>(</a:t>
            </a:r>
            <a:r>
              <a:rPr lang="ko-KR" altLang="en-US" sz="1400" smtClean="0">
                <a:latin typeface="+mj-ea"/>
                <a:ea typeface="+mj-ea"/>
              </a:rPr>
              <a:t>스크립트를</a:t>
            </a:r>
            <a:r>
              <a:rPr lang="en-US" altLang="ko-KR" sz="1400" smtClean="0">
                <a:latin typeface="+mj-ea"/>
                <a:ea typeface="+mj-ea"/>
              </a:rPr>
              <a:t> </a:t>
            </a:r>
            <a:r>
              <a:rPr lang="ko-KR" altLang="en-US" sz="1400" smtClean="0">
                <a:latin typeface="+mj-ea"/>
                <a:ea typeface="+mj-ea"/>
              </a:rPr>
              <a:t>실행한다</a:t>
            </a:r>
            <a:r>
              <a:rPr lang="en-US" altLang="ko-KR" sz="1400" smtClean="0">
                <a:latin typeface="+mj-ea"/>
                <a:ea typeface="+mj-ea"/>
              </a:rPr>
              <a:t>-demo_madang.sql</a:t>
            </a:r>
            <a:r>
              <a:rPr lang="en-US" altLang="ko-KR" sz="1400" dirty="0" smtClean="0">
                <a:latin typeface="+mj-ea"/>
                <a:ea typeface="+mj-ea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>
                <a:latin typeface="+mj-ea"/>
                <a:ea typeface="+mj-ea"/>
              </a:rPr>
              <a:t>scott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ko-KR" altLang="en-US" sz="1400" dirty="0" smtClean="0">
                <a:latin typeface="+mj-ea"/>
                <a:ea typeface="+mj-ea"/>
              </a:rPr>
              <a:t>사용자 계정 사용</a:t>
            </a:r>
            <a:r>
              <a:rPr lang="en-US" altLang="ko-KR" sz="1400" dirty="0" smtClean="0">
                <a:latin typeface="+mj-ea"/>
                <a:ea typeface="+mj-ea"/>
              </a:rPr>
              <a:t>(</a:t>
            </a:r>
            <a:r>
              <a:rPr lang="ko-KR" altLang="en-US" sz="1400" dirty="0" smtClean="0">
                <a:latin typeface="+mj-ea"/>
                <a:ea typeface="+mj-ea"/>
              </a:rPr>
              <a:t>해제</a:t>
            </a:r>
            <a:r>
              <a:rPr lang="en-US" altLang="ko-KR" sz="1400" dirty="0" smtClean="0">
                <a:latin typeface="+mj-ea"/>
                <a:ea typeface="+mj-ea"/>
              </a:rPr>
              <a:t>)</a:t>
            </a:r>
            <a:r>
              <a:rPr lang="ko-KR" altLang="en-US" sz="1400" dirty="0" smtClean="0">
                <a:latin typeface="+mj-ea"/>
                <a:ea typeface="+mj-ea"/>
              </a:rPr>
              <a:t> </a:t>
            </a:r>
            <a:r>
              <a:rPr lang="en-US" altLang="ko-KR" sz="1400" dirty="0">
                <a:latin typeface="+mj-ea"/>
                <a:ea typeface="+mj-ea"/>
              </a:rPr>
              <a:t>: </a:t>
            </a:r>
            <a:r>
              <a:rPr lang="en-US" altLang="ko-KR" sz="1400" b="1" dirty="0" smtClean="0">
                <a:latin typeface="+mj-ea"/>
                <a:ea typeface="+mj-ea"/>
              </a:rPr>
              <a:t>B.4 </a:t>
            </a:r>
            <a:br>
              <a:rPr lang="en-US" altLang="ko-KR" sz="1400" b="1" dirty="0" smtClean="0">
                <a:latin typeface="+mj-ea"/>
                <a:ea typeface="+mj-ea"/>
              </a:rPr>
            </a:br>
            <a:r>
              <a:rPr lang="ko-KR" altLang="en-US" sz="1400" dirty="0" err="1" smtClean="0">
                <a:latin typeface="+mj-ea"/>
                <a:ea typeface="+mj-ea"/>
              </a:rPr>
              <a:t>오라클의</a:t>
            </a:r>
            <a:r>
              <a:rPr lang="ko-KR" altLang="en-US" sz="1400" dirty="0" smtClean="0">
                <a:latin typeface="+mj-ea"/>
                <a:ea typeface="+mj-ea"/>
              </a:rPr>
              <a:t> 기본 계정으로 이미 설치되어 있다</a:t>
            </a:r>
            <a:r>
              <a:rPr lang="en-US" altLang="ko-KR" sz="1400" dirty="0" smtClean="0">
                <a:latin typeface="+mj-ea"/>
                <a:ea typeface="+mj-ea"/>
              </a:rPr>
              <a:t>. </a:t>
            </a:r>
            <a:r>
              <a:rPr lang="ko-KR" altLang="en-US" sz="1400" dirty="0" smtClean="0">
                <a:latin typeface="+mj-ea"/>
                <a:ea typeface="+mj-ea"/>
              </a:rPr>
              <a:t>예제로 </a:t>
            </a:r>
            <a:r>
              <a:rPr lang="en-US" altLang="ko-KR" sz="1400" dirty="0" err="1" smtClean="0">
                <a:latin typeface="+mj-ea"/>
                <a:ea typeface="+mj-ea"/>
              </a:rPr>
              <a:t>Emp</a:t>
            </a:r>
            <a:r>
              <a:rPr lang="ko-KR" altLang="en-US" sz="1400" dirty="0" smtClean="0">
                <a:latin typeface="+mj-ea"/>
                <a:ea typeface="+mj-ea"/>
              </a:rPr>
              <a:t>와 </a:t>
            </a:r>
            <a:r>
              <a:rPr lang="en-US" altLang="ko-KR" sz="1400" dirty="0" err="1" smtClean="0">
                <a:latin typeface="+mj-ea"/>
                <a:ea typeface="+mj-ea"/>
              </a:rPr>
              <a:t>Dept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ko-KR" altLang="en-US" sz="1400" dirty="0" smtClean="0">
                <a:latin typeface="+mj-ea"/>
                <a:ea typeface="+mj-ea"/>
              </a:rPr>
              <a:t>테이블 포함</a:t>
            </a:r>
            <a:r>
              <a:rPr lang="en-US" altLang="ko-KR" sz="1400" dirty="0" smtClean="0">
                <a:latin typeface="+mj-ea"/>
                <a:ea typeface="+mj-ea"/>
              </a:rPr>
              <a:t/>
            </a:r>
            <a:br>
              <a:rPr lang="en-US" altLang="ko-KR" sz="1400" dirty="0" smtClean="0">
                <a:latin typeface="+mj-ea"/>
                <a:ea typeface="+mj-ea"/>
              </a:rPr>
            </a:br>
            <a:r>
              <a:rPr lang="ko-KR" altLang="en-US" sz="1400" dirty="0" smtClean="0">
                <a:latin typeface="+mj-ea"/>
                <a:ea typeface="+mj-ea"/>
              </a:rPr>
              <a:t>계정 사용</a:t>
            </a:r>
            <a:r>
              <a:rPr lang="en-US" altLang="ko-KR" sz="1400" dirty="0" smtClean="0">
                <a:latin typeface="+mj-ea"/>
                <a:ea typeface="+mj-ea"/>
              </a:rPr>
              <a:t>(</a:t>
            </a:r>
            <a:r>
              <a:rPr lang="ko-KR" altLang="en-US" sz="1400" dirty="0" smtClean="0">
                <a:latin typeface="+mj-ea"/>
                <a:ea typeface="+mj-ea"/>
              </a:rPr>
              <a:t>해제</a:t>
            </a:r>
            <a:r>
              <a:rPr lang="en-US" altLang="ko-KR" sz="1400" dirty="0" smtClean="0">
                <a:latin typeface="+mj-ea"/>
                <a:ea typeface="+mj-ea"/>
              </a:rPr>
              <a:t>) </a:t>
            </a:r>
            <a:r>
              <a:rPr lang="ko-KR" altLang="en-US" sz="1400" dirty="0" smtClean="0">
                <a:latin typeface="+mj-ea"/>
                <a:ea typeface="+mj-ea"/>
              </a:rPr>
              <a:t>명령 </a:t>
            </a:r>
            <a:r>
              <a:rPr lang="en-US" altLang="ko-KR" sz="1400" dirty="0" smtClean="0">
                <a:latin typeface="+mj-ea"/>
                <a:ea typeface="+mj-ea"/>
              </a:rPr>
              <a:t>: ALTER USER </a:t>
            </a:r>
            <a:r>
              <a:rPr lang="en-US" altLang="ko-KR" sz="1400" dirty="0" err="1" smtClean="0">
                <a:latin typeface="+mj-ea"/>
                <a:ea typeface="+mj-ea"/>
              </a:rPr>
              <a:t>scott</a:t>
            </a:r>
            <a:r>
              <a:rPr lang="en-US" altLang="ko-KR" sz="1400" dirty="0" smtClean="0">
                <a:latin typeface="+mj-ea"/>
                <a:ea typeface="+mj-ea"/>
              </a:rPr>
              <a:t> ACCOUNT UNLOCK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latin typeface="+mj-ea"/>
                <a:ea typeface="+mj-ea"/>
              </a:rPr>
              <a:t> </a:t>
            </a:r>
            <a:endParaRPr lang="en-US" altLang="ko-KR" sz="1400" b="1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 smtClean="0">
                <a:latin typeface="+mj-ea"/>
                <a:ea typeface="+mj-ea"/>
              </a:rPr>
              <a:t>SQL Developer </a:t>
            </a:r>
            <a:r>
              <a:rPr lang="ko-KR" altLang="en-US" sz="1400" b="1" dirty="0" smtClean="0">
                <a:latin typeface="+mj-ea"/>
                <a:ea typeface="+mj-ea"/>
              </a:rPr>
              <a:t>설치</a:t>
            </a:r>
            <a:r>
              <a:rPr lang="en-US" altLang="ko-KR" sz="1400" b="1" dirty="0" smtClean="0">
                <a:latin typeface="+mj-ea"/>
                <a:ea typeface="+mj-ea"/>
              </a:rPr>
              <a:t>(</a:t>
            </a:r>
            <a:r>
              <a:rPr lang="ko-KR" altLang="en-US" sz="1400" b="1" dirty="0" smtClean="0">
                <a:latin typeface="+mj-ea"/>
                <a:ea typeface="+mj-ea"/>
              </a:rPr>
              <a:t>부록 </a:t>
            </a:r>
            <a:r>
              <a:rPr lang="en-US" altLang="ko-KR" sz="1400" b="1" dirty="0" smtClean="0">
                <a:latin typeface="+mj-ea"/>
                <a:ea typeface="+mj-ea"/>
              </a:rPr>
              <a:t>B.1 </a:t>
            </a:r>
            <a:r>
              <a:rPr lang="ko-KR" altLang="en-US" sz="1400" b="1" dirty="0" smtClean="0">
                <a:latin typeface="+mj-ea"/>
                <a:ea typeface="+mj-ea"/>
              </a:rPr>
              <a:t>참조</a:t>
            </a:r>
            <a:r>
              <a:rPr lang="en-US" altLang="ko-KR" sz="1400" b="1" dirty="0" smtClean="0">
                <a:latin typeface="+mj-ea"/>
                <a:ea typeface="+mj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 smtClean="0">
                <a:latin typeface="+mj-ea"/>
                <a:ea typeface="+mj-ea"/>
              </a:rPr>
              <a:t>오라클</a:t>
            </a:r>
            <a:r>
              <a:rPr lang="ko-KR" altLang="en-US" sz="1400" dirty="0" smtClean="0">
                <a:latin typeface="+mj-ea"/>
                <a:ea typeface="+mj-ea"/>
              </a:rPr>
              <a:t> 홈페이지에서 본인의 환경에 맞는 버전 </a:t>
            </a:r>
            <a:r>
              <a:rPr lang="ko-KR" altLang="en-US" sz="1400" dirty="0" err="1" smtClean="0">
                <a:latin typeface="+mj-ea"/>
                <a:ea typeface="+mj-ea"/>
              </a:rPr>
              <a:t>다운로드하여</a:t>
            </a:r>
            <a:r>
              <a:rPr lang="ko-KR" altLang="en-US" sz="1400" dirty="0" smtClean="0">
                <a:latin typeface="+mj-ea"/>
                <a:ea typeface="+mj-ea"/>
              </a:rPr>
              <a:t> 설치 </a:t>
            </a:r>
            <a:endParaRPr lang="en-US" altLang="ko-KR" sz="1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ko-KR" altLang="en-US" sz="1400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953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514" y="2256854"/>
            <a:ext cx="4768312" cy="311313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92" y="1700808"/>
            <a:ext cx="3101653" cy="368274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SQL Plus 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1559" y="1243261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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4924" y="1172381"/>
            <a:ext cx="3024336" cy="41074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b="1" dirty="0" smtClean="0">
                <a:latin typeface="+mj-ea"/>
                <a:ea typeface="+mj-ea"/>
              </a:rPr>
              <a:t>SQL Plus </a:t>
            </a:r>
            <a:r>
              <a:rPr lang="ko-KR" altLang="en-US" sz="1600" b="1" dirty="0" smtClean="0">
                <a:latin typeface="+mj-ea"/>
                <a:ea typeface="+mj-ea"/>
              </a:rPr>
              <a:t>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7924" y="1844824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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31994" y="1772816"/>
            <a:ext cx="3024336" cy="41074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b="1" dirty="0" err="1" smtClean="0">
                <a:latin typeface="+mj-ea"/>
                <a:ea typeface="+mj-ea"/>
              </a:rPr>
              <a:t>쿼리창</a:t>
            </a:r>
            <a:r>
              <a:rPr lang="ko-KR" altLang="en-US" sz="1600" b="1" dirty="0" smtClean="0">
                <a:latin typeface="+mj-ea"/>
                <a:ea typeface="+mj-ea"/>
              </a:rPr>
              <a:t> 열기</a:t>
            </a:r>
            <a:endParaRPr lang="en-US" altLang="ko-KR" sz="1600" b="1" dirty="0" smtClean="0">
              <a:latin typeface="+mj-ea"/>
              <a:ea typeface="+mj-ea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791383" y="4458147"/>
            <a:ext cx="1836401" cy="19498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3995936" y="2981599"/>
            <a:ext cx="1736689" cy="37539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524023" y="3025279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dirty="0" smtClean="0">
                <a:solidFill>
                  <a:srgbClr val="C00000"/>
                </a:solidFill>
                <a:sym typeface="Wingdings 2"/>
              </a:rPr>
              <a:t></a:t>
            </a:r>
            <a:endParaRPr lang="ko-KR" altLang="en-US" sz="1400" dirty="0" smtClean="0">
              <a:solidFill>
                <a:srgbClr val="C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7657" y="4470966"/>
            <a:ext cx="360237" cy="23860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dirty="0" smtClean="0">
                <a:solidFill>
                  <a:srgbClr val="C00000"/>
                </a:solidFill>
                <a:sym typeface="Wingdings 2"/>
              </a:rPr>
              <a:t></a:t>
            </a:r>
            <a:endParaRPr lang="ko-KR" altLang="en-US" sz="140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323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SQL Plus 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83568" y="1124744"/>
            <a:ext cx="7699132" cy="561662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latin typeface="+mn-ea"/>
                <a:ea typeface="+mn-ea"/>
              </a:rPr>
              <a:t>		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n-ea"/>
                <a:ea typeface="+mn-ea"/>
              </a:rPr>
              <a:t>SQL </a:t>
            </a:r>
            <a:r>
              <a:rPr lang="ko-KR" altLang="en-US" sz="1400" b="1" dirty="0">
                <a:latin typeface="+mn-ea"/>
                <a:ea typeface="+mn-ea"/>
              </a:rPr>
              <a:t>문을 작성할 때 주로 사용하는 </a:t>
            </a:r>
            <a:r>
              <a:rPr lang="ko-KR" altLang="en-US" sz="1400" b="1" dirty="0" smtClean="0">
                <a:latin typeface="+mn-ea"/>
                <a:ea typeface="+mn-ea"/>
              </a:rPr>
              <a:t>명령어</a:t>
            </a:r>
            <a:endParaRPr lang="ko-KR" altLang="en-US" sz="1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&lt;Tip&gt; SQL Plus</a:t>
            </a:r>
            <a:r>
              <a:rPr lang="ko-KR" altLang="en-US" sz="1400" dirty="0">
                <a:latin typeface="+mn-ea"/>
                <a:ea typeface="+mn-ea"/>
              </a:rPr>
              <a:t>에서 사용하는 명령어에 관한 자세한 설명은 </a:t>
            </a:r>
            <a:r>
              <a:rPr lang="ko-KR" altLang="en-US" sz="1400" dirty="0" smtClean="0">
                <a:latin typeface="+mn-ea"/>
                <a:ea typeface="+mn-ea"/>
              </a:rPr>
              <a:t>다음 링크 참고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         http</a:t>
            </a:r>
            <a:r>
              <a:rPr lang="en-US" altLang="ko-KR" sz="1400" dirty="0">
                <a:latin typeface="+mn-ea"/>
                <a:ea typeface="+mn-ea"/>
              </a:rPr>
              <a:t>://docs.oracle.com/cd/E11882_01/server.112/e16604/ch_twelve001.htm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&lt;/Tip&gt;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-</a:t>
            </a:r>
            <a:r>
              <a:rPr lang="ko-KR" altLang="en-US" sz="1400" dirty="0">
                <a:latin typeface="+mn-ea"/>
                <a:ea typeface="+mn-ea"/>
              </a:rPr>
              <a:t>데이터베이스 접속 </a:t>
            </a:r>
            <a:r>
              <a:rPr lang="en-US" altLang="ko-KR" sz="1400" dirty="0">
                <a:latin typeface="+mn-ea"/>
                <a:ea typeface="+mn-ea"/>
              </a:rPr>
              <a:t>: conn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conn </a:t>
            </a:r>
            <a:r>
              <a:rPr lang="en-US" altLang="ko-KR" sz="1400" dirty="0" err="1">
                <a:latin typeface="+mn-ea"/>
                <a:ea typeface="+mn-ea"/>
              </a:rPr>
              <a:t>scott</a:t>
            </a:r>
            <a:r>
              <a:rPr lang="en-US" altLang="ko-KR" sz="1400" dirty="0">
                <a:latin typeface="+mn-ea"/>
                <a:ea typeface="+mn-ea"/>
              </a:rPr>
              <a:t>/tiger : </a:t>
            </a:r>
            <a:r>
              <a:rPr lang="en-US" altLang="ko-KR" sz="1400" dirty="0" err="1">
                <a:latin typeface="+mn-ea"/>
                <a:ea typeface="+mn-ea"/>
              </a:rPr>
              <a:t>scott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계정에 비밀번호 </a:t>
            </a:r>
            <a:r>
              <a:rPr lang="en-US" altLang="ko-KR" sz="1400" dirty="0">
                <a:latin typeface="+mn-ea"/>
                <a:ea typeface="+mn-ea"/>
              </a:rPr>
              <a:t>tiger</a:t>
            </a:r>
            <a:r>
              <a:rPr lang="ko-KR" altLang="en-US" sz="1400" dirty="0">
                <a:latin typeface="+mn-ea"/>
                <a:ea typeface="+mn-ea"/>
              </a:rPr>
              <a:t>로 </a:t>
            </a:r>
            <a:r>
              <a:rPr lang="ko-KR" altLang="en-US" sz="1400" dirty="0" smtClean="0">
                <a:latin typeface="+mn-ea"/>
                <a:ea typeface="+mn-ea"/>
              </a:rPr>
              <a:t>접속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명령어 실행 </a:t>
            </a:r>
            <a:r>
              <a:rPr lang="en-US" altLang="ko-KR" sz="1400" dirty="0">
                <a:latin typeface="+mn-ea"/>
                <a:ea typeface="+mn-ea"/>
              </a:rPr>
              <a:t>: run, /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run : </a:t>
            </a:r>
            <a:r>
              <a:rPr lang="ko-KR" altLang="en-US" sz="1400" dirty="0">
                <a:latin typeface="+mn-ea"/>
                <a:ea typeface="+mn-ea"/>
              </a:rPr>
              <a:t>바로 전에 실행했던 명령어를 다시 </a:t>
            </a:r>
            <a:r>
              <a:rPr lang="ko-KR" altLang="en-US" sz="1400" dirty="0" smtClean="0">
                <a:latin typeface="+mn-ea"/>
                <a:ea typeface="+mn-ea"/>
              </a:rPr>
              <a:t>실행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/ : run</a:t>
            </a:r>
            <a:r>
              <a:rPr lang="ko-KR" altLang="en-US" sz="1400" dirty="0">
                <a:latin typeface="+mn-ea"/>
                <a:ea typeface="+mn-ea"/>
              </a:rPr>
              <a:t>과 같은 </a:t>
            </a:r>
            <a:r>
              <a:rPr lang="ko-KR" altLang="en-US" sz="1400" dirty="0" smtClean="0">
                <a:latin typeface="+mn-ea"/>
                <a:ea typeface="+mn-ea"/>
              </a:rPr>
              <a:t>의미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명령어 찾기 </a:t>
            </a:r>
            <a:r>
              <a:rPr lang="en-US" altLang="ko-KR" sz="1400" dirty="0">
                <a:latin typeface="+mn-ea"/>
                <a:ea typeface="+mn-ea"/>
              </a:rPr>
              <a:t>: list, 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list : </a:t>
            </a:r>
            <a:r>
              <a:rPr lang="ko-KR" altLang="en-US" sz="1400" dirty="0">
                <a:latin typeface="+mn-ea"/>
                <a:ea typeface="+mn-ea"/>
              </a:rPr>
              <a:t>마지막에 수행했던 명령어를 출력한다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  <a:r>
              <a:rPr lang="ko-KR" altLang="en-US" sz="1400" dirty="0">
                <a:latin typeface="+mn-ea"/>
                <a:ea typeface="+mn-ea"/>
              </a:rPr>
              <a:t>직전 </a:t>
            </a:r>
            <a:r>
              <a:rPr lang="ko-KR" altLang="en-US" sz="1400" dirty="0" err="1">
                <a:latin typeface="+mn-ea"/>
                <a:ea typeface="+mn-ea"/>
              </a:rPr>
              <a:t>명령줄이</a:t>
            </a:r>
            <a:r>
              <a:rPr lang="ko-KR" altLang="en-US" sz="1400" dirty="0">
                <a:latin typeface="+mn-ea"/>
                <a:ea typeface="+mn-ea"/>
              </a:rPr>
              <a:t> 길 </a:t>
            </a:r>
            <a:r>
              <a:rPr lang="ko-KR" altLang="en-US" sz="1400" dirty="0" smtClean="0">
                <a:latin typeface="+mn-ea"/>
                <a:ea typeface="+mn-ea"/>
              </a:rPr>
              <a:t>때 편리함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메모장을 이용하여 명령어 작성 및 실행하기 </a:t>
            </a:r>
            <a:r>
              <a:rPr lang="en-US" altLang="ko-KR" sz="1400" dirty="0">
                <a:latin typeface="+mn-ea"/>
                <a:ea typeface="+mn-ea"/>
              </a:rPr>
              <a:t>: </a:t>
            </a:r>
            <a:r>
              <a:rPr lang="en-US" altLang="ko-KR" sz="1400" dirty="0" err="1">
                <a:latin typeface="+mn-ea"/>
                <a:ea typeface="+mn-ea"/>
              </a:rPr>
              <a:t>ed</a:t>
            </a:r>
            <a:r>
              <a:rPr lang="en-US" altLang="ko-KR" sz="1400" dirty="0">
                <a:latin typeface="+mn-ea"/>
                <a:ea typeface="+mn-ea"/>
              </a:rPr>
              <a:t> &lt;</a:t>
            </a:r>
            <a:r>
              <a:rPr lang="ko-KR" altLang="en-US" sz="1400" dirty="0">
                <a:latin typeface="+mn-ea"/>
                <a:ea typeface="+mn-ea"/>
              </a:rPr>
              <a:t>파일이름</a:t>
            </a:r>
            <a:r>
              <a:rPr lang="en-US" altLang="ko-KR" sz="1400" dirty="0">
                <a:latin typeface="+mn-ea"/>
                <a:ea typeface="+mn-ea"/>
              </a:rPr>
              <a:t>&gt;, run &lt;</a:t>
            </a:r>
            <a:r>
              <a:rPr lang="ko-KR" altLang="en-US" sz="1400" dirty="0">
                <a:latin typeface="+mn-ea"/>
                <a:ea typeface="+mn-ea"/>
              </a:rPr>
              <a:t>파일이름</a:t>
            </a:r>
            <a:r>
              <a:rPr lang="en-US" altLang="ko-KR" sz="1400" dirty="0">
                <a:latin typeface="+mn-ea"/>
                <a:ea typeface="+mn-ea"/>
              </a:rPr>
              <a:t>&gt;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</a:t>
            </a:r>
            <a:r>
              <a:rPr lang="en-US" altLang="ko-KR" sz="1400" dirty="0" err="1">
                <a:latin typeface="+mn-ea"/>
                <a:ea typeface="+mn-ea"/>
              </a:rPr>
              <a:t>ed</a:t>
            </a:r>
            <a:r>
              <a:rPr lang="en-US" altLang="ko-KR" sz="1400" dirty="0">
                <a:latin typeface="+mn-ea"/>
                <a:ea typeface="+mn-ea"/>
              </a:rPr>
              <a:t> test : </a:t>
            </a:r>
            <a:r>
              <a:rPr lang="en-US" altLang="ko-KR" sz="1400" dirty="0" err="1">
                <a:latin typeface="+mn-ea"/>
                <a:ea typeface="+mn-ea"/>
              </a:rPr>
              <a:t>test.sql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이름의 파일이 메모장을 이용하여 작성할 수 있도록 </a:t>
            </a:r>
            <a:r>
              <a:rPr lang="ko-KR" altLang="en-US" sz="1400" dirty="0" smtClean="0">
                <a:latin typeface="+mn-ea"/>
                <a:ea typeface="+mn-ea"/>
              </a:rPr>
              <a:t>열림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start test : </a:t>
            </a:r>
            <a:r>
              <a:rPr lang="en-US" altLang="ko-KR" sz="1400" dirty="0" err="1">
                <a:latin typeface="+mn-ea"/>
                <a:ea typeface="+mn-ea"/>
              </a:rPr>
              <a:t>test.sql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이름에 저장된 명령어 스크립트가 </a:t>
            </a:r>
            <a:r>
              <a:rPr lang="ko-KR" altLang="en-US" sz="1400" dirty="0" smtClean="0">
                <a:latin typeface="+mn-ea"/>
                <a:ea typeface="+mn-ea"/>
              </a:rPr>
              <a:t>실행됨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@ test : start test</a:t>
            </a:r>
            <a:r>
              <a:rPr lang="ko-KR" altLang="en-US" sz="1400" dirty="0">
                <a:latin typeface="+mn-ea"/>
                <a:ea typeface="+mn-ea"/>
              </a:rPr>
              <a:t>와 같은 </a:t>
            </a:r>
            <a:r>
              <a:rPr lang="ko-KR" altLang="en-US" sz="1400" dirty="0" smtClean="0">
                <a:latin typeface="+mn-ea"/>
                <a:ea typeface="+mn-ea"/>
              </a:rPr>
              <a:t>의미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출력 모양을 조절하는 명령 </a:t>
            </a:r>
            <a:r>
              <a:rPr lang="en-US" altLang="ko-KR" sz="1400" dirty="0">
                <a:latin typeface="+mn-ea"/>
                <a:ea typeface="+mn-ea"/>
              </a:rPr>
              <a:t>: column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column </a:t>
            </a:r>
            <a:r>
              <a:rPr lang="en-US" altLang="ko-KR" sz="1400" dirty="0" err="1">
                <a:latin typeface="+mn-ea"/>
                <a:ea typeface="+mn-ea"/>
              </a:rPr>
              <a:t>bookname</a:t>
            </a:r>
            <a:r>
              <a:rPr lang="en-US" altLang="ko-KR" sz="1400" dirty="0">
                <a:latin typeface="+mn-ea"/>
                <a:ea typeface="+mn-ea"/>
              </a:rPr>
              <a:t> format a20 : </a:t>
            </a:r>
            <a:r>
              <a:rPr lang="en-US" altLang="ko-KR" sz="1400" dirty="0" err="1">
                <a:latin typeface="+mn-ea"/>
                <a:ea typeface="+mn-ea"/>
              </a:rPr>
              <a:t>bookname</a:t>
            </a:r>
            <a:r>
              <a:rPr lang="ko-KR" altLang="en-US" sz="1400" dirty="0">
                <a:latin typeface="+mn-ea"/>
                <a:ea typeface="+mn-ea"/>
              </a:rPr>
              <a:t>을 길이 </a:t>
            </a:r>
            <a:r>
              <a:rPr lang="en-US" altLang="ko-KR" sz="1400" dirty="0">
                <a:latin typeface="+mn-ea"/>
                <a:ea typeface="+mn-ea"/>
              </a:rPr>
              <a:t>20</a:t>
            </a:r>
            <a:r>
              <a:rPr lang="ko-KR" altLang="en-US" sz="1400" dirty="0">
                <a:latin typeface="+mn-ea"/>
                <a:ea typeface="+mn-ea"/>
              </a:rPr>
              <a:t>의 문자 포맷으로 </a:t>
            </a:r>
            <a:r>
              <a:rPr lang="ko-KR" altLang="en-US" sz="1400" dirty="0" smtClean="0">
                <a:latin typeface="+mn-ea"/>
                <a:ea typeface="+mn-ea"/>
              </a:rPr>
              <a:t>출력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ea typeface="+mn-ea"/>
              </a:rPr>
              <a:t>	[</a:t>
            </a:r>
            <a:r>
              <a:rPr lang="ko-KR" altLang="en-US" sz="1400" dirty="0">
                <a:latin typeface="+mn-ea"/>
                <a:ea typeface="+mn-ea"/>
              </a:rPr>
              <a:t>예</a:t>
            </a:r>
            <a:r>
              <a:rPr lang="en-US" altLang="ko-KR" sz="1400" dirty="0">
                <a:latin typeface="+mn-ea"/>
                <a:ea typeface="+mn-ea"/>
              </a:rPr>
              <a:t>] column price format 999999 : price</a:t>
            </a:r>
            <a:r>
              <a:rPr lang="ko-KR" altLang="en-US" sz="1400" dirty="0">
                <a:latin typeface="+mn-ea"/>
                <a:ea typeface="+mn-ea"/>
              </a:rPr>
              <a:t>를 길이 </a:t>
            </a:r>
            <a:r>
              <a:rPr lang="en-US" altLang="ko-KR" sz="1400" dirty="0">
                <a:latin typeface="+mn-ea"/>
                <a:ea typeface="+mn-ea"/>
              </a:rPr>
              <a:t>6</a:t>
            </a:r>
            <a:r>
              <a:rPr lang="ko-KR" altLang="en-US" sz="1400" dirty="0">
                <a:latin typeface="+mn-ea"/>
                <a:ea typeface="+mn-ea"/>
              </a:rPr>
              <a:t>개의 숫자 포맷으로 </a:t>
            </a:r>
            <a:r>
              <a:rPr lang="ko-KR" altLang="en-US" sz="1400" dirty="0" smtClean="0">
                <a:latin typeface="+mn-ea"/>
                <a:ea typeface="+mn-ea"/>
              </a:rPr>
              <a:t>출력</a:t>
            </a:r>
            <a:endParaRPr lang="ko-KR" altLang="en-US" sz="1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400" b="1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ko-KR" altLang="en-US" sz="1400" b="1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6095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32" y="1340768"/>
            <a:ext cx="6446490" cy="501393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SQL Developer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0816" y="1233748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931705" y="1556792"/>
            <a:ext cx="4020596" cy="38991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927918" y="1628800"/>
            <a:ext cx="12812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메뉴와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+mn-ea"/>
                <a:ea typeface="+mn-ea"/>
              </a:rPr>
              <a:t>도구바</a:t>
            </a:r>
            <a:endParaRPr lang="ko-KR" altLang="en-US" sz="1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21322" y="5301208"/>
            <a:ext cx="85472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b="1" smtClean="0">
                <a:solidFill>
                  <a:srgbClr val="FF0000"/>
                </a:solidFill>
                <a:latin typeface="+mn-ea"/>
                <a:ea typeface="+mn-ea"/>
              </a:rPr>
              <a:t>출력 화면</a:t>
            </a:r>
            <a:endParaRPr lang="ko-KR" altLang="en-US" sz="1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963694" y="2132856"/>
            <a:ext cx="271178" cy="2145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946840" y="1988840"/>
            <a:ext cx="1296144" cy="206283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69206" y="4016097"/>
            <a:ext cx="12812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>
                <a:solidFill>
                  <a:srgbClr val="FF0000"/>
                </a:solidFill>
                <a:latin typeface="+mn-ea"/>
                <a:ea typeface="+mn-ea"/>
              </a:rPr>
              <a:t>네비게이터</a:t>
            </a:r>
            <a:endParaRPr lang="ko-KR" altLang="en-US" sz="1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242984" y="1988840"/>
            <a:ext cx="5040560" cy="211849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7283544" y="3156705"/>
            <a:ext cx="12812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질의 작성기</a:t>
            </a:r>
            <a:endParaRPr lang="ko-KR" altLang="en-US" sz="1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265627" y="4149080"/>
            <a:ext cx="5040560" cy="197626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874832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3-9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SQL Developer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에서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SQL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문을 실행한 화면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4003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SQL Developer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67544" y="45091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3-10 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SQL Developer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접속 아이콘 생성 화면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217966672" descr="EMB0000185429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14" y="1340768"/>
            <a:ext cx="5649912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01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SQL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219" y="1556792"/>
            <a:ext cx="802838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11560" y="479715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3-11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SQL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을 사용해 자료를 찾는 과정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2180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SQL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901622"/>
              </p:ext>
            </p:extLst>
          </p:nvPr>
        </p:nvGraphicFramePr>
        <p:xfrm>
          <a:off x="539750" y="1496184"/>
          <a:ext cx="8064501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938"/>
                <a:gridCol w="3456384"/>
                <a:gridCol w="3384179"/>
              </a:tblGrid>
              <a:tr h="370840">
                <a:tc>
                  <a:txBody>
                    <a:bodyPr/>
                    <a:lstStyle/>
                    <a:p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SQL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프로그래밍 언어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데이터베이스에서 데이터를 추출하여 문제 해결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모든 문제 해결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입출력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입력은 테이블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출력도 테이블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모든 형태의 입출력 가능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번역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컴파일러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예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SELECT * </a:t>
                      </a:r>
                    </a:p>
                    <a:p>
                      <a:pPr latinLnBrk="1"/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FROM Book;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>
                          <a:latin typeface="+mn-ea"/>
                          <a:ea typeface="+mn-ea"/>
                        </a:rPr>
                        <a:t>int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 main()</a:t>
                      </a:r>
                    </a:p>
                    <a:p>
                      <a:pPr latinLnBrk="1"/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{…}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112474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SQL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과 일반 프로그래밍 언어의 차이점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SQL </a:t>
            </a:r>
            <a:r>
              <a:rPr lang="ko-KR" altLang="en-US" dirty="0"/>
              <a:t>개요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SQL </a:t>
            </a:r>
            <a:r>
              <a:rPr lang="ko-KR" altLang="en-US" dirty="0" smtClean="0"/>
              <a:t>기능에 따른 분류</a:t>
            </a:r>
            <a:endParaRPr lang="en-US" altLang="ko-KR" dirty="0" smtClean="0"/>
          </a:p>
          <a:p>
            <a:pPr lvl="1">
              <a:lnSpc>
                <a:spcPct val="150000"/>
              </a:lnSpc>
            </a:pPr>
            <a:r>
              <a:rPr lang="ko-KR" altLang="en-US" sz="1400" dirty="0" smtClean="0"/>
              <a:t>데이터 </a:t>
            </a:r>
            <a:r>
              <a:rPr lang="ko-KR" altLang="en-US" sz="1400" dirty="0" err="1" smtClean="0"/>
              <a:t>정의어</a:t>
            </a:r>
            <a:r>
              <a:rPr lang="en-US" altLang="ko-KR" sz="1400" dirty="0" smtClean="0"/>
              <a:t>(DDL) : </a:t>
            </a:r>
            <a:r>
              <a:rPr lang="ko-KR" altLang="en-US" sz="1400" dirty="0" smtClean="0"/>
              <a:t>테이블이나 관계의 구조를 생성하는 데 사용하며 </a:t>
            </a:r>
            <a:r>
              <a:rPr lang="en-US" altLang="ko-KR" sz="1400" dirty="0" smtClean="0"/>
              <a:t>CREATE, ALTER,  DROP </a:t>
            </a:r>
            <a:r>
              <a:rPr lang="ko-KR" altLang="en-US" sz="1400" dirty="0" smtClean="0"/>
              <a:t>문 등이 있음</a:t>
            </a:r>
            <a:endParaRPr lang="en-US" altLang="ko-KR" sz="1400" dirty="0" smtClean="0"/>
          </a:p>
          <a:p>
            <a:pPr lvl="1">
              <a:lnSpc>
                <a:spcPct val="150000"/>
              </a:lnSpc>
            </a:pPr>
            <a:r>
              <a:rPr lang="ko-KR" altLang="en-US" sz="1400" dirty="0" smtClean="0"/>
              <a:t>데이터 </a:t>
            </a:r>
            <a:r>
              <a:rPr lang="ko-KR" altLang="en-US" sz="1400" dirty="0" err="1" smtClean="0"/>
              <a:t>조작어</a:t>
            </a:r>
            <a:r>
              <a:rPr lang="en-US" altLang="ko-KR" sz="1400" dirty="0" smtClean="0"/>
              <a:t>(DML) : </a:t>
            </a:r>
            <a:r>
              <a:rPr lang="ko-KR" altLang="en-US" sz="1400" dirty="0" smtClean="0"/>
              <a:t>테이블에 데이터를 검색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삽입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수정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삭제하는 데 사용하며 </a:t>
            </a:r>
            <a:r>
              <a:rPr lang="en-US" altLang="ko-KR" sz="1400" dirty="0" smtClean="0"/>
              <a:t>SELECT, INSERT, DELETE, UPDATE </a:t>
            </a:r>
            <a:r>
              <a:rPr lang="ko-KR" altLang="en-US" sz="1400" dirty="0" smtClean="0"/>
              <a:t>문 등이 있음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여기서 </a:t>
            </a:r>
            <a:r>
              <a:rPr lang="en-US" altLang="ko-KR" sz="1400" dirty="0" smtClean="0"/>
              <a:t>SELECT </a:t>
            </a:r>
            <a:r>
              <a:rPr lang="ko-KR" altLang="en-US" sz="1400" dirty="0" smtClean="0"/>
              <a:t>문은 특별히 </a:t>
            </a:r>
            <a:r>
              <a:rPr lang="ko-KR" altLang="en-US" sz="1400" dirty="0" err="1" smtClean="0"/>
              <a:t>질의어</a:t>
            </a:r>
            <a:r>
              <a:rPr lang="en-US" altLang="ko-KR" sz="1400" dirty="0" smtClean="0"/>
              <a:t>(query)</a:t>
            </a:r>
            <a:r>
              <a:rPr lang="ko-KR" altLang="en-US" sz="1400" dirty="0" smtClean="0"/>
              <a:t>라고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</a:t>
            </a:r>
            <a:endParaRPr lang="en-US" altLang="ko-KR" sz="1400" dirty="0" smtClean="0"/>
          </a:p>
          <a:p>
            <a:pPr lvl="1">
              <a:lnSpc>
                <a:spcPct val="150000"/>
              </a:lnSpc>
            </a:pPr>
            <a:r>
              <a:rPr lang="ko-KR" altLang="en-US" sz="1400" dirty="0" smtClean="0"/>
              <a:t>데이터 </a:t>
            </a:r>
            <a:r>
              <a:rPr lang="ko-KR" altLang="en-US" sz="1400" dirty="0" err="1" smtClean="0"/>
              <a:t>제어어</a:t>
            </a:r>
            <a:r>
              <a:rPr lang="en-US" altLang="ko-KR" sz="1400" dirty="0" smtClean="0"/>
              <a:t>(DCL) : </a:t>
            </a:r>
            <a:r>
              <a:rPr lang="ko-KR" altLang="en-US" sz="1400" dirty="0" smtClean="0"/>
              <a:t>데이터의 사용 권한을 관리하는 데 사용하며 </a:t>
            </a:r>
            <a:r>
              <a:rPr lang="en-US" altLang="ko-KR" sz="1400" dirty="0" smtClean="0"/>
              <a:t>GRANT, REVOKE </a:t>
            </a:r>
            <a:r>
              <a:rPr lang="ko-KR" altLang="en-US" sz="1400" dirty="0" smtClean="0"/>
              <a:t>문 등이 있음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 smtClean="0"/>
          </a:p>
          <a:p>
            <a:pPr lvl="1">
              <a:lnSpc>
                <a:spcPct val="150000"/>
              </a:lnSpc>
            </a:pP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2695616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SQL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03608" y="573325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정의어와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데이터 조작어의 주요 명령어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16" y="1478632"/>
            <a:ext cx="722947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SQL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64009778"/>
              </p:ext>
            </p:extLst>
          </p:nvPr>
        </p:nvGraphicFramePr>
        <p:xfrm>
          <a:off x="755576" y="1273175"/>
          <a:ext cx="7704856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85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 고객의 전화번호를 찾으시오</a:t>
                      </a: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SELECT   phone</a:t>
                      </a:r>
                    </a:p>
                    <a:p>
                      <a:pPr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Customer</a:t>
                      </a:r>
                    </a:p>
                    <a:p>
                      <a:pPr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Where   </a:t>
                      </a:r>
                      <a:r>
                        <a:rPr lang="en-US" altLang="ko-KR" sz="1400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name=‘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</a:rPr>
                        <a:t>김연아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4272056" y="3113612"/>
            <a:ext cx="20505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+mn-ea"/>
                <a:ea typeface="+mn-ea"/>
              </a:rPr>
              <a:t>② WHERE name='</a:t>
            </a:r>
            <a:r>
              <a:rPr lang="ko-KR" altLang="en-US" sz="1200" b="1" dirty="0" smtClean="0">
                <a:latin typeface="+mn-ea"/>
                <a:ea typeface="+mn-ea"/>
              </a:rPr>
              <a:t>김연아</a:t>
            </a:r>
            <a:r>
              <a:rPr lang="en-US" altLang="ko-KR" sz="1400" dirty="0" smtClean="0"/>
              <a:t>'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300631" y="4499948"/>
            <a:ext cx="14798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/>
              <a:t>③  SELECT phone</a:t>
            </a:r>
            <a:endParaRPr lang="ko-KR" altLang="en-US" sz="1200" b="1" dirty="0"/>
          </a:p>
        </p:txBody>
      </p:sp>
      <p:sp>
        <p:nvSpPr>
          <p:cNvPr id="11" name="직사각형 10"/>
          <p:cNvSpPr/>
          <p:nvPr/>
        </p:nvSpPr>
        <p:spPr>
          <a:xfrm>
            <a:off x="746051" y="3082677"/>
            <a:ext cx="15960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/>
              <a:t>① FROM Customer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3861073" y="3548633"/>
            <a:ext cx="36004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4876695" y="4297288"/>
            <a:ext cx="36004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3-13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SQL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문의 내부적 실행 순서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433192"/>
            <a:ext cx="3240361" cy="12647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3408552"/>
            <a:ext cx="3384376" cy="56933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5" y="4776948"/>
            <a:ext cx="936104" cy="4649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조작어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SELECT </a:t>
            </a:r>
            <a:r>
              <a:rPr lang="ko-KR" altLang="en-US" dirty="0" smtClean="0"/>
              <a:t>문</a:t>
            </a:r>
            <a:endParaRPr lang="en-US" altLang="ko-KR" dirty="0" smtClean="0"/>
          </a:p>
          <a:p>
            <a:r>
              <a:rPr lang="ko-KR" altLang="en-US" dirty="0" smtClean="0"/>
              <a:t>집계 함수와 </a:t>
            </a:r>
            <a:r>
              <a:rPr lang="en-US" altLang="ko-KR" dirty="0" smtClean="0"/>
              <a:t>GROUP BY</a:t>
            </a:r>
          </a:p>
          <a:p>
            <a:r>
              <a:rPr lang="ko-KR" altLang="en-US" dirty="0" smtClean="0"/>
              <a:t>두 개 이상 테이블에서 </a:t>
            </a:r>
            <a:r>
              <a:rPr lang="en-US" altLang="ko-KR" dirty="0" smtClean="0"/>
              <a:t>SQL </a:t>
            </a:r>
            <a:r>
              <a:rPr lang="ko-KR" altLang="en-US" dirty="0" smtClean="0"/>
              <a:t>질의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18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조작어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SELECT </a:t>
            </a:r>
            <a:r>
              <a:rPr lang="ko-KR" altLang="en-US" dirty="0" smtClean="0"/>
              <a:t>문의 구성 요소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r>
              <a:rPr lang="en-US" altLang="ko-KR" dirty="0" smtClean="0"/>
              <a:t>SELECT </a:t>
            </a:r>
            <a:r>
              <a:rPr lang="ko-KR" altLang="en-US" dirty="0" smtClean="0"/>
              <a:t>문의 기본 문법</a:t>
            </a: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970806" y="3933055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</a:t>
            </a:r>
            <a:r>
              <a:rPr lang="en-US" altLang="ko-KR" sz="1200" dirty="0" smtClean="0">
                <a:latin typeface="+mn-ea"/>
                <a:ea typeface="+mn-ea"/>
              </a:rPr>
              <a:t>	      </a:t>
            </a:r>
            <a:r>
              <a:rPr lang="ko-KR" altLang="en-US" sz="1200" dirty="0" smtClean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</a:t>
            </a:r>
            <a:r>
              <a:rPr lang="en-US" altLang="ko-KR" sz="1200" dirty="0" smtClean="0">
                <a:latin typeface="+mn-ea"/>
                <a:ea typeface="+mn-ea"/>
              </a:rPr>
              <a:t>       </a:t>
            </a:r>
            <a:r>
              <a:rPr lang="ko-KR" altLang="en-US" sz="1200" dirty="0" smtClean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</a:t>
            </a:r>
            <a:r>
              <a:rPr lang="en-US" altLang="ko-KR" sz="1200" dirty="0" smtClean="0">
                <a:latin typeface="+mn-ea"/>
                <a:ea typeface="+mn-ea"/>
              </a:rPr>
              <a:t>   </a:t>
            </a:r>
            <a:r>
              <a:rPr lang="ko-KR" altLang="en-US" sz="1200" dirty="0" smtClean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</a:t>
            </a:r>
            <a:r>
              <a:rPr lang="en-US" altLang="ko-KR" sz="1200" dirty="0" smtClean="0">
                <a:latin typeface="+mn-ea"/>
                <a:ea typeface="+mn-ea"/>
              </a:rPr>
              <a:t>      </a:t>
            </a:r>
            <a:r>
              <a:rPr lang="ko-KR" altLang="en-US" sz="1200" dirty="0" smtClean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</a:t>
            </a:r>
            <a:r>
              <a:rPr lang="en-US" altLang="ko-KR" sz="1200" dirty="0" smtClean="0">
                <a:latin typeface="+mn-ea"/>
                <a:ea typeface="+mn-ea"/>
              </a:rPr>
              <a:t>   </a:t>
            </a:r>
            <a:r>
              <a:rPr lang="ko-KR" altLang="en-US" sz="1200" dirty="0" smtClean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</a:t>
            </a:r>
            <a:r>
              <a:rPr lang="en-US" altLang="ko-KR" sz="1200" dirty="0" smtClean="0">
                <a:latin typeface="+mn-ea"/>
                <a:ea typeface="+mn-ea"/>
              </a:rPr>
              <a:t>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 smtClean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 smtClean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20280" y="1998365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SELECT   </a:t>
            </a:r>
            <a:r>
              <a:rPr lang="en-US" altLang="ko-KR" sz="1400" dirty="0" err="1" smtClean="0">
                <a:solidFill>
                  <a:sysClr val="windowText" lastClr="000000"/>
                </a:solidFill>
                <a:latin typeface="+mn-ea"/>
                <a:ea typeface="+mn-ea"/>
              </a:rPr>
              <a:t>bookname</a:t>
            </a:r>
            <a:r>
              <a:rPr lang="en-US" altLang="ko-KR" sz="14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, publisher</a:t>
            </a:r>
          </a:p>
          <a:p>
            <a:r>
              <a:rPr lang="en-US" altLang="ko-KR" sz="14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FROM    Book</a:t>
            </a:r>
          </a:p>
          <a:p>
            <a:r>
              <a:rPr lang="en-US" altLang="ko-KR" sz="14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Where    price &gt;= 10000;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5" y="218511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키워드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cxnSp>
        <p:nvCxnSpPr>
          <p:cNvPr id="11" name="직선 화살표 연결선 10"/>
          <p:cNvCxnSpPr>
            <a:stCxn id="7" idx="3"/>
          </p:cNvCxnSpPr>
          <p:nvPr/>
        </p:nvCxnSpPr>
        <p:spPr>
          <a:xfrm>
            <a:off x="1619673" y="2339008"/>
            <a:ext cx="936103" cy="98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3"/>
          </p:cNvCxnSpPr>
          <p:nvPr/>
        </p:nvCxnSpPr>
        <p:spPr>
          <a:xfrm flipV="1">
            <a:off x="1619673" y="2132856"/>
            <a:ext cx="936103" cy="2061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3"/>
          </p:cNvCxnSpPr>
          <p:nvPr/>
        </p:nvCxnSpPr>
        <p:spPr>
          <a:xfrm>
            <a:off x="1619673" y="2339008"/>
            <a:ext cx="936103" cy="2979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995936" y="2348880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 flipH="1" flipV="1">
            <a:off x="3671900" y="188082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779912" y="1772816"/>
            <a:ext cx="2088232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rot="5400000" flipH="1" flipV="1">
            <a:off x="4569110" y="1880034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rot="5400000" flipH="1" flipV="1">
            <a:off x="3887129" y="281613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995936" y="2924944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152" y="162346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이름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0152" y="220416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테이블 이름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0152" y="277070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검색 조건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6594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SELECT/FROM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서점에 어떤 도서가 있는지 알고 싶다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4509552"/>
            <a:ext cx="2497383" cy="457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 smtClean="0">
                <a:solidFill>
                  <a:schemeClr val="dk1"/>
                </a:solidFill>
              </a:rPr>
              <a:t>SELECT	price, </a:t>
            </a:r>
            <a:r>
              <a:rPr lang="en-US" altLang="ko-KR" sz="1400" dirty="0" err="1" smtClean="0">
                <a:solidFill>
                  <a:schemeClr val="dk1"/>
                </a:solidFill>
              </a:rPr>
              <a:t>bookname</a:t>
            </a:r>
            <a:endParaRPr lang="en-US" altLang="ko-KR" sz="1400" dirty="0" smtClean="0">
              <a:solidFill>
                <a:schemeClr val="dk1"/>
              </a:solidFill>
            </a:endParaRPr>
          </a:p>
          <a:p>
            <a:r>
              <a:rPr lang="en-US" altLang="ko-KR" sz="1400" dirty="0" smtClean="0">
                <a:solidFill>
                  <a:schemeClr val="dk1"/>
                </a:solidFill>
              </a:rPr>
              <a:t>FROM 	Book;</a:t>
            </a:r>
            <a:endParaRPr lang="en-US" altLang="ko-KR" sz="1400" dirty="0" smtClean="0">
              <a:solidFill>
                <a:sysClr val="windowText" lastClr="000000"/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3237087"/>
              </p:ext>
            </p:extLst>
          </p:nvPr>
        </p:nvGraphicFramePr>
        <p:xfrm>
          <a:off x="569293" y="1124744"/>
          <a:ext cx="529885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885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도서의 이름과 가격을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, price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	Book;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051478"/>
              </p:ext>
            </p:extLst>
          </p:nvPr>
        </p:nvGraphicFramePr>
        <p:xfrm>
          <a:off x="569293" y="4221088"/>
          <a:ext cx="5226843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6843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변형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도서의 가격과 이름을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price,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bookname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	Book;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052736"/>
            <a:ext cx="2190750" cy="26955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3861049"/>
            <a:ext cx="224287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72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SELECT/FROM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서점에 어떤 도서가 있는지 알고 싶다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17525" y="980728"/>
            <a:ext cx="8230939" cy="43204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dirty="0" smtClean="0">
                <a:solidFill>
                  <a:schemeClr val="accent3">
                    <a:lumMod val="75000"/>
                  </a:schemeClr>
                </a:solidFill>
              </a:rPr>
              <a:t>질의 </a:t>
            </a:r>
            <a:r>
              <a:rPr lang="en-US" altLang="ko-KR" dirty="0" smtClean="0">
                <a:solidFill>
                  <a:schemeClr val="accent3">
                    <a:lumMod val="75000"/>
                  </a:schemeClr>
                </a:solidFill>
              </a:rPr>
              <a:t>3-2 </a:t>
            </a:r>
            <a:r>
              <a:rPr lang="ko-KR" altLang="en-US" sz="1400" b="0" dirty="0"/>
              <a:t>모든 도서의 도서번호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도서이름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출판사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가격을 검색하시오</a:t>
            </a:r>
            <a:r>
              <a:rPr lang="en-US" altLang="ko-KR" sz="1400" b="0" dirty="0"/>
              <a:t>.</a:t>
            </a:r>
            <a:endParaRPr lang="en-US" altLang="ko-KR" sz="800" dirty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34457" y="4404643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dirty="0" smtClean="0">
                <a:solidFill>
                  <a:schemeClr val="dk1"/>
                </a:solidFill>
              </a:rPr>
              <a:t>SELECT	*</a:t>
            </a:r>
          </a:p>
          <a:p>
            <a:r>
              <a:rPr lang="en-US" altLang="ko-KR" sz="1400" dirty="0" smtClean="0">
                <a:solidFill>
                  <a:schemeClr val="dk1"/>
                </a:solidFill>
              </a:rPr>
              <a:t>FROM	Book;</a:t>
            </a:r>
            <a:endParaRPr lang="en-US" altLang="ko-KR" sz="1400" dirty="0" smtClean="0">
              <a:solidFill>
                <a:sysClr val="windowText" lastClr="000000"/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4575913"/>
              </p:ext>
            </p:extLst>
          </p:nvPr>
        </p:nvGraphicFramePr>
        <p:xfrm>
          <a:off x="569293" y="1124744"/>
          <a:ext cx="727280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도서의 도서번호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가격을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, publisher, price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	Book;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772816"/>
            <a:ext cx="3456384" cy="233227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293096"/>
            <a:ext cx="3456384" cy="233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69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SELECT/FROM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서점에 어떤 도서가 있는지 알고 싶다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17525" y="980728"/>
            <a:ext cx="9001695" cy="43204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dirty="0" smtClean="0">
                <a:solidFill>
                  <a:schemeClr val="accent3">
                    <a:lumMod val="75000"/>
                  </a:schemeClr>
                </a:solidFill>
              </a:rPr>
              <a:t>질의 </a:t>
            </a:r>
            <a:r>
              <a:rPr lang="en-US" altLang="ko-KR" dirty="0" smtClean="0">
                <a:solidFill>
                  <a:schemeClr val="accent3">
                    <a:lumMod val="75000"/>
                  </a:schemeClr>
                </a:solidFill>
              </a:rPr>
              <a:t>3-2 </a:t>
            </a:r>
            <a:r>
              <a:rPr lang="ko-KR" altLang="en-US" sz="1400" b="0" dirty="0"/>
              <a:t>모든 도서의 도서번호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도서이름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출판사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가격을 검색하시오</a:t>
            </a:r>
            <a:r>
              <a:rPr lang="en-US" altLang="ko-KR" sz="1400" b="0" dirty="0"/>
              <a:t>.</a:t>
            </a:r>
            <a:endParaRPr lang="en-US" altLang="ko-KR" sz="800" dirty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517525" y="4005064"/>
            <a:ext cx="6121375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 smtClean="0"/>
              <a:t>※ </a:t>
            </a:r>
            <a:r>
              <a:rPr lang="ko-KR" altLang="en-US" sz="1400" dirty="0" smtClean="0"/>
              <a:t>중복을 제거하고 싶으면 </a:t>
            </a:r>
            <a:r>
              <a:rPr lang="en-US" altLang="ko-KR" sz="1400" dirty="0" smtClean="0"/>
              <a:t>DISTINCT</a:t>
            </a:r>
            <a:r>
              <a:rPr lang="ko-KR" altLang="en-US" sz="1400" dirty="0" smtClean="0"/>
              <a:t>라는 키워드를 사용한다</a:t>
            </a:r>
            <a:r>
              <a:rPr lang="en-US" altLang="ko-KR" sz="1400" dirty="0" smtClean="0"/>
              <a:t>.</a:t>
            </a:r>
            <a:endParaRPr lang="ko-KR" altLang="en-US" sz="1400" dirty="0" smtClean="0"/>
          </a:p>
          <a:p>
            <a:pPr marL="0" indent="0">
              <a:buNone/>
            </a:pPr>
            <a:endParaRPr lang="en-US" altLang="ko-KR" sz="800" dirty="0"/>
          </a:p>
          <a:p>
            <a:pPr marL="0" indent="0">
              <a:buFont typeface="Wingdings" pitchFamily="2" charset="2"/>
              <a:buNone/>
            </a:pPr>
            <a:endParaRPr kumimoji="0" lang="en-US" altLang="ko-KR" sz="800" dirty="0" smtClean="0"/>
          </a:p>
          <a:p>
            <a:endParaRPr kumimoji="0" lang="en-US" altLang="ko-KR" dirty="0" smtClean="0"/>
          </a:p>
          <a:p>
            <a:endParaRPr kumimoji="0" lang="en-US" altLang="ko-KR" dirty="0" smtClean="0"/>
          </a:p>
          <a:p>
            <a:endParaRPr kumimoji="0" lang="en-US" altLang="ko-KR" dirty="0" smtClean="0"/>
          </a:p>
          <a:p>
            <a:endParaRPr kumimoji="0" lang="en-US" altLang="ko-KR" dirty="0" smtClean="0"/>
          </a:p>
          <a:p>
            <a:endParaRPr kumimoji="0" lang="en-US" altLang="ko-KR" dirty="0" smtClean="0"/>
          </a:p>
          <a:p>
            <a:endParaRPr kumimoji="0" lang="en-US" altLang="ko-KR" dirty="0" smtClean="0"/>
          </a:p>
          <a:p>
            <a:endParaRPr kumimoji="0" lang="en-US" altLang="ko-KR" dirty="0" smtClean="0"/>
          </a:p>
          <a:p>
            <a:endParaRPr kumimoji="0" lang="en-US" altLang="ko-KR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05535" y="454121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dirty="0" smtClean="0">
                <a:latin typeface="+mn-ea"/>
                <a:ea typeface="+mn-ea"/>
              </a:rPr>
              <a:t>SELECT	DISTINCT publisher</a:t>
            </a:r>
          </a:p>
          <a:p>
            <a:r>
              <a:rPr lang="en-US" altLang="ko-KR" sz="1400" dirty="0" smtClean="0">
                <a:latin typeface="+mn-ea"/>
                <a:ea typeface="+mn-ea"/>
              </a:rPr>
              <a:t>FROM	Book;</a:t>
            </a:r>
            <a:endParaRPr lang="en-US" altLang="ko-KR" sz="140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9057508"/>
              </p:ext>
            </p:extLst>
          </p:nvPr>
        </p:nvGraphicFramePr>
        <p:xfrm>
          <a:off x="569293" y="1124744"/>
          <a:ext cx="727280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 테이블에 있는 모든 출판사를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publisher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	Book;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813" y="1660079"/>
            <a:ext cx="1031158" cy="24890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14" y="4437112"/>
            <a:ext cx="1075524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69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WHERE </a:t>
            </a:r>
            <a:r>
              <a:rPr lang="ko-KR" altLang="en-US" dirty="0" smtClean="0"/>
              <a:t>조건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가격이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20,000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원 미만인 도서가 무엇인지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비교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398143"/>
              </p:ext>
            </p:extLst>
          </p:nvPr>
        </p:nvGraphicFramePr>
        <p:xfrm>
          <a:off x="582984" y="1412776"/>
          <a:ext cx="7229376" cy="2298954"/>
        </p:xfrm>
        <a:graphic>
          <a:graphicData uri="http://schemas.openxmlformats.org/drawingml/2006/table">
            <a:tbl>
              <a:tblPr/>
              <a:tblGrid>
                <a:gridCol w="1049063"/>
                <a:gridCol w="1931841"/>
                <a:gridCol w="4248472"/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=, &lt;&gt;, &lt;, &lt;=, &gt;, &gt;=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&lt;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BETWEEN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BETWEEN 10000 AND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IN, NOT 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IN (10000, 20000, 30000)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패턴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LIKE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IS NULL, IS NOT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IS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복합조건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AND, OR, 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(price &lt; 20000) AND </a:t>
                      </a: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1168" y="112474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3-2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WHERE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절에 조건으로 사용할 수 있는 술어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9889102"/>
              </p:ext>
            </p:extLst>
          </p:nvPr>
        </p:nvGraphicFramePr>
        <p:xfrm>
          <a:off x="569293" y="4221088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미만인 도서를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	price &lt; 20000;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653136"/>
            <a:ext cx="3952875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WHERE </a:t>
            </a:r>
            <a:r>
              <a:rPr lang="ko-KR" altLang="en-US" dirty="0" smtClean="0"/>
              <a:t>조건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가격이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20,000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원 미만인 도서가 무엇인지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범위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en-US" altLang="ko-KR" sz="1400" dirty="0" smtClean="0"/>
              <a:t>※ BETWEEN</a:t>
            </a:r>
            <a:r>
              <a:rPr lang="ko-KR" altLang="en-US" sz="1400" dirty="0" smtClean="0"/>
              <a:t>은 논리 연산자인 </a:t>
            </a:r>
            <a:r>
              <a:rPr lang="en-US" altLang="ko-KR" sz="1400" dirty="0" smtClean="0"/>
              <a:t>AND</a:t>
            </a:r>
            <a:r>
              <a:rPr lang="ko-KR" altLang="en-US" sz="1400" dirty="0" smtClean="0"/>
              <a:t>를 사용할 수 있다</a:t>
            </a:r>
            <a:r>
              <a:rPr lang="en-US" altLang="ko-KR" sz="1400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000302"/>
              </p:ext>
            </p:extLst>
          </p:nvPr>
        </p:nvGraphicFramePr>
        <p:xfrm>
          <a:off x="569293" y="1678568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10,000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이하인 도서를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	price BETWEEN 10000 AND 20000;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26062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 smtClean="0">
                <a:latin typeface="+mn-ea"/>
              </a:rPr>
              <a:t>SELECT	*</a:t>
            </a:r>
          </a:p>
          <a:p>
            <a:r>
              <a:rPr lang="en-US" altLang="ko-KR" sz="1400" dirty="0" smtClean="0">
                <a:latin typeface="+mn-ea"/>
              </a:rPr>
              <a:t>FROM	Book</a:t>
            </a:r>
          </a:p>
          <a:p>
            <a:r>
              <a:rPr lang="en-US" altLang="ko-KR" sz="1400" dirty="0" smtClean="0">
                <a:latin typeface="+mn-ea"/>
              </a:rPr>
              <a:t>WHERE	price &gt;= 10000 AND price &lt;= 20000;</a:t>
            </a:r>
            <a:endParaRPr lang="en-US" altLang="ko-KR" sz="1400" dirty="0" smtClea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116295"/>
            <a:ext cx="3414894" cy="116868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479" y="4221460"/>
            <a:ext cx="3569937" cy="11699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WHERE </a:t>
            </a:r>
            <a:r>
              <a:rPr lang="ko-KR" altLang="en-US" dirty="0" smtClean="0"/>
              <a:t>조건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가격이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20,000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원 미만인 도서가 무엇인지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집합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en-US" altLang="ko-KR" sz="1400" dirty="0" smtClean="0"/>
              <a:t>※ </a:t>
            </a:r>
            <a:r>
              <a:rPr lang="ko-KR" altLang="en-US" sz="1400" dirty="0" smtClean="0"/>
              <a:t>출판사가 ‘</a:t>
            </a:r>
            <a:r>
              <a:rPr lang="ko-KR" altLang="en-US" sz="1400" dirty="0" err="1" smtClean="0"/>
              <a:t>굿스포츠</a:t>
            </a:r>
            <a:r>
              <a:rPr lang="ko-KR" altLang="en-US" sz="1400" dirty="0" smtClean="0"/>
              <a:t>’ 혹은 ‘대한미디어’가 아닌 도서를 검색하시오</a:t>
            </a:r>
            <a:r>
              <a:rPr lang="en-US" altLang="ko-KR" sz="1400" dirty="0" smtClean="0"/>
              <a:t>.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4991561"/>
              </p:ext>
            </p:extLst>
          </p:nvPr>
        </p:nvGraphicFramePr>
        <p:xfrm>
          <a:off x="569292" y="1678568"/>
          <a:ext cx="7531100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11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3-6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	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publisher IN ('</a:t>
                      </a:r>
                      <a:r>
                        <a:rPr lang="ko-KR" altLang="en-US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', '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');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26062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 smtClean="0">
                <a:latin typeface="+mn-ea"/>
              </a:rPr>
              <a:t>SELECT	*</a:t>
            </a:r>
          </a:p>
          <a:p>
            <a:r>
              <a:rPr lang="en-US" altLang="ko-KR" sz="1400" dirty="0" smtClean="0">
                <a:latin typeface="+mn-ea"/>
              </a:rPr>
              <a:t>FROM	Book</a:t>
            </a:r>
          </a:p>
          <a:p>
            <a:r>
              <a:rPr lang="en-US" altLang="ko-KR" sz="1400" dirty="0" smtClean="0">
                <a:latin typeface="+mn-ea"/>
              </a:rPr>
              <a:t>WHERE	</a:t>
            </a:r>
            <a:r>
              <a:rPr lang="en-US" altLang="ko-KR" sz="1400" dirty="0" smtClean="0"/>
              <a:t>publisher NOT IN ('</a:t>
            </a:r>
            <a:r>
              <a:rPr lang="ko-KR" altLang="en-US" sz="1400" dirty="0" err="1" smtClean="0"/>
              <a:t>굿스포츠</a:t>
            </a:r>
            <a:r>
              <a:rPr lang="en-US" altLang="ko-KR" sz="1400" dirty="0" smtClean="0"/>
              <a:t>', '</a:t>
            </a:r>
            <a:r>
              <a:rPr lang="ko-KR" altLang="en-US" sz="1400" dirty="0" smtClean="0"/>
              <a:t>대한미디어</a:t>
            </a:r>
            <a:r>
              <a:rPr lang="en-US" altLang="ko-KR" sz="1400" dirty="0" smtClean="0"/>
              <a:t>');</a:t>
            </a:r>
            <a:endParaRPr lang="en-US" altLang="ko-KR" sz="1400" dirty="0" smtClea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2060848"/>
            <a:ext cx="3537967" cy="154027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3" y="4962629"/>
            <a:ext cx="3933825" cy="156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WHERE </a:t>
            </a:r>
            <a:r>
              <a:rPr lang="ko-KR" altLang="en-US" dirty="0" smtClean="0"/>
              <a:t>조건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가격이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20,000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원 미만인 도서가 무엇인지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패턴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5443855"/>
              </p:ext>
            </p:extLst>
          </p:nvPr>
        </p:nvGraphicFramePr>
        <p:xfrm>
          <a:off x="568127" y="1678568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3-7   ‘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출간한 출판사를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LIKE '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축구의 역사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';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5461867"/>
              </p:ext>
            </p:extLst>
          </p:nvPr>
        </p:nvGraphicFramePr>
        <p:xfrm>
          <a:off x="568127" y="3913480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3-8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도서이름에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포함된 출판사를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2166565"/>
            <a:ext cx="2143125" cy="6572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971" y="4437112"/>
            <a:ext cx="2152298" cy="108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WHERE </a:t>
            </a:r>
            <a:r>
              <a:rPr lang="ko-KR" altLang="en-US" dirty="0" smtClean="0"/>
              <a:t>조건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가격이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20,000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원 미만인 도서가 무엇인지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487581"/>
              </p:ext>
            </p:extLst>
          </p:nvPr>
        </p:nvGraphicFramePr>
        <p:xfrm>
          <a:off x="593701" y="1111121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3-9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도서이름의 왼쪽 두 번째 위치에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라는 문자열을 갖는 도서를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LIKE '_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구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35108"/>
              </p:ext>
            </p:extLst>
          </p:nvPr>
        </p:nvGraphicFramePr>
        <p:xfrm>
          <a:off x="582984" y="3906740"/>
          <a:ext cx="7229376" cy="1970532"/>
        </p:xfrm>
        <a:graphic>
          <a:graphicData uri="http://schemas.openxmlformats.org/drawingml/2006/table">
            <a:tbl>
              <a:tblPr/>
              <a:tblGrid>
                <a:gridCol w="1049063"/>
                <a:gridCol w="2363889"/>
                <a:gridCol w="3816424"/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와일드 문자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문자열을 연결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‘골프 ’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‘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바이블’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‘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골프 바이블’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이상의 문자열과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축구를 포함하는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 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[0-5]%’ : 0-5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불일치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[^0-5]%’ : 0-5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시작하지 않는 문자열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특정 위치의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두 번째 위치에 ‘구’가 들어가는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5644" y="357301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와일드 문자의 종류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1660079"/>
            <a:ext cx="34385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6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WHERE </a:t>
            </a:r>
            <a:r>
              <a:rPr lang="ko-KR" altLang="en-US" dirty="0" smtClean="0"/>
              <a:t>조건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가격이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20,000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원 미만인 도서가 무엇인지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복합조건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6595585"/>
              </p:ext>
            </p:extLst>
          </p:nvPr>
        </p:nvGraphicFramePr>
        <p:xfrm>
          <a:off x="593329" y="1678568"/>
          <a:ext cx="75790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3-10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축구에 관한 도서 중 가격이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%' AND price &gt;= 20000;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3471907"/>
              </p:ext>
            </p:extLst>
          </p:nvPr>
        </p:nvGraphicFramePr>
        <p:xfrm>
          <a:off x="593329" y="3913480"/>
          <a:ext cx="7651079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1079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3-11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spc="-100" baseline="0" dirty="0" smtClean="0">
                          <a:solidFill>
                            <a:schemeClr val="dk1"/>
                          </a:solidFill>
                          <a:latin typeface="+mn-ea"/>
                        </a:rPr>
                        <a:t>publisher='</a:t>
                      </a:r>
                      <a:r>
                        <a:rPr lang="ko-KR" altLang="en-US" sz="1400" spc="-100" baseline="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spc="-100" baseline="0" dirty="0" smtClean="0">
                          <a:solidFill>
                            <a:schemeClr val="dk1"/>
                          </a:solidFill>
                          <a:latin typeface="+mn-ea"/>
                        </a:rPr>
                        <a:t>'  OR  publisher='</a:t>
                      </a:r>
                      <a:r>
                        <a:rPr lang="ko-KR" altLang="en-US" sz="1400" spc="-100" baseline="0" dirty="0" smtClean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spc="-100" baseline="0" dirty="0" smtClean="0">
                          <a:solidFill>
                            <a:schemeClr val="dk1"/>
                          </a:solidFill>
                        </a:rPr>
                        <a:t>';</a:t>
                      </a:r>
                      <a:endParaRPr lang="en-US" altLang="ko-KR" sz="1400" spc="-100" baseline="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996952"/>
            <a:ext cx="3590925" cy="6762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848" y="4437112"/>
            <a:ext cx="3302893" cy="141051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ORDER BY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도서를 이름순으로 보고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465013"/>
              </p:ext>
            </p:extLst>
          </p:nvPr>
        </p:nvGraphicFramePr>
        <p:xfrm>
          <a:off x="569293" y="1075184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3-12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이름순으로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5165468"/>
              </p:ext>
            </p:extLst>
          </p:nvPr>
        </p:nvGraphicFramePr>
        <p:xfrm>
          <a:off x="569293" y="4007936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3-13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가격순으로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검색하고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같으면 이름순으로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ORDER BY	price,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; 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484785"/>
            <a:ext cx="3342108" cy="23168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800" y="4437112"/>
            <a:ext cx="3308880" cy="23042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ORDER BY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도서를 가격 내림차순으로 </a:t>
            </a:r>
            <a:r>
              <a:rPr lang="ko-KR" altLang="en-US" sz="12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보고싶다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895335"/>
              </p:ext>
            </p:extLst>
          </p:nvPr>
        </p:nvGraphicFramePr>
        <p:xfrm>
          <a:off x="569293" y="1075184"/>
          <a:ext cx="7272808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/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3-14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가격의 내림차순으로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만약 가격이 같다면 출판사의 오름</a:t>
                      </a:r>
                      <a:endParaRPr lang="en-US" altLang="ko-KR" sz="14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차순으로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검색한다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price DESC, publisher ASC;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708920"/>
            <a:ext cx="394335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집계 함수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도서 판매액의 합계를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sz="1400" dirty="0" smtClean="0"/>
              <a:t>※  </a:t>
            </a:r>
            <a:r>
              <a:rPr lang="ko-KR" altLang="en-US" sz="1400" dirty="0" smtClean="0"/>
              <a:t>의미 있는 열 이름을 출력하고 싶으면 속성이름의 별칭을 지칭하는 </a:t>
            </a:r>
            <a:r>
              <a:rPr lang="en-US" altLang="ko-KR" sz="1400" dirty="0" smtClean="0"/>
              <a:t>AS </a:t>
            </a:r>
            <a:r>
              <a:rPr lang="ko-KR" altLang="en-US" sz="1400" dirty="0" smtClean="0"/>
              <a:t>키워드를 사용하여 </a:t>
            </a:r>
            <a:endParaRPr lang="en-US" altLang="ko-KR" sz="1400" dirty="0" smtClean="0"/>
          </a:p>
          <a:p>
            <a:pPr>
              <a:buNone/>
            </a:pPr>
            <a:r>
              <a:rPr lang="ko-KR" altLang="en-US" sz="1400" dirty="0" smtClean="0"/>
              <a:t>    열 이름을 부여한다</a:t>
            </a:r>
            <a:r>
              <a:rPr lang="en-US" altLang="ko-KR" sz="1400" dirty="0" smtClean="0"/>
              <a:t>.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4485106"/>
              </p:ext>
            </p:extLst>
          </p:nvPr>
        </p:nvGraphicFramePr>
        <p:xfrm>
          <a:off x="713309" y="1268760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3-15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주문한 도서의 총 판매액을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) 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Orders;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99592" y="3900587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 smtClean="0">
                <a:solidFill>
                  <a:schemeClr val="dk1"/>
                </a:solidFill>
                <a:latin typeface="+mn-ea"/>
              </a:rPr>
              <a:t>SELECT	SUM(</a:t>
            </a:r>
            <a:r>
              <a:rPr lang="en-US" altLang="ko-KR" sz="1400" dirty="0" err="1" smtClean="0">
                <a:solidFill>
                  <a:schemeClr val="dk1"/>
                </a:solidFill>
                <a:latin typeface="+mn-ea"/>
              </a:rPr>
              <a:t>saleprice</a:t>
            </a:r>
            <a:r>
              <a:rPr lang="en-US" altLang="ko-KR" sz="1400" dirty="0" smtClean="0">
                <a:solidFill>
                  <a:schemeClr val="dk1"/>
                </a:solidFill>
                <a:latin typeface="+mn-ea"/>
              </a:rPr>
              <a:t>) AS </a:t>
            </a:r>
            <a:r>
              <a:rPr lang="ko-KR" altLang="en-US" sz="1400" dirty="0" err="1" smtClean="0">
                <a:solidFill>
                  <a:schemeClr val="dk1"/>
                </a:solidFill>
                <a:latin typeface="+mn-ea"/>
              </a:rPr>
              <a:t>총매출</a:t>
            </a:r>
            <a:endParaRPr lang="en-US" altLang="ko-KR" sz="1400" dirty="0" smtClean="0">
              <a:solidFill>
                <a:schemeClr val="dk1"/>
              </a:solidFill>
              <a:latin typeface="+mn-ea"/>
            </a:endParaRPr>
          </a:p>
          <a:p>
            <a:r>
              <a:rPr lang="en-US" altLang="ko-KR" sz="1400" dirty="0" smtClean="0">
                <a:solidFill>
                  <a:schemeClr val="dk1"/>
                </a:solidFill>
                <a:latin typeface="+mn-ea"/>
              </a:rPr>
              <a:t>FROM	Orders;</a:t>
            </a:r>
            <a:endParaRPr lang="en-US" altLang="ko-KR" sz="1400" dirty="0" smtClean="0">
              <a:solidFill>
                <a:sysClr val="windowText" lastClr="000000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1844824"/>
            <a:ext cx="1600200" cy="6000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598" y="3900661"/>
            <a:ext cx="1038225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집계 함수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도서 판매액의 합계를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9477310"/>
              </p:ext>
            </p:extLst>
          </p:nvPr>
        </p:nvGraphicFramePr>
        <p:xfrm>
          <a:off x="713309" y="12687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3-16   2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김연아 고객이 주문한 도서의 총 판매액을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총매출</a:t>
                      </a:r>
                      <a:endParaRPr lang="ko-KR" altLang="en-US" sz="1400" dirty="0" smtClean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Orders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=2;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8648547"/>
              </p:ext>
            </p:extLst>
          </p:nvPr>
        </p:nvGraphicFramePr>
        <p:xfrm>
          <a:off x="702618" y="3265408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3-17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주문한 도서의 총 판매액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평균값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최저가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최고가를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SUM(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) AS Total,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           	AVG(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) AS Average,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           	MIN(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) AS Minimum,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           	MAX(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) AS Maximum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	Orders;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1844824"/>
            <a:ext cx="1009650" cy="762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3933056"/>
            <a:ext cx="3514725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집계 함수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도서 판매액의 합계를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9932"/>
              </p:ext>
            </p:extLst>
          </p:nvPr>
        </p:nvGraphicFramePr>
        <p:xfrm>
          <a:off x="713309" y="1268760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3-18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마당서점의 도서 판매 건수를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COUNT(*)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</a:t>
                      </a:r>
                      <a:r>
                        <a:rPr lang="en-US" altLang="ko-KR" sz="800" dirty="0" smtClean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Orders;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279396"/>
              </p:ext>
            </p:extLst>
          </p:nvPr>
        </p:nvGraphicFramePr>
        <p:xfrm>
          <a:off x="713309" y="3546700"/>
          <a:ext cx="7373392" cy="1970532"/>
        </p:xfrm>
        <a:graphic>
          <a:graphicData uri="http://schemas.openxmlformats.org/drawingml/2006/table">
            <a:tbl>
              <a:tblPr/>
              <a:tblGrid>
                <a:gridCol w="1069961"/>
                <a:gridCol w="4012866"/>
                <a:gridCol w="2290565"/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집계 함수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SUM([ALL | DISTINCT]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AVG([ALL | DISTINCT]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COUNT({[[ALL | DISTINCT]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| *})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COUNT(*)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MAX([ALL | DISTINCT]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MAX(price)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MIN([ALL | DISTINCT]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5576" y="321297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집계 함수의 종류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80" y="1772816"/>
            <a:ext cx="1152525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GROUP BY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어느 고객이 얼마나 주문했는지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7872924"/>
              </p:ext>
            </p:extLst>
          </p:nvPr>
        </p:nvGraphicFramePr>
        <p:xfrm>
          <a:off x="713309" y="12687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3-19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주문한 도서의 총 수량과 총 판매액을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, SUM(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총액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       Orders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GROUP BY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04503" y="566124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3-15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GROUP BY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절의 수행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123" y="1778111"/>
            <a:ext cx="2061396" cy="121884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03" y="3099023"/>
            <a:ext cx="6972300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GROUP BY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어느 고객이 얼마나 주문했는지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005216"/>
              </p:ext>
            </p:extLst>
          </p:nvPr>
        </p:nvGraphicFramePr>
        <p:xfrm>
          <a:off x="713309" y="1268760"/>
          <a:ext cx="7459091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3-20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8,000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구매한 고객에 대하여 고객별 주문 도서의 총 수량을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 권 이상 구매한 고객만 구한다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  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	   Orders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   	  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&gt;= 8000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GROUP BY	  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HAVING   	   count(*) &gt;= 2;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1988840"/>
            <a:ext cx="1524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GROUP BY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어느 고객이 얼마나 주문했는지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797836"/>
              </p:ext>
            </p:extLst>
          </p:nvPr>
        </p:nvGraphicFramePr>
        <p:xfrm>
          <a:off x="467544" y="1610446"/>
          <a:ext cx="8352928" cy="4770882"/>
        </p:xfrm>
        <a:graphic>
          <a:graphicData uri="http://schemas.openxmlformats.org/drawingml/2006/table">
            <a:tbl>
              <a:tblPr/>
              <a:tblGrid>
                <a:gridCol w="1656184"/>
                <a:gridCol w="6696744"/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주의사항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</a:t>
                      </a:r>
                      <a:r>
                        <a:rPr lang="ko-KR" altLang="en-US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투플을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그룹으로 묶은 후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절에는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에서 사용한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집</a:t>
                      </a:r>
                    </a:p>
                    <a:p>
                      <a:r>
                        <a:rPr lang="ko-KR" altLang="en-US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계함수만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나올 수 있음</a:t>
                      </a:r>
                      <a:endParaRPr lang="en-US" altLang="ko-KR" sz="10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endParaRPr lang="en-US" altLang="ko-KR" sz="10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맞는 예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SUM(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endParaRPr lang="en-US" altLang="ko-KR" sz="10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틀린 예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SUM(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/* SELECT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 올 수 없다 *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절과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절이 같이 포함된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문은 검색조건이 모호해질 수 있음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절은 ① 반드시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절과 같이 작성해야 하고 ②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절보다 뒤에 나와야 함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그리고 ③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에는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SUM, AVG, MAX, MIN, COUNT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와 같은 집계함수가 와야 함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0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맞는 예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COUNT(*) AS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도서수량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    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8000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 BY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endParaRPr lang="en-US" altLang="ko-KR" sz="10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       COUNT(*)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2;</a:t>
                      </a:r>
                    </a:p>
                    <a:p>
                      <a:endParaRPr lang="en-US" altLang="ko-KR" sz="10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틀린 예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COUNT(*) AS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도서수량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 Orders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       COUNT(*)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2 /*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순서가 틀렸다 *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     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8000</a:t>
                      </a:r>
                    </a:p>
                    <a:p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  </a:t>
                      </a:r>
                      <a:r>
                        <a:rPr lang="en-US" altLang="ko-KR" sz="10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4151" y="126876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3-5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GROUP BY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와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HAVING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절의 문법과 주의사항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560840" cy="548680"/>
          </a:xfrm>
        </p:spPr>
        <p:txBody>
          <a:bodyPr/>
          <a:lstStyle/>
          <a:p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124744"/>
            <a:ext cx="8136904" cy="5616624"/>
          </a:xfrm>
        </p:spPr>
        <p:txBody>
          <a:bodyPr/>
          <a:lstStyle/>
          <a:p>
            <a:r>
              <a:rPr lang="en-US" altLang="ko-KR" sz="1400" b="1" smtClean="0">
                <a:latin typeface="+mj-ea"/>
                <a:ea typeface="+mj-ea"/>
              </a:rPr>
              <a:t>1. </a:t>
            </a:r>
            <a:r>
              <a:rPr lang="ko-KR" altLang="en-US" sz="1400" b="1" dirty="0">
                <a:latin typeface="+mj-ea"/>
                <a:ea typeface="+mj-ea"/>
              </a:rPr>
              <a:t>마당서점의 고객이 요구하는 다음 질문에 대해 </a:t>
            </a:r>
            <a:r>
              <a:rPr lang="en-US" altLang="ko-KR" sz="1400" b="1" dirty="0">
                <a:latin typeface="+mj-ea"/>
                <a:ea typeface="+mj-ea"/>
              </a:rPr>
              <a:t>SQL </a:t>
            </a:r>
            <a:r>
              <a:rPr lang="ko-KR" altLang="en-US" sz="1400" b="1" dirty="0">
                <a:latin typeface="+mj-ea"/>
                <a:ea typeface="+mj-ea"/>
              </a:rPr>
              <a:t>문을 작성하시오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1) </a:t>
            </a:r>
            <a:r>
              <a:rPr lang="ko-KR" altLang="en-US" sz="1400" dirty="0">
                <a:latin typeface="+mj-ea"/>
                <a:ea typeface="+mj-ea"/>
              </a:rPr>
              <a:t>도서번호가 </a:t>
            </a:r>
            <a:r>
              <a:rPr lang="en-US" altLang="ko-KR" sz="1400" dirty="0">
                <a:latin typeface="+mj-ea"/>
                <a:ea typeface="+mj-ea"/>
              </a:rPr>
              <a:t>1</a:t>
            </a:r>
            <a:r>
              <a:rPr lang="ko-KR" altLang="en-US" sz="1400" dirty="0">
                <a:latin typeface="+mj-ea"/>
                <a:ea typeface="+mj-ea"/>
              </a:rPr>
              <a:t>인 도서의 이름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2) </a:t>
            </a:r>
            <a:r>
              <a:rPr lang="ko-KR" altLang="en-US" sz="1400" dirty="0">
                <a:latin typeface="+mj-ea"/>
                <a:ea typeface="+mj-ea"/>
              </a:rPr>
              <a:t>가격이 </a:t>
            </a:r>
            <a:r>
              <a:rPr lang="en-US" altLang="ko-KR" sz="1400" dirty="0">
                <a:latin typeface="+mj-ea"/>
                <a:ea typeface="+mj-ea"/>
              </a:rPr>
              <a:t>20,000</a:t>
            </a:r>
            <a:r>
              <a:rPr lang="ko-KR" altLang="en-US" sz="1400" dirty="0">
                <a:latin typeface="+mj-ea"/>
                <a:ea typeface="+mj-ea"/>
              </a:rPr>
              <a:t>원 이상인 도서의 이름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3) </a:t>
            </a:r>
            <a:r>
              <a:rPr lang="ko-KR" altLang="en-US" sz="1400" dirty="0" smtClean="0">
                <a:latin typeface="+mj-ea"/>
                <a:ea typeface="+mj-ea"/>
              </a:rPr>
              <a:t>박지성의 </a:t>
            </a:r>
            <a:r>
              <a:rPr lang="ko-KR" altLang="en-US" sz="1400" dirty="0">
                <a:latin typeface="+mj-ea"/>
                <a:ea typeface="+mj-ea"/>
              </a:rPr>
              <a:t>총 구매액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4) </a:t>
            </a:r>
            <a:r>
              <a:rPr lang="ko-KR" altLang="en-US" sz="1400" dirty="0" smtClean="0">
                <a:latin typeface="+mj-ea"/>
                <a:ea typeface="+mj-ea"/>
              </a:rPr>
              <a:t>박지성이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ko-KR" altLang="en-US" sz="1400" dirty="0" smtClean="0">
                <a:latin typeface="+mj-ea"/>
                <a:ea typeface="+mj-ea"/>
              </a:rPr>
              <a:t>구매한 도서의 수</a:t>
            </a:r>
            <a:endParaRPr lang="en-US" altLang="ko-KR" sz="1400" dirty="0" smtClean="0">
              <a:latin typeface="+mj-ea"/>
              <a:ea typeface="+mj-ea"/>
            </a:endParaRPr>
          </a:p>
          <a:p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  <a:p>
            <a:r>
              <a:rPr lang="en-US" altLang="ko-KR" sz="1400" b="1" smtClean="0">
                <a:latin typeface="+mj-ea"/>
              </a:rPr>
              <a:t>2. </a:t>
            </a:r>
            <a:r>
              <a:rPr lang="ko-KR" altLang="en-US" sz="1400" b="1" dirty="0">
                <a:latin typeface="+mj-ea"/>
              </a:rPr>
              <a:t>마당서점의 운영자와 경영자가 요구하는 다음 질문에 대해 </a:t>
            </a:r>
            <a:r>
              <a:rPr lang="en-US" altLang="ko-KR" sz="1400" b="1" dirty="0">
                <a:latin typeface="+mj-ea"/>
              </a:rPr>
              <a:t>SQL </a:t>
            </a:r>
            <a:r>
              <a:rPr lang="ko-KR" altLang="en-US" sz="1400" b="1" dirty="0">
                <a:latin typeface="+mj-ea"/>
              </a:rPr>
              <a:t>문을 작성하시오</a:t>
            </a:r>
            <a:r>
              <a:rPr lang="en-US" altLang="ko-KR" sz="1400" b="1" dirty="0">
                <a:latin typeface="+mj-ea"/>
              </a:rPr>
              <a:t>.</a:t>
            </a:r>
          </a:p>
          <a:p>
            <a:r>
              <a:rPr lang="en-US" altLang="ko-KR" sz="1400" dirty="0">
                <a:latin typeface="+mj-ea"/>
              </a:rPr>
              <a:t>  (1) </a:t>
            </a:r>
            <a:r>
              <a:rPr lang="ko-KR" altLang="en-US" sz="1400" dirty="0">
                <a:latin typeface="+mj-ea"/>
              </a:rPr>
              <a:t>마당서점 도서의 총 개수</a:t>
            </a:r>
          </a:p>
          <a:p>
            <a:r>
              <a:rPr lang="en-US" altLang="ko-KR" sz="1400" dirty="0">
                <a:latin typeface="+mj-ea"/>
              </a:rPr>
              <a:t>  (2) </a:t>
            </a:r>
            <a:r>
              <a:rPr lang="ko-KR" altLang="en-US" sz="1400" dirty="0">
                <a:latin typeface="+mj-ea"/>
              </a:rPr>
              <a:t>마당서점에 도서를 출고하는 출판사의 총 개수</a:t>
            </a:r>
          </a:p>
          <a:p>
            <a:r>
              <a:rPr lang="en-US" altLang="ko-KR" sz="1400" dirty="0">
                <a:latin typeface="+mj-ea"/>
              </a:rPr>
              <a:t>  (3) </a:t>
            </a:r>
            <a:r>
              <a:rPr lang="ko-KR" altLang="en-US" sz="1400" dirty="0">
                <a:latin typeface="+mj-ea"/>
              </a:rPr>
              <a:t>모든 고객의 이름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>
                <a:latin typeface="+mj-ea"/>
              </a:rPr>
              <a:t>주소</a:t>
            </a:r>
          </a:p>
          <a:p>
            <a:r>
              <a:rPr lang="en-US" altLang="ko-KR" sz="1400" dirty="0">
                <a:latin typeface="+mj-ea"/>
              </a:rPr>
              <a:t>  (4) 2013</a:t>
            </a:r>
            <a:r>
              <a:rPr lang="ko-KR" altLang="en-US" sz="1400" dirty="0">
                <a:latin typeface="+mj-ea"/>
              </a:rPr>
              <a:t>년 </a:t>
            </a:r>
            <a:r>
              <a:rPr lang="en-US" altLang="ko-KR" sz="1400" dirty="0">
                <a:latin typeface="+mj-ea"/>
              </a:rPr>
              <a:t>7</a:t>
            </a:r>
            <a:r>
              <a:rPr lang="ko-KR" altLang="en-US" sz="1400" dirty="0">
                <a:latin typeface="+mj-ea"/>
              </a:rPr>
              <a:t>월 </a:t>
            </a:r>
            <a:r>
              <a:rPr lang="en-US" altLang="ko-KR" sz="1400" dirty="0">
                <a:latin typeface="+mj-ea"/>
              </a:rPr>
              <a:t>4</a:t>
            </a:r>
            <a:r>
              <a:rPr lang="ko-KR" altLang="en-US" sz="1400" dirty="0">
                <a:latin typeface="+mj-ea"/>
              </a:rPr>
              <a:t>일</a:t>
            </a:r>
            <a:r>
              <a:rPr lang="en-US" altLang="ko-KR" sz="1400" dirty="0">
                <a:latin typeface="+mj-ea"/>
              </a:rPr>
              <a:t>~7</a:t>
            </a:r>
            <a:r>
              <a:rPr lang="ko-KR" altLang="en-US" sz="1400" dirty="0">
                <a:latin typeface="+mj-ea"/>
              </a:rPr>
              <a:t>월 </a:t>
            </a:r>
            <a:r>
              <a:rPr lang="en-US" altLang="ko-KR" sz="1400" dirty="0">
                <a:latin typeface="+mj-ea"/>
              </a:rPr>
              <a:t>7</a:t>
            </a:r>
            <a:r>
              <a:rPr lang="ko-KR" altLang="en-US" sz="1400" dirty="0">
                <a:latin typeface="+mj-ea"/>
              </a:rPr>
              <a:t>일 사이에 </a:t>
            </a:r>
            <a:r>
              <a:rPr lang="ko-KR" altLang="en-US" sz="1400" dirty="0" err="1">
                <a:latin typeface="+mj-ea"/>
              </a:rPr>
              <a:t>주문받은</a:t>
            </a:r>
            <a:r>
              <a:rPr lang="ko-KR" altLang="en-US" sz="1400" dirty="0">
                <a:latin typeface="+mj-ea"/>
              </a:rPr>
              <a:t> 도서의 주문번호</a:t>
            </a:r>
          </a:p>
          <a:p>
            <a:r>
              <a:rPr lang="en-US" altLang="ko-KR" sz="1400" dirty="0">
                <a:latin typeface="+mj-ea"/>
              </a:rPr>
              <a:t>  (5) 2013</a:t>
            </a:r>
            <a:r>
              <a:rPr lang="ko-KR" altLang="en-US" sz="1400" dirty="0">
                <a:latin typeface="+mj-ea"/>
              </a:rPr>
              <a:t>년 </a:t>
            </a:r>
            <a:r>
              <a:rPr lang="en-US" altLang="ko-KR" sz="1400" dirty="0">
                <a:latin typeface="+mj-ea"/>
              </a:rPr>
              <a:t>7</a:t>
            </a:r>
            <a:r>
              <a:rPr lang="ko-KR" altLang="en-US" sz="1400" dirty="0">
                <a:latin typeface="+mj-ea"/>
              </a:rPr>
              <a:t>월 </a:t>
            </a:r>
            <a:r>
              <a:rPr lang="en-US" altLang="ko-KR" sz="1400" dirty="0">
                <a:latin typeface="+mj-ea"/>
              </a:rPr>
              <a:t>4</a:t>
            </a:r>
            <a:r>
              <a:rPr lang="ko-KR" altLang="en-US" sz="1400" dirty="0">
                <a:latin typeface="+mj-ea"/>
              </a:rPr>
              <a:t>일</a:t>
            </a:r>
            <a:r>
              <a:rPr lang="en-US" altLang="ko-KR" sz="1400" dirty="0">
                <a:latin typeface="+mj-ea"/>
              </a:rPr>
              <a:t>~7</a:t>
            </a:r>
            <a:r>
              <a:rPr lang="ko-KR" altLang="en-US" sz="1400" dirty="0">
                <a:latin typeface="+mj-ea"/>
              </a:rPr>
              <a:t>월 </a:t>
            </a:r>
            <a:r>
              <a:rPr lang="en-US" altLang="ko-KR" sz="1400" dirty="0">
                <a:latin typeface="+mj-ea"/>
              </a:rPr>
              <a:t>7</a:t>
            </a:r>
            <a:r>
              <a:rPr lang="ko-KR" altLang="en-US" sz="1400" dirty="0">
                <a:latin typeface="+mj-ea"/>
              </a:rPr>
              <a:t>일 사이에 </a:t>
            </a:r>
            <a:r>
              <a:rPr lang="ko-KR" altLang="en-US" sz="1400" dirty="0" err="1">
                <a:latin typeface="+mj-ea"/>
              </a:rPr>
              <a:t>주문받은</a:t>
            </a:r>
            <a:r>
              <a:rPr lang="ko-KR" altLang="en-US" sz="1400" dirty="0">
                <a:latin typeface="+mj-ea"/>
              </a:rPr>
              <a:t> 도서를 제외한 도서의 주문번호</a:t>
            </a:r>
          </a:p>
          <a:p>
            <a:r>
              <a:rPr lang="en-US" altLang="ko-KR" sz="1400" dirty="0">
                <a:latin typeface="+mj-ea"/>
              </a:rPr>
              <a:t>  (6) </a:t>
            </a:r>
            <a:r>
              <a:rPr lang="ko-KR" altLang="en-US" sz="1400" dirty="0">
                <a:latin typeface="+mj-ea"/>
              </a:rPr>
              <a:t>성이 ‘김’ 씨인 고객의 이름과 주소</a:t>
            </a:r>
          </a:p>
          <a:p>
            <a:r>
              <a:rPr lang="en-US" altLang="ko-KR" sz="1400" dirty="0">
                <a:latin typeface="+mj-ea"/>
              </a:rPr>
              <a:t>  (7) </a:t>
            </a:r>
            <a:r>
              <a:rPr lang="ko-KR" altLang="en-US" sz="1400" dirty="0">
                <a:latin typeface="+mj-ea"/>
              </a:rPr>
              <a:t>성이 ‘김’ 씨이고 이름이 ‘아’로 끝나는 고객의 이름과 </a:t>
            </a:r>
            <a:r>
              <a:rPr lang="ko-KR" altLang="en-US" sz="1400" dirty="0" smtClean="0">
                <a:latin typeface="+mj-ea"/>
              </a:rPr>
              <a:t>주소</a:t>
            </a:r>
            <a:endParaRPr lang="ko-KR" altLang="en-US" sz="14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23954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1400" dirty="0" smtClean="0"/>
              <a:t>Customer </a:t>
            </a:r>
            <a:r>
              <a:rPr lang="ko-KR" altLang="en-US" sz="1400" dirty="0" smtClean="0"/>
              <a:t>테이블을 </a:t>
            </a:r>
            <a:r>
              <a:rPr lang="en-US" altLang="ko-KR" sz="1400" dirty="0" smtClean="0"/>
              <a:t>Orders </a:t>
            </a:r>
            <a:r>
              <a:rPr lang="ko-KR" altLang="en-US" sz="1400" dirty="0" smtClean="0"/>
              <a:t>테이블과 조건 없이 연결해보자</a:t>
            </a:r>
            <a:r>
              <a:rPr lang="en-US" altLang="ko-KR" sz="1400" dirty="0" smtClean="0"/>
              <a:t>. Customer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Orders </a:t>
            </a:r>
            <a:r>
              <a:rPr lang="ko-KR" altLang="en-US" sz="1400" dirty="0" smtClean="0"/>
              <a:t>테이블의 합체 결과 </a:t>
            </a:r>
            <a:r>
              <a:rPr lang="ko-KR" altLang="en-US" sz="1400" dirty="0" err="1"/>
              <a:t>투</a:t>
            </a:r>
            <a:r>
              <a:rPr lang="ko-KR" altLang="en-US" sz="1400" dirty="0" err="1" smtClean="0"/>
              <a:t>플의</a:t>
            </a:r>
            <a:r>
              <a:rPr lang="ko-KR" altLang="en-US" sz="1400" dirty="0" smtClean="0"/>
              <a:t> 개수는 고객이 다섯 명이고 주문이 열 개이므로</a:t>
            </a:r>
            <a:r>
              <a:rPr lang="ko-KR" altLang="en-US" dirty="0" smtClean="0"/>
              <a:t> </a:t>
            </a:r>
            <a:r>
              <a:rPr lang="en-US" altLang="ko-KR" sz="1400" dirty="0" smtClean="0"/>
              <a:t>5×10 </a:t>
            </a:r>
            <a:r>
              <a:rPr lang="ko-KR" altLang="en-US" sz="1400" dirty="0" smtClean="0"/>
              <a:t>해서 </a:t>
            </a:r>
            <a:r>
              <a:rPr lang="en-US" altLang="ko-KR" sz="1400" dirty="0" smtClean="0"/>
              <a:t>50</a:t>
            </a:r>
            <a:r>
              <a:rPr lang="ko-KR" altLang="en-US" sz="1400" dirty="0" smtClean="0"/>
              <a:t>이 된다</a:t>
            </a:r>
            <a:r>
              <a:rPr lang="en-US" altLang="ko-KR" sz="1400" dirty="0" smtClean="0"/>
              <a:t>.</a:t>
            </a:r>
            <a:endParaRPr lang="ko-KR" altLang="en-US" sz="1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971600" y="2028379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 smtClean="0"/>
              <a:t>SELECT	*</a:t>
            </a:r>
          </a:p>
          <a:p>
            <a:r>
              <a:rPr lang="en-US" altLang="ko-KR" sz="1400" dirty="0" smtClean="0"/>
              <a:t>FROM    	Customer, Orders;</a:t>
            </a:r>
            <a:endParaRPr lang="en-US" altLang="ko-KR" sz="140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91880" y="6099987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3-16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Customer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와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Orders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테이블의 합체 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68" y="2028379"/>
            <a:ext cx="5007780" cy="395381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389169"/>
              </p:ext>
            </p:extLst>
          </p:nvPr>
        </p:nvGraphicFramePr>
        <p:xfrm>
          <a:off x="713309" y="12687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보이시오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708920"/>
            <a:ext cx="7992888" cy="262754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9303554"/>
              </p:ext>
            </p:extLst>
          </p:nvPr>
        </p:nvGraphicFramePr>
        <p:xfrm>
          <a:off x="713309" y="1268760"/>
          <a:ext cx="7459091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3-22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고객번호 순으로 정렬하여 보이시오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 	Customer, Orders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    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ORDER BY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7" y="2924944"/>
            <a:ext cx="7560840" cy="24998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210284"/>
              </p:ext>
            </p:extLst>
          </p:nvPr>
        </p:nvGraphicFramePr>
        <p:xfrm>
          <a:off x="735807" y="12687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3-23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이름과 고객이 주문한 도서의 판매가격을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name,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 smtClean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2312806"/>
              </p:ext>
            </p:extLst>
          </p:nvPr>
        </p:nvGraphicFramePr>
        <p:xfrm>
          <a:off x="735807" y="4417536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3-24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주문한 모든 도서의 총 판매액을 구하고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정렬하시오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name, SUM(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  	Customer, Orders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     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GROUP BY	Customer.name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ORDER BY	Customer.name;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440" y="1700808"/>
            <a:ext cx="1482458" cy="23042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244" y="4869160"/>
            <a:ext cx="182667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9" name="꺾인 연결선 38"/>
          <p:cNvCxnSpPr/>
          <p:nvPr/>
        </p:nvCxnSpPr>
        <p:spPr>
          <a:xfrm rot="5400000">
            <a:off x="669281" y="2675582"/>
            <a:ext cx="1631801" cy="739130"/>
          </a:xfrm>
          <a:prstGeom prst="bentConnector3">
            <a:avLst>
              <a:gd name="adj1" fmla="val 27819"/>
            </a:avLst>
          </a:prstGeom>
          <a:ln w="9525">
            <a:solidFill>
              <a:schemeClr val="tx1"/>
            </a:solidFill>
            <a:prstDash val="solid"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84151" y="621826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 데이터 간의 연결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4744"/>
            <a:ext cx="6583313" cy="5005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624771"/>
              </p:ext>
            </p:extLst>
          </p:nvPr>
        </p:nvGraphicFramePr>
        <p:xfrm>
          <a:off x="735807" y="126876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3-25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이름과 고객이 주문한 도서의 이름을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 smtClean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400" dirty="0" smtClean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Book.bookid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806418"/>
              </p:ext>
            </p:extLst>
          </p:nvPr>
        </p:nvGraphicFramePr>
        <p:xfrm>
          <a:off x="735807" y="4417536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3-26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800" dirty="0" smtClean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736158"/>
            <a:ext cx="1866900" cy="22764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4797152"/>
            <a:ext cx="1838325" cy="70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외부조인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3672316"/>
              </p:ext>
            </p:extLst>
          </p:nvPr>
        </p:nvGraphicFramePr>
        <p:xfrm>
          <a:off x="593329" y="1678568"/>
          <a:ext cx="7579071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/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3-27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구매하지 않은 고객을 포함하여 고객의 이름과 고객이 주문한 도서의 판매가격을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	Customer LEFT OUTER JOIN 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           	Orders ON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2435919"/>
            <a:ext cx="1657350" cy="2771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조인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개의 테이블을 합체해보자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271206"/>
              </p:ext>
            </p:extLst>
          </p:nvPr>
        </p:nvGraphicFramePr>
        <p:xfrm>
          <a:off x="582984" y="1700808"/>
          <a:ext cx="7949456" cy="3456384"/>
        </p:xfrm>
        <a:graphic>
          <a:graphicData uri="http://schemas.openxmlformats.org/drawingml/2006/table">
            <a:tbl>
              <a:tblPr/>
              <a:tblGrid>
                <a:gridCol w="1108696"/>
                <a:gridCol w="3888432"/>
                <a:gridCol w="2952328"/>
              </a:tblGrid>
              <a:tr h="3691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명령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92677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일반적인 조인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 AND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문에서는 주로 동등조인을 사용함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 가지 문법 중 하나를 사용할 수 있음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541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INNER JOIN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altLang="ko-KR" sz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5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외부조인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{LEFT |RIGHT |FULL [OUTER]} JOIN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테이블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외부조인은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조인 종류를 적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이용하여 조인조건을 명시함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1560" y="134076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조인 문법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부속질의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 내에 또 다른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문을 작성해보자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39552" y="1196752"/>
            <a:ext cx="8064896" cy="5400600"/>
          </a:xfrm>
          <a:prstGeom prst="rect">
            <a:avLst/>
          </a:prstGeo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755576" y="574668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부속질의의 실행 순서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4528640"/>
              </p:ext>
            </p:extLst>
          </p:nvPr>
        </p:nvGraphicFramePr>
        <p:xfrm>
          <a:off x="827584" y="1412776"/>
          <a:ext cx="7579071" cy="160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/>
              </a:tblGrid>
              <a:tr h="446505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3-28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가장 비싼 도서의 이름을 보이시오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137671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</a:rPr>
                        <a:t>bookname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FROM    	Book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WHERE     price = ( SELECT</a:t>
                      </a:r>
                      <a:r>
                        <a:rPr lang="en-US" altLang="ko-KR" sz="1400" baseline="0" dirty="0" smtClean="0">
                          <a:solidFill>
                            <a:schemeClr val="dk1"/>
                          </a:solidFill>
                        </a:rPr>
                        <a:t> MAX(price)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            	</a:t>
                      </a:r>
                      <a:r>
                        <a:rPr lang="en-US" altLang="ko-KR" sz="1400" baseline="0" dirty="0" smtClean="0">
                          <a:solidFill>
                            <a:schemeClr val="dk1"/>
                          </a:solidFill>
                        </a:rPr>
                        <a:t>            FROM Book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055534"/>
            <a:ext cx="7660821" cy="267772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부속질의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 내에 또 다른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문을 작성해보자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7286"/>
              </p:ext>
            </p:extLst>
          </p:nvPr>
        </p:nvGraphicFramePr>
        <p:xfrm>
          <a:off x="735807" y="126876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3-29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구매한 적이 있는 고객의 이름을 검색하시오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/>
                        <a:t>SELECT	name</a:t>
                      </a:r>
                    </a:p>
                    <a:p>
                      <a:r>
                        <a:rPr lang="en-US" altLang="ko-KR" sz="1400" dirty="0" smtClean="0"/>
                        <a:t>FROM     	Customer</a:t>
                      </a:r>
                    </a:p>
                    <a:p>
                      <a:r>
                        <a:rPr lang="en-US" altLang="ko-KR" sz="1400" dirty="0" smtClean="0"/>
                        <a:t>WHERE    	</a:t>
                      </a:r>
                      <a:r>
                        <a:rPr lang="en-US" altLang="ko-KR" sz="1400" dirty="0" err="1" smtClean="0"/>
                        <a:t>custid</a:t>
                      </a:r>
                      <a:r>
                        <a:rPr lang="en-US" altLang="ko-KR" sz="1400" dirty="0" smtClean="0"/>
                        <a:t> IN (SELECT    </a:t>
                      </a:r>
                      <a:r>
                        <a:rPr lang="en-US" altLang="ko-KR" sz="1400" dirty="0" err="1" smtClean="0"/>
                        <a:t>custid</a:t>
                      </a:r>
                      <a:endParaRPr lang="en-US" altLang="ko-KR" sz="1400" dirty="0" smtClean="0"/>
                    </a:p>
                    <a:p>
                      <a:r>
                        <a:rPr lang="en-US" altLang="ko-KR" sz="1400" dirty="0" smtClean="0"/>
                        <a:t>                           	FROM  </a:t>
                      </a:r>
                      <a:r>
                        <a:rPr lang="en-US" altLang="ko-KR" sz="1400" baseline="0" dirty="0" smtClean="0"/>
                        <a:t>  </a:t>
                      </a:r>
                      <a:r>
                        <a:rPr lang="en-US" altLang="ko-KR" sz="1400" dirty="0" smtClean="0"/>
                        <a:t>Orders);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9087598"/>
              </p:ext>
            </p:extLst>
          </p:nvPr>
        </p:nvGraphicFramePr>
        <p:xfrm>
          <a:off x="735807" y="3717032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3-30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대한미디어에서 출판한 도서를 구매한 고객의 이름을 보이시오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FROM     	Customer</a:t>
                      </a:r>
                    </a:p>
                    <a:p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WHERE  </a:t>
                      </a:r>
                      <a:r>
                        <a:rPr lang="en-US" altLang="ko-KR" sz="8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  	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66700"/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2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Orders</a:t>
                      </a:r>
                    </a:p>
                    <a:p>
                      <a:pPr marL="1438275" indent="266700"/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WHERE   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 smtClean="0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endParaRPr lang="en-US" altLang="ko-KR" sz="1400" dirty="0" smtClean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057400"/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8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Book</a:t>
                      </a:r>
                    </a:p>
                    <a:p>
                      <a:pPr marL="1438275" indent="2057400"/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 WHERE    publisher='</a:t>
                      </a:r>
                      <a:r>
                        <a:rPr lang="ko-KR" altLang="en-US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 smtClean="0">
                          <a:solidFill>
                            <a:schemeClr val="dk1"/>
                          </a:solidFill>
                          <a:latin typeface="+mn-ea"/>
                        </a:rPr>
                        <a:t>'));</a:t>
                      </a:r>
                      <a:endParaRPr lang="en-US" altLang="ko-KR" sz="1400" dirty="0" smtClean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962" y="1700808"/>
            <a:ext cx="762000" cy="13525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962" y="4221088"/>
            <a:ext cx="80962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부속질의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 내에 또 다른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문을 작성해보자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52864" y="4725144"/>
            <a:ext cx="33836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  <a:ea typeface="+mn-ea"/>
              </a:rPr>
              <a:t>(SELECT 	</a:t>
            </a:r>
            <a:r>
              <a:rPr lang="en-US" altLang="ko-KR" sz="1400" dirty="0" err="1" smtClean="0">
                <a:latin typeface="+mn-ea"/>
                <a:ea typeface="+mn-ea"/>
              </a:rPr>
              <a:t>bookid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dirty="0" smtClean="0">
                <a:latin typeface="+mn-ea"/>
                <a:ea typeface="+mn-ea"/>
              </a:rPr>
              <a:t> FROM	Book</a:t>
            </a:r>
          </a:p>
          <a:p>
            <a:r>
              <a:rPr lang="en-US" altLang="ko-KR" sz="1400" dirty="0" smtClean="0">
                <a:latin typeface="+mn-ea"/>
                <a:ea typeface="+mn-ea"/>
              </a:rPr>
              <a:t> WHERE	publisher='</a:t>
            </a:r>
            <a:r>
              <a:rPr lang="ko-KR" altLang="en-US" sz="1400" dirty="0" smtClean="0">
                <a:latin typeface="+mn-ea"/>
                <a:ea typeface="+mn-ea"/>
              </a:rPr>
              <a:t>대한미디어</a:t>
            </a:r>
            <a:r>
              <a:rPr lang="en-US" altLang="ko-KR" sz="1400" dirty="0" smtClean="0">
                <a:latin typeface="+mn-ea"/>
                <a:ea typeface="+mn-ea"/>
              </a:rPr>
              <a:t>')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176017" y="3554432"/>
            <a:ext cx="33729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(SELECT 	</a:t>
            </a:r>
            <a:r>
              <a:rPr lang="en-US" altLang="ko-KR" sz="1400" dirty="0" err="1" smtClean="0">
                <a:latin typeface="+mn-ea"/>
              </a:rPr>
              <a:t>custid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 FROM	Orders</a:t>
            </a:r>
          </a:p>
          <a:p>
            <a:r>
              <a:rPr lang="en-US" altLang="ko-KR" sz="1400" dirty="0" smtClean="0">
                <a:latin typeface="+mn-ea"/>
              </a:rPr>
              <a:t> WHERE	</a:t>
            </a:r>
            <a:r>
              <a:rPr lang="en-US" altLang="ko-KR" sz="1400" dirty="0" err="1" smtClean="0">
                <a:latin typeface="+mn-ea"/>
              </a:rPr>
              <a:t>bookid</a:t>
            </a:r>
            <a:r>
              <a:rPr lang="en-US" altLang="ko-KR" sz="1400" dirty="0" smtClean="0">
                <a:latin typeface="+mn-ea"/>
              </a:rPr>
              <a:t> 	IN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56320" y="2420888"/>
            <a:ext cx="33801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SELECT	name</a:t>
            </a:r>
          </a:p>
          <a:p>
            <a:r>
              <a:rPr lang="en-US" altLang="ko-KR" sz="1400" dirty="0" smtClean="0">
                <a:latin typeface="+mn-ea"/>
              </a:rPr>
              <a:t>FROM	Customer</a:t>
            </a:r>
          </a:p>
          <a:p>
            <a:r>
              <a:rPr lang="en-US" altLang="ko-KR" sz="1400" dirty="0" smtClean="0">
                <a:latin typeface="+mn-ea"/>
              </a:rPr>
              <a:t>WHERE	</a:t>
            </a:r>
            <a:r>
              <a:rPr lang="en-US" altLang="ko-KR" sz="1400" dirty="0" err="1" smtClean="0">
                <a:latin typeface="+mn-ea"/>
              </a:rPr>
              <a:t>custid</a:t>
            </a:r>
            <a:r>
              <a:rPr lang="en-US" altLang="ko-KR" sz="1400" dirty="0" smtClean="0">
                <a:latin typeface="+mn-ea"/>
              </a:rPr>
              <a:t> 	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185495" y="4355579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smtClean="0">
                <a:solidFill>
                  <a:prstClr val="black"/>
                </a:solidFill>
                <a:latin typeface="+mn-ea"/>
                <a:ea typeface="+mn-ea"/>
              </a:rPr>
              <a:t>①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701050" y="3140968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smtClean="0">
                <a:solidFill>
                  <a:prstClr val="black"/>
                </a:solidFill>
                <a:latin typeface="+mn-ea"/>
                <a:ea typeface="+mn-ea"/>
              </a:rPr>
              <a:t>②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260376" y="1988840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smtClean="0">
                <a:solidFill>
                  <a:prstClr val="black"/>
                </a:solidFill>
                <a:latin typeface="+mn-ea"/>
                <a:ea typeface="+mn-ea"/>
              </a:rPr>
              <a:t>③</a:t>
            </a:r>
            <a:endParaRPr lang="ko-KR" altLang="en-US" sz="1400" b="1" dirty="0">
              <a:latin typeface="+mn-ea"/>
              <a:ea typeface="+mn-ea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 rot="5400000">
            <a:off x="1026642" y="2109043"/>
            <a:ext cx="473571" cy="6102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rot="5400000">
            <a:off x="3451688" y="3261171"/>
            <a:ext cx="473571" cy="6102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rot="5400000">
            <a:off x="5923185" y="4454823"/>
            <a:ext cx="473571" cy="6102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5576" y="580526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3-19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3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단계 부속질의의 실행 순서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13" y="1226394"/>
            <a:ext cx="771525" cy="6381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459" y="2339727"/>
            <a:ext cx="923925" cy="6572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245" y="3294856"/>
            <a:ext cx="9239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부속질의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 내에 또 다른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문을 작성해보자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4304" y="596833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3-20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3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단계 부속질의의 실행 순서와 데이터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96752"/>
            <a:ext cx="7083287" cy="4543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부속질의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 내에 또 다른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문을 작성해보자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상관 부속질의</a:t>
            </a:r>
            <a:r>
              <a:rPr lang="en-US" altLang="ko-KR" dirty="0" smtClean="0"/>
              <a:t>(correlated </a:t>
            </a:r>
            <a:r>
              <a:rPr lang="en-US" altLang="ko-KR" dirty="0" err="1" smtClean="0"/>
              <a:t>subquery</a:t>
            </a:r>
            <a:r>
              <a:rPr lang="en-US" altLang="ko-KR" dirty="0" smtClean="0"/>
              <a:t>)</a:t>
            </a:r>
            <a:r>
              <a:rPr lang="ko-KR" altLang="en-US" dirty="0" smtClean="0"/>
              <a:t>는 상위 부속질의의 투플을 이용하여 하위 부속질의를 계산함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상위 부속질의와 하위 부속질의가 독립적이지 않고 서로 관련을 맺고 있음</a:t>
            </a:r>
            <a:r>
              <a:rPr lang="en-US" altLang="ko-KR" sz="1200" dirty="0" smtClean="0"/>
              <a:t>)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graphicFrame>
        <p:nvGraphicFramePr>
          <p:cNvPr id="1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853828"/>
              </p:ext>
            </p:extLst>
          </p:nvPr>
        </p:nvGraphicFramePr>
        <p:xfrm>
          <a:off x="807815" y="2636912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3-31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출판사별로 출판사의 평균 도서 가격보다 비싼 도서를 구하시오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827584" y="3284984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SELECT 	b1.bookname</a:t>
            </a:r>
          </a:p>
          <a:p>
            <a:r>
              <a:rPr lang="en-US" altLang="ko-KR" sz="1400" dirty="0" smtClean="0"/>
              <a:t>FROM 	Book b1</a:t>
            </a:r>
          </a:p>
          <a:p>
            <a:r>
              <a:rPr lang="en-US" altLang="ko-KR" sz="1400" dirty="0" smtClean="0"/>
              <a:t>WHERE 	b1.price &gt; (SELECT 	</a:t>
            </a:r>
            <a:r>
              <a:rPr lang="en-US" altLang="ko-KR" sz="1400" dirty="0" err="1" smtClean="0"/>
              <a:t>avg</a:t>
            </a:r>
            <a:r>
              <a:rPr lang="en-US" altLang="ko-KR" sz="1400" dirty="0" smtClean="0"/>
              <a:t>(b2.price)</a:t>
            </a:r>
          </a:p>
          <a:p>
            <a:r>
              <a:rPr lang="en-US" altLang="ko-KR" sz="1400" dirty="0" smtClean="0"/>
              <a:t>		FROM 	Book b2</a:t>
            </a:r>
          </a:p>
          <a:p>
            <a:r>
              <a:rPr lang="en-US" altLang="ko-KR" sz="1400" dirty="0" smtClean="0"/>
              <a:t>		WHERE 	b2.publisher=b1.publisher);</a:t>
            </a:r>
            <a:endParaRPr lang="ko-KR" altLang="en-US" sz="1400" dirty="0"/>
          </a:p>
        </p:txBody>
      </p:sp>
      <p:pic>
        <p:nvPicPr>
          <p:cNvPr id="25" name="Picture 2" descr="C:\Documents and Settings\Administrator\바탕 화면\DB_개론과_실습_강의교안_제작\04. 캡처 이미지\3장 이미지\ch03_R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280" y="3342134"/>
            <a:ext cx="771525" cy="80962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부속질의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 내에 또 다른 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SQL 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문을 작성해보자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9552" y="436510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3-21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상관 부속질의의 데이터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0" y="1654356"/>
            <a:ext cx="8064896" cy="271074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</a:t>
            </a:r>
            <a:r>
              <a:rPr lang="ko-KR" altLang="en-US" dirty="0" smtClean="0"/>
              <a:t>집합연산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도서를 주문하지 않은 고객을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합집합 </a:t>
            </a:r>
            <a:r>
              <a:rPr lang="en-US" altLang="ko-KR" dirty="0" smtClean="0"/>
              <a:t>UNION, </a:t>
            </a:r>
            <a:r>
              <a:rPr lang="ko-KR" altLang="en-US" dirty="0" err="1" smtClean="0"/>
              <a:t>차집합</a:t>
            </a:r>
            <a:r>
              <a:rPr lang="ko-KR" altLang="en-US" dirty="0" smtClean="0"/>
              <a:t> </a:t>
            </a:r>
            <a:r>
              <a:rPr lang="en-US" altLang="ko-KR" dirty="0" smtClean="0"/>
              <a:t>EXCEPT, </a:t>
            </a:r>
            <a:r>
              <a:rPr lang="ko-KR" altLang="en-US" dirty="0" smtClean="0"/>
              <a:t>교집합 </a:t>
            </a:r>
            <a:r>
              <a:rPr lang="en-US" altLang="ko-KR" dirty="0" smtClean="0"/>
              <a:t>INTERSECT </a:t>
            </a:r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en-US" altLang="ko-KR" sz="1200" b="0" dirty="0" smtClean="0"/>
              <a:t>{</a:t>
            </a:r>
            <a:r>
              <a:rPr lang="ko-KR" altLang="en-US" sz="1200" b="0" dirty="0" smtClean="0"/>
              <a:t>도서를 주문하지 않은 고객</a:t>
            </a:r>
            <a:r>
              <a:rPr lang="en-US" altLang="ko-KR" sz="1200" b="0" dirty="0" smtClean="0"/>
              <a:t>} = {</a:t>
            </a:r>
            <a:r>
              <a:rPr lang="ko-KR" altLang="en-US" sz="1200" b="0" dirty="0" smtClean="0"/>
              <a:t>모든 고객</a:t>
            </a:r>
            <a:r>
              <a:rPr lang="en-US" altLang="ko-KR" sz="1200" b="0" dirty="0" smtClean="0"/>
              <a:t>} - {</a:t>
            </a:r>
            <a:r>
              <a:rPr lang="ko-KR" altLang="en-US" sz="1200" b="0" dirty="0" smtClean="0"/>
              <a:t>도서를 주문한 고객</a:t>
            </a:r>
            <a:r>
              <a:rPr lang="en-US" altLang="ko-KR" sz="1200" b="0" dirty="0" smtClean="0"/>
              <a:t>}</a:t>
            </a:r>
            <a:endParaRPr lang="ko-KR" altLang="en-US" sz="1200" b="0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109157"/>
              </p:ext>
            </p:extLst>
          </p:nvPr>
        </p:nvGraphicFramePr>
        <p:xfrm>
          <a:off x="879823" y="2708920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3-32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주문하지 않은 고객의 이름을 보이시오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99592" y="3356992"/>
            <a:ext cx="511256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SELECT 	name</a:t>
            </a:r>
          </a:p>
          <a:p>
            <a:r>
              <a:rPr lang="en-US" altLang="ko-KR" sz="1400" dirty="0" smtClean="0"/>
              <a:t>FROM 	Customer</a:t>
            </a:r>
          </a:p>
          <a:p>
            <a:r>
              <a:rPr lang="en-US" altLang="ko-KR" sz="1400" dirty="0" smtClean="0"/>
              <a:t>EXCEPT</a:t>
            </a:r>
          </a:p>
          <a:p>
            <a:r>
              <a:rPr lang="en-US" altLang="ko-KR" sz="1400" dirty="0" smtClean="0"/>
              <a:t>SELECT 	name</a:t>
            </a:r>
          </a:p>
          <a:p>
            <a:r>
              <a:rPr lang="en-US" altLang="ko-KR" sz="1400" dirty="0" smtClean="0"/>
              <a:t>FROM 	Customer</a:t>
            </a:r>
          </a:p>
          <a:p>
            <a:r>
              <a:rPr lang="en-US" altLang="ko-KR" sz="1400" dirty="0" smtClean="0"/>
              <a:t>WHERE 	</a:t>
            </a:r>
            <a:r>
              <a:rPr lang="en-US" altLang="ko-KR" sz="1400" dirty="0" err="1" smtClean="0"/>
              <a:t>custid</a:t>
            </a:r>
            <a:r>
              <a:rPr lang="en-US" altLang="ko-KR" sz="1400" dirty="0" smtClean="0"/>
              <a:t> IN (SELECT </a:t>
            </a:r>
            <a:r>
              <a:rPr lang="en-US" altLang="ko-KR" sz="1400" dirty="0" err="1" smtClean="0"/>
              <a:t>custid</a:t>
            </a:r>
            <a:endParaRPr lang="en-US" altLang="ko-KR" sz="1400" dirty="0" smtClean="0"/>
          </a:p>
          <a:p>
            <a:r>
              <a:rPr lang="en-US" altLang="ko-KR" sz="1400" dirty="0" smtClean="0"/>
              <a:t>	              FROM  Orders);</a:t>
            </a:r>
            <a:endParaRPr lang="ko-KR" altLang="en-US" sz="1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967" y="3385038"/>
            <a:ext cx="704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EXISTS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주문이 있는 고객을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EXISTS</a:t>
            </a:r>
            <a:r>
              <a:rPr lang="ko-KR" altLang="en-US" dirty="0" smtClean="0"/>
              <a:t>는 원래 단어에서 의미하는 것과 같이 조건에 맞는 튜플이 존재하면 결과에 포함시킴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부속질의문의 어떤 행이 조건에 만족하면 참인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반면 </a:t>
            </a:r>
            <a:r>
              <a:rPr lang="en-US" altLang="ko-KR" sz="1200" dirty="0" smtClean="0"/>
              <a:t>NOT EXISTS</a:t>
            </a:r>
            <a:r>
              <a:rPr lang="ko-KR" altLang="en-US" sz="1200" dirty="0" smtClean="0"/>
              <a:t>는 부속질의문의 모든 행이 조건에 만족하지 않을 때만 참임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057978"/>
              </p:ext>
            </p:extLst>
          </p:nvPr>
        </p:nvGraphicFramePr>
        <p:xfrm>
          <a:off x="879823" y="2564904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3-33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주문이 있는 고객의 이름과 주소를 보이시오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99592" y="3212976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SELECT 	name, address</a:t>
            </a:r>
          </a:p>
          <a:p>
            <a:r>
              <a:rPr lang="en-US" altLang="ko-KR" sz="1400" dirty="0" smtClean="0"/>
              <a:t>FROM 	Customer </a:t>
            </a:r>
            <a:r>
              <a:rPr lang="en-US" altLang="ko-KR" sz="1400" dirty="0" err="1" smtClean="0"/>
              <a:t>cs</a:t>
            </a:r>
            <a:endParaRPr lang="en-US" altLang="ko-KR" sz="1400" dirty="0" smtClean="0"/>
          </a:p>
          <a:p>
            <a:r>
              <a:rPr lang="en-US" altLang="ko-KR" sz="1400" dirty="0" smtClean="0"/>
              <a:t>WHERE 	EXISTS (SELECT *</a:t>
            </a:r>
          </a:p>
          <a:p>
            <a:r>
              <a:rPr lang="en-US" altLang="ko-KR" sz="1400" dirty="0" smtClean="0"/>
              <a:t>	           FROM  Orders </a:t>
            </a:r>
            <a:r>
              <a:rPr lang="en-US" altLang="ko-KR" sz="1400" dirty="0" err="1" smtClean="0"/>
              <a:t>od</a:t>
            </a:r>
            <a:endParaRPr lang="en-US" altLang="ko-KR" sz="1400" dirty="0" smtClean="0"/>
          </a:p>
          <a:p>
            <a:r>
              <a:rPr lang="en-US" altLang="ko-KR" sz="1400" dirty="0" smtClean="0"/>
              <a:t>	           WHERE </a:t>
            </a:r>
            <a:r>
              <a:rPr lang="en-US" altLang="ko-KR" sz="1400" dirty="0" err="1" smtClean="0"/>
              <a:t>cs.custid</a:t>
            </a:r>
            <a:r>
              <a:rPr lang="en-US" altLang="ko-KR" sz="1400" dirty="0" smtClean="0"/>
              <a:t> =</a:t>
            </a:r>
            <a:r>
              <a:rPr lang="en-US" altLang="ko-KR" sz="1400" dirty="0" err="1" smtClean="0"/>
              <a:t>od.custid</a:t>
            </a:r>
            <a:r>
              <a:rPr lang="en-US" altLang="ko-KR" sz="1400" dirty="0" smtClean="0"/>
              <a:t>);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3107804"/>
            <a:ext cx="1781175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EXISTS</a:t>
            </a:r>
            <a:r>
              <a:rPr lang="en-US" altLang="ko-K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주문이 있는 고객을 알고 싶다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3237756" y="2258899"/>
            <a:ext cx="1800200" cy="2880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3237756" y="2670379"/>
            <a:ext cx="1800200" cy="2880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3237756" y="2868499"/>
            <a:ext cx="1800200" cy="2880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3237756" y="3081859"/>
            <a:ext cx="1800200" cy="2880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3237756" y="2472259"/>
            <a:ext cx="1800200" cy="28803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3434348" y="2044706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solidFill>
                  <a:prstClr val="black"/>
                </a:solidFill>
              </a:rPr>
              <a:t>①</a:t>
            </a:r>
            <a:endParaRPr lang="ko-KR" altLang="en-US" sz="1400" dirty="0"/>
          </a:p>
        </p:txBody>
      </p:sp>
      <p:sp>
        <p:nvSpPr>
          <p:cNvPr id="16" name="직사각형 15"/>
          <p:cNvSpPr/>
          <p:nvPr/>
        </p:nvSpPr>
        <p:spPr>
          <a:xfrm>
            <a:off x="3554740" y="2298140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solidFill>
                  <a:prstClr val="black"/>
                </a:solidFill>
              </a:rPr>
              <a:t>②`</a:t>
            </a:r>
            <a:endParaRPr lang="ko-KR" altLang="en-US" sz="1400" dirty="0"/>
          </a:p>
        </p:txBody>
      </p:sp>
      <p:sp>
        <p:nvSpPr>
          <p:cNvPr id="17" name="직사각형 16"/>
          <p:cNvSpPr/>
          <p:nvPr/>
        </p:nvSpPr>
        <p:spPr>
          <a:xfrm>
            <a:off x="3720852" y="254045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solidFill>
                  <a:prstClr val="black"/>
                </a:solidFill>
              </a:rPr>
              <a:t>③</a:t>
            </a:r>
            <a:endParaRPr lang="ko-KR" altLang="en-US" sz="1400" dirty="0"/>
          </a:p>
        </p:txBody>
      </p:sp>
      <p:sp>
        <p:nvSpPr>
          <p:cNvPr id="18" name="직사각형 17"/>
          <p:cNvSpPr/>
          <p:nvPr/>
        </p:nvSpPr>
        <p:spPr>
          <a:xfrm>
            <a:off x="3873862" y="2775224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solidFill>
                  <a:prstClr val="black"/>
                </a:solidFill>
              </a:rPr>
              <a:t>④</a:t>
            </a:r>
            <a:endParaRPr lang="ko-KR" altLang="en-US" sz="1400" dirty="0"/>
          </a:p>
        </p:txBody>
      </p:sp>
      <p:sp>
        <p:nvSpPr>
          <p:cNvPr id="19" name="직사각형 18"/>
          <p:cNvSpPr/>
          <p:nvPr/>
        </p:nvSpPr>
        <p:spPr>
          <a:xfrm>
            <a:off x="4007570" y="298890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solidFill>
                  <a:prstClr val="black"/>
                </a:solidFill>
              </a:rPr>
              <a:t>⑤</a:t>
            </a:r>
            <a:endParaRPr lang="ko-KR" altLang="en-US" sz="1400" dirty="0"/>
          </a:p>
        </p:txBody>
      </p:sp>
      <p:sp>
        <p:nvSpPr>
          <p:cNvPr id="20" name="직사각형 19"/>
          <p:cNvSpPr/>
          <p:nvPr/>
        </p:nvSpPr>
        <p:spPr>
          <a:xfrm>
            <a:off x="1256556" y="1613411"/>
            <a:ext cx="1451787" cy="338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Customer</a:t>
            </a:r>
            <a:endParaRPr lang="ko-KR" altLang="en-US" sz="1400" dirty="0"/>
          </a:p>
        </p:txBody>
      </p:sp>
      <p:sp>
        <p:nvSpPr>
          <p:cNvPr id="21" name="직사각형 20"/>
          <p:cNvSpPr/>
          <p:nvPr/>
        </p:nvSpPr>
        <p:spPr>
          <a:xfrm>
            <a:off x="5064429" y="1634828"/>
            <a:ext cx="14517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568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3-24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EXISTS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상관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부속질의문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데이터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18" y="1892959"/>
            <a:ext cx="2290992" cy="13826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957" y="1911268"/>
            <a:ext cx="2262881" cy="234118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5" y="1196752"/>
            <a:ext cx="8136904" cy="5472608"/>
          </a:xfrm>
        </p:spPr>
        <p:txBody>
          <a:bodyPr/>
          <a:lstStyle/>
          <a:p>
            <a:r>
              <a:rPr lang="en-US" altLang="ko-KR" sz="1400" b="1" smtClean="0">
                <a:latin typeface="+mj-ea"/>
                <a:ea typeface="+mj-ea"/>
              </a:rPr>
              <a:t>1. </a:t>
            </a:r>
            <a:r>
              <a:rPr lang="ko-KR" altLang="en-US" sz="1400" b="1" dirty="0">
                <a:latin typeface="+mj-ea"/>
                <a:ea typeface="+mj-ea"/>
              </a:rPr>
              <a:t>마당서점의 고객이 요구하는 다음 질문에 대해 </a:t>
            </a:r>
            <a:r>
              <a:rPr lang="en-US" altLang="ko-KR" sz="1400" b="1" dirty="0">
                <a:latin typeface="+mj-ea"/>
                <a:ea typeface="+mj-ea"/>
              </a:rPr>
              <a:t>SQL </a:t>
            </a:r>
            <a:r>
              <a:rPr lang="ko-KR" altLang="en-US" sz="1400" b="1" dirty="0">
                <a:latin typeface="+mj-ea"/>
                <a:ea typeface="+mj-ea"/>
              </a:rPr>
              <a:t>문을 작성하시오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5) </a:t>
            </a:r>
            <a:r>
              <a:rPr lang="ko-KR" altLang="en-US" sz="1400" dirty="0">
                <a:latin typeface="+mj-ea"/>
                <a:ea typeface="+mj-ea"/>
              </a:rPr>
              <a:t>박지성이 구매한 도서의 출판사 수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6) </a:t>
            </a:r>
            <a:r>
              <a:rPr lang="ko-KR" altLang="en-US" sz="1400" dirty="0">
                <a:latin typeface="+mj-ea"/>
                <a:ea typeface="+mj-ea"/>
              </a:rPr>
              <a:t>박지성이 구매한 도서의 이름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가격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정가와 판매가격의 차이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7) </a:t>
            </a:r>
            <a:r>
              <a:rPr lang="ko-KR" altLang="en-US" sz="1400" dirty="0">
                <a:latin typeface="+mj-ea"/>
                <a:ea typeface="+mj-ea"/>
              </a:rPr>
              <a:t>박지성이 구매하지 않은 도서의 </a:t>
            </a:r>
            <a:r>
              <a:rPr lang="ko-KR" altLang="en-US" sz="1400" dirty="0" smtClean="0">
                <a:latin typeface="+mj-ea"/>
                <a:ea typeface="+mj-ea"/>
              </a:rPr>
              <a:t>이름</a:t>
            </a:r>
            <a:endParaRPr lang="en-US" altLang="ko-KR" sz="1400" dirty="0" smtClean="0">
              <a:latin typeface="+mj-ea"/>
              <a:ea typeface="+mj-ea"/>
            </a:endParaRPr>
          </a:p>
          <a:p>
            <a:endParaRPr lang="en-US" altLang="ko-KR" sz="1400" dirty="0">
              <a:latin typeface="+mj-ea"/>
              <a:ea typeface="+mj-ea"/>
            </a:endParaRPr>
          </a:p>
          <a:p>
            <a:r>
              <a:rPr lang="en-US" altLang="ko-KR" sz="1400" b="1" smtClean="0">
                <a:latin typeface="+mj-ea"/>
              </a:rPr>
              <a:t>2. </a:t>
            </a:r>
            <a:r>
              <a:rPr lang="ko-KR" altLang="en-US" sz="1400" b="1" dirty="0">
                <a:latin typeface="+mj-ea"/>
              </a:rPr>
              <a:t>마당서점의 운영자와 경영자가 요구하는 다음 질문에 대해 </a:t>
            </a:r>
            <a:r>
              <a:rPr lang="en-US" altLang="ko-KR" sz="1400" b="1" dirty="0">
                <a:latin typeface="+mj-ea"/>
              </a:rPr>
              <a:t>SQL </a:t>
            </a:r>
            <a:r>
              <a:rPr lang="ko-KR" altLang="en-US" sz="1400" b="1" dirty="0">
                <a:latin typeface="+mj-ea"/>
              </a:rPr>
              <a:t>문을 작성하시오</a:t>
            </a:r>
            <a:r>
              <a:rPr lang="en-US" altLang="ko-KR" sz="1400" b="1" dirty="0">
                <a:latin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</a:rPr>
              <a:t>  </a:t>
            </a:r>
            <a:r>
              <a:rPr lang="en-US" altLang="ko-KR" sz="1400" dirty="0">
                <a:latin typeface="+mj-ea"/>
              </a:rPr>
              <a:t>(8) </a:t>
            </a:r>
            <a:r>
              <a:rPr lang="ko-KR" altLang="en-US" sz="1400" dirty="0">
                <a:latin typeface="+mj-ea"/>
              </a:rPr>
              <a:t>주문하지 않은 고객의 이름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조인 사용</a:t>
            </a:r>
            <a:r>
              <a:rPr lang="en-US" altLang="ko-KR" sz="1400" dirty="0">
                <a:latin typeface="+mj-ea"/>
              </a:rPr>
              <a:t>)</a:t>
            </a:r>
          </a:p>
          <a:p>
            <a:r>
              <a:rPr lang="en-US" altLang="ko-KR" sz="1400" dirty="0">
                <a:latin typeface="+mj-ea"/>
              </a:rPr>
              <a:t>  (9) </a:t>
            </a:r>
            <a:r>
              <a:rPr lang="ko-KR" altLang="en-US" sz="1400" dirty="0">
                <a:latin typeface="+mj-ea"/>
              </a:rPr>
              <a:t>주문 금액의 총액과 주문의 평균 금액</a:t>
            </a:r>
          </a:p>
          <a:p>
            <a:r>
              <a:rPr lang="en-US" altLang="ko-KR" sz="1400" dirty="0">
                <a:latin typeface="+mj-ea"/>
              </a:rPr>
              <a:t>  (10) </a:t>
            </a:r>
            <a:r>
              <a:rPr lang="ko-KR" altLang="en-US" sz="1400" dirty="0">
                <a:latin typeface="+mj-ea"/>
              </a:rPr>
              <a:t>고객의 이름과 고객별 구매액</a:t>
            </a:r>
          </a:p>
          <a:p>
            <a:r>
              <a:rPr lang="en-US" altLang="ko-KR" sz="1400" dirty="0">
                <a:latin typeface="+mj-ea"/>
              </a:rPr>
              <a:t>  (11) </a:t>
            </a:r>
            <a:r>
              <a:rPr lang="ko-KR" altLang="en-US" sz="1400" dirty="0">
                <a:latin typeface="+mj-ea"/>
              </a:rPr>
              <a:t>고객의 이름과 고객이 구매한 도서 목록</a:t>
            </a:r>
          </a:p>
          <a:p>
            <a:r>
              <a:rPr lang="en-US" altLang="ko-KR" sz="1400" dirty="0">
                <a:latin typeface="+mj-ea"/>
              </a:rPr>
              <a:t>  (12) </a:t>
            </a:r>
            <a:r>
              <a:rPr lang="ko-KR" altLang="en-US" sz="1400" dirty="0">
                <a:latin typeface="+mj-ea"/>
              </a:rPr>
              <a:t>도서의 가격</a:t>
            </a:r>
            <a:r>
              <a:rPr lang="en-US" altLang="ko-KR" sz="1400" dirty="0">
                <a:latin typeface="+mj-ea"/>
              </a:rPr>
              <a:t>(Book </a:t>
            </a:r>
            <a:r>
              <a:rPr lang="ko-KR" altLang="en-US" sz="1400" dirty="0">
                <a:latin typeface="+mj-ea"/>
              </a:rPr>
              <a:t>테이블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과 판매가격</a:t>
            </a:r>
            <a:r>
              <a:rPr lang="en-US" altLang="ko-KR" sz="1400" dirty="0">
                <a:latin typeface="+mj-ea"/>
              </a:rPr>
              <a:t>(Orders </a:t>
            </a:r>
            <a:r>
              <a:rPr lang="ko-KR" altLang="en-US" sz="1400" dirty="0">
                <a:latin typeface="+mj-ea"/>
              </a:rPr>
              <a:t>테이블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의 차이가 가장 많은 주문</a:t>
            </a:r>
          </a:p>
          <a:p>
            <a:r>
              <a:rPr lang="en-US" altLang="ko-KR" sz="1400" dirty="0">
                <a:latin typeface="+mj-ea"/>
              </a:rPr>
              <a:t>  (13) </a:t>
            </a:r>
            <a:r>
              <a:rPr lang="ko-KR" altLang="en-US" sz="1400" dirty="0">
                <a:latin typeface="+mj-ea"/>
              </a:rPr>
              <a:t>도서의 판매액 평균보다 자신의 구매액 평균이 더 높은 고객의 이름</a:t>
            </a:r>
          </a:p>
          <a:p>
            <a:endParaRPr lang="ko-KR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101437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04.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정의어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CREATE </a:t>
            </a:r>
            <a:r>
              <a:rPr lang="ko-KR" altLang="en-US" dirty="0" smtClean="0"/>
              <a:t>문</a:t>
            </a:r>
            <a:endParaRPr lang="en-US" altLang="ko-KR" dirty="0" smtClean="0"/>
          </a:p>
          <a:p>
            <a:r>
              <a:rPr lang="en-US" altLang="ko-KR" dirty="0" smtClean="0"/>
              <a:t>ALTER </a:t>
            </a:r>
            <a:r>
              <a:rPr lang="ko-KR" altLang="en-US" dirty="0" smtClean="0"/>
              <a:t>문</a:t>
            </a:r>
            <a:endParaRPr lang="en-US" altLang="ko-KR" dirty="0" smtClean="0"/>
          </a:p>
          <a:p>
            <a:r>
              <a:rPr lang="en-US" altLang="ko-KR" dirty="0" smtClean="0"/>
              <a:t>DROP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1802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CREATE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sz="1400" dirty="0" smtClean="0"/>
              <a:t>테이블을 구성하고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속성과 속성에 관한 제약을 정의하며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기본키</a:t>
            </a:r>
            <a:r>
              <a:rPr lang="ko-KR" altLang="en-US" sz="1400" dirty="0" smtClean="0"/>
              <a:t> 및 </a:t>
            </a:r>
            <a:r>
              <a:rPr lang="ko-KR" altLang="en-US" sz="1400" dirty="0" err="1" smtClean="0"/>
              <a:t>외래키를</a:t>
            </a:r>
            <a:r>
              <a:rPr lang="ko-KR" altLang="en-US" sz="1400" dirty="0" smtClean="0"/>
              <a:t> 정의하는 명령</a:t>
            </a:r>
            <a:endParaRPr lang="en-US" altLang="ko-KR" sz="1400" dirty="0" smtClean="0"/>
          </a:p>
          <a:p>
            <a:r>
              <a:rPr lang="en-US" altLang="ko-KR" sz="1400" dirty="0" smtClean="0"/>
              <a:t>PRIMARY KEY</a:t>
            </a:r>
            <a:r>
              <a:rPr lang="ko-KR" altLang="en-US" sz="1400" dirty="0" smtClean="0"/>
              <a:t>는 기본키를 정할 때 사용하고 </a:t>
            </a:r>
            <a:r>
              <a:rPr lang="en-US" altLang="ko-KR" sz="1400" dirty="0" smtClean="0"/>
              <a:t>FOREIGN KEY</a:t>
            </a:r>
            <a:r>
              <a:rPr lang="ko-KR" altLang="en-US" sz="1400" dirty="0" smtClean="0"/>
              <a:t>는 외래키를 지정할 때 사용하며</a:t>
            </a:r>
            <a:r>
              <a:rPr lang="en-US" altLang="ko-KR" sz="1400" dirty="0" smtClean="0"/>
              <a:t>, ON UPDATE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ON DELETE</a:t>
            </a:r>
            <a:r>
              <a:rPr lang="ko-KR" altLang="en-US" sz="1400" dirty="0" smtClean="0"/>
              <a:t>는 외래키 속성의 수정과 </a:t>
            </a:r>
            <a:r>
              <a:rPr lang="ko-KR" altLang="en-US" sz="1400" dirty="0" err="1" smtClean="0"/>
              <a:t>투플</a:t>
            </a:r>
            <a:r>
              <a:rPr lang="ko-KR" altLang="en-US" sz="1400" dirty="0" smtClean="0"/>
              <a:t> 삭제 시 동작을 나타냄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CREATE </a:t>
            </a:r>
            <a:r>
              <a:rPr lang="ko-KR" altLang="en-US" sz="1400" dirty="0" smtClean="0"/>
              <a:t>문의 기본 문법</a:t>
            </a:r>
            <a:endParaRPr lang="ko-KR" alt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941884" y="2852936"/>
            <a:ext cx="6756176" cy="26642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CREATE TABLE </a:t>
            </a:r>
            <a:r>
              <a:rPr lang="ko-KR" altLang="en-US" sz="1200" dirty="0" smtClean="0">
                <a:latin typeface="+mn-ea"/>
                <a:ea typeface="+mn-ea"/>
              </a:rPr>
              <a:t>테이블이름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( { </a:t>
            </a:r>
            <a:r>
              <a:rPr lang="ko-KR" altLang="en-US" sz="1200" dirty="0" smtClean="0">
                <a:latin typeface="+mn-ea"/>
                <a:ea typeface="+mn-ea"/>
              </a:rPr>
              <a:t>속성이름 데이터타입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    [NOT NULL | UNIQUE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| DEFAULT </a:t>
            </a:r>
            <a:r>
              <a:rPr lang="ko-KR" altLang="en-US" sz="1200" dirty="0" smtClean="0">
                <a:latin typeface="+mn-ea"/>
                <a:ea typeface="+mn-ea"/>
              </a:rPr>
              <a:t>기본값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| CHECK </a:t>
            </a:r>
            <a:r>
              <a:rPr lang="ko-KR" altLang="en-US" sz="1200" dirty="0" smtClean="0">
                <a:latin typeface="+mn-ea"/>
                <a:ea typeface="+mn-ea"/>
              </a:rPr>
              <a:t>체크조건</a:t>
            </a:r>
            <a:r>
              <a:rPr lang="en-US" altLang="ko-KR" sz="1200" dirty="0" smtClean="0">
                <a:latin typeface="+mn-ea"/>
                <a:ea typeface="+mn-ea"/>
              </a:rPr>
              <a:t>]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    [PRIMARY KEY </a:t>
            </a:r>
            <a:r>
              <a:rPr lang="ko-KR" altLang="en-US" sz="1200" dirty="0" smtClean="0">
                <a:latin typeface="+mn-ea"/>
                <a:ea typeface="+mn-ea"/>
              </a:rPr>
              <a:t>속성이름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들</a:t>
            </a:r>
            <a:r>
              <a:rPr lang="en-US" altLang="ko-KR" sz="1200" dirty="0" smtClean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    {[FOREIGN KEY </a:t>
            </a:r>
            <a:r>
              <a:rPr lang="ko-KR" altLang="en-US" sz="1200" dirty="0" smtClean="0">
                <a:latin typeface="+mn-ea"/>
                <a:ea typeface="+mn-ea"/>
              </a:rPr>
              <a:t>속성이름 </a:t>
            </a:r>
            <a:r>
              <a:rPr lang="en-US" altLang="ko-KR" sz="1200" dirty="0" smtClean="0">
                <a:latin typeface="+mn-ea"/>
                <a:ea typeface="+mn-ea"/>
              </a:rPr>
              <a:t>REFERENCES </a:t>
            </a:r>
            <a:r>
              <a:rPr lang="ko-KR" altLang="en-US" sz="1200" dirty="0" smtClean="0">
                <a:latin typeface="+mn-ea"/>
                <a:ea typeface="+mn-ea"/>
              </a:rPr>
              <a:t>테이블이름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속성이름</a:t>
            </a:r>
            <a:r>
              <a:rPr lang="en-US" altLang="ko-KR" sz="1200" dirty="0" smtClean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	 [ON DELETE [</a:t>
            </a:r>
            <a:r>
              <a:rPr lang="en-US" altLang="ko-KR" sz="1200" dirty="0">
                <a:latin typeface="+mn-ea"/>
                <a:ea typeface="+mn-ea"/>
              </a:rPr>
              <a:t>C</a:t>
            </a:r>
            <a:r>
              <a:rPr lang="en-US" altLang="ko-KR" sz="1200" dirty="0" smtClean="0">
                <a:latin typeface="+mn-ea"/>
                <a:ea typeface="+mn-ea"/>
              </a:rPr>
              <a:t>ASCADE┃SET NULL]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)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CREATE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5110853"/>
              </p:ext>
            </p:extLst>
          </p:nvPr>
        </p:nvGraphicFramePr>
        <p:xfrm>
          <a:off x="755576" y="1183960"/>
          <a:ext cx="7652617" cy="3181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1872911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3-34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다음과 같은 속성을 가진 </a:t>
                      </a:r>
                      <a:r>
                        <a:rPr lang="en-US" altLang="ko-KR" sz="14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NewBook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테이블을 생성하시오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정수형은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NUMBER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endParaRPr lang="en-US" altLang="ko-KR" sz="14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문자형은 </a:t>
                      </a:r>
                      <a:r>
                        <a:rPr lang="ko-KR" altLang="en-US" sz="14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가변형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문자 타입인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VARCHAR2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사용한다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NUMBER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bookname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도서이름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VARCHAR2(20)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publisher(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출판사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VARCHAR2(20)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price(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NUMBER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308233">
                <a:tc>
                  <a:txBody>
                    <a:bodyPr/>
                    <a:lstStyle/>
                    <a:p>
                      <a:r>
                        <a:rPr lang="en-US" altLang="ko-KR" sz="1400" b="0" dirty="0" smtClean="0"/>
                        <a:t>CREATE TABLE </a:t>
                      </a:r>
                      <a:r>
                        <a:rPr lang="en-US" altLang="ko-KR" sz="1400" b="0" dirty="0" err="1" smtClean="0"/>
                        <a:t>NewBook</a:t>
                      </a:r>
                      <a:r>
                        <a:rPr lang="en-US" altLang="ko-KR" sz="1400" b="0" dirty="0" smtClean="0"/>
                        <a:t> (</a:t>
                      </a:r>
                    </a:p>
                    <a:p>
                      <a:r>
                        <a:rPr lang="en-US" altLang="ko-KR" sz="1400" b="0" dirty="0" smtClean="0"/>
                        <a:t> </a:t>
                      </a:r>
                      <a:r>
                        <a:rPr lang="en-US" altLang="ko-KR" sz="1400" b="0" dirty="0" err="1" smtClean="0"/>
                        <a:t>bookid</a:t>
                      </a:r>
                      <a:r>
                        <a:rPr lang="en-US" altLang="ko-KR" sz="1400" b="0" dirty="0" smtClean="0"/>
                        <a:t> 	     NUMBER,</a:t>
                      </a:r>
                    </a:p>
                    <a:p>
                      <a:r>
                        <a:rPr lang="en-US" altLang="ko-KR" sz="1400" b="0" dirty="0" smtClean="0"/>
                        <a:t> </a:t>
                      </a:r>
                      <a:r>
                        <a:rPr lang="en-US" altLang="ko-KR" sz="1400" b="0" dirty="0" err="1" smtClean="0"/>
                        <a:t>bookname</a:t>
                      </a:r>
                      <a:r>
                        <a:rPr lang="en-US" altLang="ko-KR" sz="1400" b="0" dirty="0" smtClean="0"/>
                        <a:t>     VARCHAR2(20),</a:t>
                      </a:r>
                    </a:p>
                    <a:p>
                      <a:r>
                        <a:rPr lang="en-US" altLang="ko-KR" sz="1400" b="0" dirty="0" smtClean="0"/>
                        <a:t> publisher 	     VARCHAR2(20),</a:t>
                      </a:r>
                    </a:p>
                    <a:p>
                      <a:r>
                        <a:rPr lang="en-US" altLang="ko-KR" sz="1400" b="0" dirty="0" smtClean="0"/>
                        <a:t> price 	     NUMBER);</a:t>
                      </a:r>
                      <a:endParaRPr lang="ko-KR" altLang="en-US" sz="1400" b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187624" y="5003651"/>
            <a:ext cx="5112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CREATE TABLE </a:t>
            </a:r>
            <a:r>
              <a:rPr lang="en-US" altLang="ko-KR" sz="1200" dirty="0" err="1" smtClean="0"/>
              <a:t>NewBook</a:t>
            </a:r>
            <a:r>
              <a:rPr lang="en-US" altLang="ko-KR" sz="1200" dirty="0" smtClean="0"/>
              <a:t> (</a:t>
            </a:r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bookid</a:t>
            </a:r>
            <a:r>
              <a:rPr lang="en-US" altLang="ko-KR" sz="1200" dirty="0" smtClean="0"/>
              <a:t> 	  NUMBER,</a:t>
            </a:r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bookname</a:t>
            </a:r>
            <a:r>
              <a:rPr lang="en-US" altLang="ko-KR" sz="1200" dirty="0" smtClean="0"/>
              <a:t>	  VARCHAR2(20),</a:t>
            </a:r>
          </a:p>
          <a:p>
            <a:r>
              <a:rPr lang="en-US" altLang="ko-KR" sz="1200" dirty="0" smtClean="0"/>
              <a:t> publisher 	  VARCHAR2(20),</a:t>
            </a:r>
          </a:p>
          <a:p>
            <a:r>
              <a:rPr lang="en-US" altLang="ko-KR" sz="1200" dirty="0" smtClean="0"/>
              <a:t> price 	  NUMBER,   </a:t>
            </a:r>
          </a:p>
          <a:p>
            <a:r>
              <a:rPr lang="en-US" altLang="ko-KR" sz="1200" b="1" dirty="0"/>
              <a:t> </a:t>
            </a:r>
            <a:r>
              <a:rPr lang="en-US" altLang="ko-KR" sz="1200" b="1" dirty="0" smtClean="0"/>
              <a:t>PRIMARY KEY (</a:t>
            </a:r>
            <a:r>
              <a:rPr lang="en-US" altLang="ko-KR" sz="1200" b="1" dirty="0" err="1" smtClean="0"/>
              <a:t>bookid</a:t>
            </a:r>
            <a:r>
              <a:rPr lang="en-US" altLang="ko-KR" sz="1200" b="1" dirty="0" smtClean="0"/>
              <a:t>));</a:t>
            </a:r>
            <a:endParaRPr lang="ko-KR" altLang="en-US" sz="1200" dirty="0"/>
          </a:p>
        </p:txBody>
      </p:sp>
      <p:sp>
        <p:nvSpPr>
          <p:cNvPr id="8" name="직사각형 7"/>
          <p:cNvSpPr/>
          <p:nvPr/>
        </p:nvSpPr>
        <p:spPr>
          <a:xfrm>
            <a:off x="4076606" y="541914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=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5076056" y="4986106"/>
            <a:ext cx="33843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CREATE TABLE </a:t>
            </a:r>
            <a:r>
              <a:rPr lang="en-US" altLang="ko-KR" sz="1200" dirty="0" err="1" smtClean="0"/>
              <a:t>NewBook</a:t>
            </a:r>
            <a:r>
              <a:rPr lang="en-US" altLang="ko-KR" sz="1200" dirty="0" smtClean="0"/>
              <a:t> (</a:t>
            </a:r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bookid</a:t>
            </a:r>
            <a:r>
              <a:rPr lang="en-US" altLang="ko-KR" sz="1200" dirty="0" smtClean="0"/>
              <a:t> 	 NUMBER 	</a:t>
            </a:r>
            <a:r>
              <a:rPr lang="en-US" altLang="ko-KR" sz="1200" b="1" dirty="0" smtClean="0"/>
              <a:t>PRIMARY KEY,</a:t>
            </a:r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bookname</a:t>
            </a:r>
            <a:r>
              <a:rPr lang="en-US" altLang="ko-KR" sz="1200" dirty="0" smtClean="0"/>
              <a:t>    VARCHAR2(20),</a:t>
            </a:r>
          </a:p>
          <a:p>
            <a:r>
              <a:rPr lang="en-US" altLang="ko-KR" sz="1200" dirty="0" smtClean="0"/>
              <a:t> publisher 	  VARCHAR2(20),</a:t>
            </a:r>
          </a:p>
          <a:p>
            <a:r>
              <a:rPr lang="en-US" altLang="ko-KR" sz="1200" dirty="0" smtClean="0"/>
              <a:t> price 	  NUMBER);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28936" y="4546451"/>
            <a:ext cx="4752528" cy="457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※ </a:t>
            </a:r>
            <a:r>
              <a:rPr lang="ko-KR" altLang="en-US" sz="1400" b="1" dirty="0" err="1">
                <a:latin typeface="+mj-ea"/>
                <a:ea typeface="+mj-ea"/>
              </a:rPr>
              <a:t>기본키를</a:t>
            </a:r>
            <a:r>
              <a:rPr lang="ko-KR" altLang="en-US" sz="1400" b="1" dirty="0">
                <a:latin typeface="+mj-ea"/>
                <a:ea typeface="+mj-ea"/>
              </a:rPr>
              <a:t> 지정하고 싶다면 다음과 같이 </a:t>
            </a:r>
            <a:r>
              <a:rPr lang="ko-KR" altLang="en-US" sz="1400" b="1" dirty="0" smtClean="0">
                <a:latin typeface="+mj-ea"/>
                <a:ea typeface="+mj-ea"/>
              </a:rPr>
              <a:t>생성</a:t>
            </a:r>
            <a:endParaRPr lang="ko-KR" altLang="en-US" sz="1400" b="1" dirty="0">
              <a:latin typeface="+mj-ea"/>
              <a:ea typeface="+mj-ea"/>
            </a:endParaRPr>
          </a:p>
          <a:p>
            <a:endParaRPr lang="ko-KR" altLang="en-US" sz="1400" b="1" dirty="0" smtClean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CREATE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39552" y="1196752"/>
            <a:ext cx="8064896" cy="54006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400" dirty="0" smtClean="0"/>
              <a:t>※ </a:t>
            </a:r>
            <a:r>
              <a:rPr lang="en-US" altLang="ko-KR" sz="1400" dirty="0" err="1" smtClean="0"/>
              <a:t>bookid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속성이 없어서 두 개의 속성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publisher</a:t>
            </a:r>
            <a:r>
              <a:rPr lang="ko-KR" altLang="en-US" sz="1400" dirty="0" smtClean="0"/>
              <a:t>가 </a:t>
            </a:r>
            <a:r>
              <a:rPr lang="ko-KR" altLang="en-US" sz="1400" dirty="0" err="1" smtClean="0"/>
              <a:t>기본키가</a:t>
            </a:r>
            <a:r>
              <a:rPr lang="ko-KR" altLang="en-US" sz="1400" dirty="0" smtClean="0"/>
              <a:t> 되면 괄호로 </a:t>
            </a:r>
            <a:r>
              <a:rPr lang="ko-KR" altLang="en-US" sz="1400" dirty="0" err="1" smtClean="0"/>
              <a:t>복합키</a:t>
            </a:r>
            <a:r>
              <a:rPr lang="ko-KR" altLang="en-US" sz="1400" dirty="0" smtClean="0"/>
              <a:t> 지정</a:t>
            </a:r>
            <a:endParaRPr lang="en-US" altLang="ko-KR" sz="1400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/>
              <a:t> </a:t>
            </a:r>
            <a:r>
              <a:rPr lang="en-US" altLang="ko-KR" sz="1400" dirty="0" smtClean="0"/>
              <a:t>※ </a:t>
            </a:r>
            <a:r>
              <a:rPr lang="en-US" altLang="ko-KR" sz="1400" dirty="0" err="1" smtClean="0"/>
              <a:t>NewBook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테이블의 </a:t>
            </a:r>
            <a:r>
              <a:rPr lang="en-US" altLang="ko-KR" sz="1400" dirty="0" smtClean="0"/>
              <a:t>CREATE </a:t>
            </a:r>
            <a:r>
              <a:rPr lang="ko-KR" altLang="en-US" sz="1400" dirty="0" smtClean="0"/>
              <a:t>문에 좀 더 복잡한 제약사항을 추가한다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755576" y="161137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 smtClean="0"/>
              <a:t>CREATE TABLE </a:t>
            </a:r>
            <a:r>
              <a:rPr lang="en-US" altLang="ko-KR" sz="1400" dirty="0" err="1" smtClean="0"/>
              <a:t>NewBook</a:t>
            </a:r>
            <a:r>
              <a:rPr lang="en-US" altLang="ko-KR" sz="1400" dirty="0" smtClean="0"/>
              <a:t> (</a:t>
            </a:r>
          </a:p>
          <a:p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     VARCHAR2(20),</a:t>
            </a:r>
          </a:p>
          <a:p>
            <a:r>
              <a:rPr lang="en-US" altLang="ko-KR" sz="1400" dirty="0" smtClean="0"/>
              <a:t> publisher 	     VARCHAR2(20),</a:t>
            </a:r>
          </a:p>
          <a:p>
            <a:r>
              <a:rPr lang="en-US" altLang="ko-KR" sz="1400" dirty="0" smtClean="0"/>
              <a:t> price 	     NUMBER,</a:t>
            </a:r>
          </a:p>
          <a:p>
            <a:r>
              <a:rPr lang="en-US" altLang="ko-KR" sz="1400" b="1" dirty="0" smtClean="0"/>
              <a:t> PRIMARY KEY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publisher));</a:t>
            </a:r>
            <a:endParaRPr lang="ko-KR" altLang="en-US" sz="14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46947" y="3356992"/>
            <a:ext cx="7488832" cy="648072"/>
          </a:xfrm>
          <a:prstGeom prst="roundRect">
            <a:avLst>
              <a:gd name="adj" fmla="val 931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100"/>
              </a:lnSpc>
            </a:pPr>
            <a:r>
              <a:rPr lang="en-US" altLang="ko-KR" sz="1200" dirty="0" err="1" smtClean="0">
                <a:solidFill>
                  <a:schemeClr val="tx1"/>
                </a:solidFill>
                <a:latin typeface="+mn-ea"/>
              </a:rPr>
              <a:t>bookname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NULL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값을 가질 수 없고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publisher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는 같은 값이 있으면 안 된다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 price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에 값이 입력되지 않을 경우 기본 값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10000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을 저장한다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또 가격은 최소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1,000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원 이상으로 한다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87179" y="4737561"/>
            <a:ext cx="676875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CREATE TABLE </a:t>
            </a:r>
            <a:r>
              <a:rPr lang="en-US" altLang="ko-KR" sz="1400" dirty="0" err="1" smtClean="0"/>
              <a:t>NewBook</a:t>
            </a:r>
            <a:r>
              <a:rPr lang="en-US" altLang="ko-KR" sz="1400" dirty="0" smtClean="0"/>
              <a:t> (</a:t>
            </a:r>
          </a:p>
          <a:p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     VARCHAR(20) 	</a:t>
            </a:r>
            <a:r>
              <a:rPr lang="en-US" altLang="ko-KR" sz="1400" b="1" dirty="0" smtClean="0"/>
              <a:t>NOT NULL,</a:t>
            </a:r>
          </a:p>
          <a:p>
            <a:r>
              <a:rPr lang="en-US" altLang="ko-KR" sz="1400" dirty="0" smtClean="0"/>
              <a:t> publisher 	     VARCHAR(20) 	</a:t>
            </a:r>
            <a:r>
              <a:rPr lang="en-US" altLang="ko-KR" sz="1400" b="1" dirty="0" smtClean="0"/>
              <a:t>UNIQUE,</a:t>
            </a:r>
          </a:p>
          <a:p>
            <a:r>
              <a:rPr lang="en-US" altLang="ko-KR" sz="1400" dirty="0" smtClean="0"/>
              <a:t> price 	     NUMBER </a:t>
            </a:r>
            <a:r>
              <a:rPr lang="en-US" altLang="ko-KR" sz="1400" b="1" dirty="0" smtClean="0"/>
              <a:t>DEFAULT 10000 </a:t>
            </a:r>
            <a:r>
              <a:rPr lang="en-US" altLang="ko-KR" sz="1400" dirty="0" smtClean="0"/>
              <a:t>CHECK(price &gt; 1000),</a:t>
            </a:r>
          </a:p>
          <a:p>
            <a:r>
              <a:rPr lang="en-US" altLang="ko-KR" sz="1400" dirty="0" smtClean="0"/>
              <a:t> PRIMARY KEY (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publisher));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CREATE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39552" y="1196752"/>
            <a:ext cx="8064896" cy="5400600"/>
          </a:xfrm>
          <a:prstGeom prst="rect">
            <a:avLst/>
          </a:prstGeo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2243519"/>
              </p:ext>
            </p:extLst>
          </p:nvPr>
        </p:nvGraphicFramePr>
        <p:xfrm>
          <a:off x="735807" y="1268760"/>
          <a:ext cx="7652617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3-35  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같은 속성을 가진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NUMBER,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name(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VARCHAR2(40)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address(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VARCHAR2(40)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phone(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전화번호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VARCHAR2(30)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 smtClean="0"/>
                    </a:p>
                    <a:p>
                      <a:r>
                        <a:rPr lang="en-US" altLang="ko-KR" sz="1400" dirty="0" smtClean="0"/>
                        <a:t>CREATE TABLE </a:t>
                      </a:r>
                      <a:r>
                        <a:rPr lang="en-US" altLang="ko-KR" sz="1400" dirty="0" err="1" smtClean="0"/>
                        <a:t>NewCustomer</a:t>
                      </a:r>
                      <a:r>
                        <a:rPr lang="en-US" altLang="ko-KR" sz="1400" dirty="0" smtClean="0"/>
                        <a:t> (</a:t>
                      </a:r>
                    </a:p>
                    <a:p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custid</a:t>
                      </a:r>
                      <a:r>
                        <a:rPr lang="en-US" altLang="ko-KR" sz="1400" dirty="0" smtClean="0"/>
                        <a:t> 	     NUMBER  PRIMARY KEY,</a:t>
                      </a:r>
                    </a:p>
                    <a:p>
                      <a:r>
                        <a:rPr lang="en-US" altLang="ko-KR" sz="1400" dirty="0" smtClean="0"/>
                        <a:t> name 	     VARCHAR2(40),</a:t>
                      </a:r>
                    </a:p>
                    <a:p>
                      <a:r>
                        <a:rPr lang="en-US" altLang="ko-KR" sz="1400" dirty="0" smtClean="0"/>
                        <a:t> address 	     VARCHAR2(40),</a:t>
                      </a:r>
                    </a:p>
                    <a:p>
                      <a:r>
                        <a:rPr lang="en-US" altLang="ko-KR" sz="1400" dirty="0" smtClean="0"/>
                        <a:t> phone 	     VARCHAR2(30)</a:t>
                      </a:r>
                    </a:p>
                    <a:p>
                      <a:r>
                        <a:rPr lang="en-US" altLang="ko-KR" sz="1400" dirty="0" smtClean="0"/>
                        <a:t>);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CREATE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39552" y="1196752"/>
            <a:ext cx="8064896" cy="5400600"/>
          </a:xfrm>
          <a:prstGeom prst="rect">
            <a:avLst/>
          </a:prstGeo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2667424"/>
              </p:ext>
            </p:extLst>
          </p:nvPr>
        </p:nvGraphicFramePr>
        <p:xfrm>
          <a:off x="735807" y="1268760"/>
          <a:ext cx="7652617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3-36  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같은 속성을 가진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주문번호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NUMBER,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NUMBER, NOT NULL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외래키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NewCustomer.custid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연쇄삭제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NUMBER, NOT NULL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판매가격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NUMBER 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orderdate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판매일자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 smtClean="0"/>
                    </a:p>
                    <a:p>
                      <a:r>
                        <a:rPr lang="en-US" altLang="ko-KR" sz="1400" dirty="0" smtClean="0"/>
                        <a:t>CREATE TABLE </a:t>
                      </a:r>
                      <a:r>
                        <a:rPr lang="en-US" altLang="ko-KR" sz="1400" dirty="0" err="1" smtClean="0"/>
                        <a:t>NewOrders</a:t>
                      </a:r>
                      <a:r>
                        <a:rPr lang="en-US" altLang="ko-KR" sz="1400" dirty="0" smtClean="0"/>
                        <a:t> (</a:t>
                      </a:r>
                    </a:p>
                    <a:p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orderid</a:t>
                      </a:r>
                      <a:r>
                        <a:rPr lang="en-US" altLang="ko-KR" sz="1400" dirty="0" smtClean="0"/>
                        <a:t> 	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altLang="ko-KR" sz="1400" dirty="0" smtClean="0"/>
                        <a:t>,</a:t>
                      </a:r>
                    </a:p>
                    <a:p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custid</a:t>
                      </a:r>
                      <a:r>
                        <a:rPr lang="en-US" altLang="ko-KR" sz="1400" dirty="0" smtClean="0"/>
                        <a:t> 	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altLang="ko-KR" sz="1400" dirty="0" smtClean="0"/>
                        <a:t> 	NOT NULL,</a:t>
                      </a:r>
                    </a:p>
                    <a:p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bookid</a:t>
                      </a:r>
                      <a:r>
                        <a:rPr lang="en-US" altLang="ko-KR" sz="1400" dirty="0" smtClean="0"/>
                        <a:t> 	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altLang="ko-KR" sz="1400" dirty="0" smtClean="0"/>
                        <a:t> 	NOT NULL,</a:t>
                      </a:r>
                    </a:p>
                    <a:p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saleprice</a:t>
                      </a:r>
                      <a:r>
                        <a:rPr lang="en-US" altLang="ko-KR" sz="1400" dirty="0" smtClean="0"/>
                        <a:t> 	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altLang="ko-KR" sz="1400" dirty="0" smtClean="0"/>
                        <a:t>,</a:t>
                      </a:r>
                    </a:p>
                    <a:p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orderdate</a:t>
                      </a:r>
                      <a:r>
                        <a:rPr lang="en-US" altLang="ko-KR" sz="1400" dirty="0" smtClean="0"/>
                        <a:t> 	DATE,</a:t>
                      </a:r>
                    </a:p>
                    <a:p>
                      <a:r>
                        <a:rPr lang="en-US" altLang="ko-KR" sz="1400" dirty="0" smtClean="0"/>
                        <a:t> PRIMARY KEY (</a:t>
                      </a:r>
                      <a:r>
                        <a:rPr lang="en-US" altLang="ko-KR" sz="1400" dirty="0" err="1" smtClean="0"/>
                        <a:t>orderid</a:t>
                      </a:r>
                      <a:r>
                        <a:rPr lang="en-US" altLang="ko-KR" sz="1400" dirty="0" smtClean="0"/>
                        <a:t>),</a:t>
                      </a:r>
                    </a:p>
                    <a:p>
                      <a:r>
                        <a:rPr lang="en-US" altLang="ko-KR" sz="1400" b="1" dirty="0" smtClean="0"/>
                        <a:t> FOREIGN KEY </a:t>
                      </a:r>
                      <a:r>
                        <a:rPr lang="en-US" altLang="ko-KR" sz="1400" b="0" dirty="0" smtClean="0"/>
                        <a:t>(</a:t>
                      </a:r>
                      <a:r>
                        <a:rPr lang="en-US" altLang="ko-KR" sz="1400" b="0" dirty="0" err="1" smtClean="0"/>
                        <a:t>custid</a:t>
                      </a:r>
                      <a:r>
                        <a:rPr lang="en-US" altLang="ko-KR" sz="1400" b="0" dirty="0" smtClean="0"/>
                        <a:t>) REFERENCES </a:t>
                      </a:r>
                      <a:r>
                        <a:rPr lang="en-US" altLang="ko-KR" sz="1400" b="0" dirty="0" err="1" smtClean="0"/>
                        <a:t>NewCustomer</a:t>
                      </a:r>
                      <a:r>
                        <a:rPr lang="en-US" altLang="ko-KR" sz="1400" b="0" dirty="0" smtClean="0"/>
                        <a:t>(</a:t>
                      </a:r>
                      <a:r>
                        <a:rPr lang="en-US" altLang="ko-KR" sz="1400" b="0" dirty="0" err="1" smtClean="0"/>
                        <a:t>custid</a:t>
                      </a:r>
                      <a:r>
                        <a:rPr lang="en-US" altLang="ko-KR" sz="1400" b="0" dirty="0" smtClean="0"/>
                        <a:t>) ON DELETE CASCADE);</a:t>
                      </a:r>
                      <a:endParaRPr lang="ko-KR" altLang="en-US" sz="1400" b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CREATE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 err="1" smtClean="0"/>
              <a:t>외래키</a:t>
            </a:r>
            <a:r>
              <a:rPr lang="ko-KR" altLang="en-US" dirty="0" smtClean="0"/>
              <a:t> 제약조건을 명시할 때는 반드시 참조되는 테이블</a:t>
            </a:r>
            <a:r>
              <a:rPr lang="en-US" altLang="ko-KR" dirty="0" smtClean="0"/>
              <a:t>(</a:t>
            </a:r>
            <a:r>
              <a:rPr lang="ko-KR" altLang="en-US" dirty="0" smtClean="0"/>
              <a:t>부모 </a:t>
            </a:r>
            <a:r>
              <a:rPr lang="ko-KR" altLang="en-US" dirty="0" err="1" smtClean="0"/>
              <a:t>릴레이션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존재해야 하며 참조되는 테이블의 </a:t>
            </a:r>
            <a:r>
              <a:rPr lang="ko-KR" altLang="en-US" dirty="0" err="1" smtClean="0"/>
              <a:t>기본키여야</a:t>
            </a:r>
            <a:r>
              <a:rPr lang="ko-KR" altLang="en-US" dirty="0" smtClean="0"/>
              <a:t> 함</a:t>
            </a:r>
            <a:endParaRPr lang="en-US" altLang="ko-KR" dirty="0" smtClean="0"/>
          </a:p>
          <a:p>
            <a:pPr lvl="0"/>
            <a:r>
              <a:rPr lang="ko-KR" altLang="en-US" dirty="0" err="1" smtClean="0"/>
              <a:t>외래키</a:t>
            </a:r>
            <a:r>
              <a:rPr lang="ko-KR" altLang="en-US" dirty="0" smtClean="0"/>
              <a:t> 지정 시 </a:t>
            </a:r>
            <a:r>
              <a:rPr lang="en-US" altLang="ko-KR" dirty="0" smtClean="0"/>
              <a:t>ON DELETE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ON UPDATE </a:t>
            </a:r>
            <a:r>
              <a:rPr lang="ko-KR" altLang="en-US" dirty="0" smtClean="0"/>
              <a:t>옵션은 참조되는 테이블의 </a:t>
            </a:r>
            <a:r>
              <a:rPr lang="ko-KR" altLang="en-US" dirty="0" err="1"/>
              <a:t>투</a:t>
            </a:r>
            <a:r>
              <a:rPr lang="ko-KR" altLang="en-US" dirty="0" err="1" smtClean="0"/>
              <a:t>플이</a:t>
            </a:r>
            <a:r>
              <a:rPr lang="ko-KR" altLang="en-US" dirty="0" smtClean="0"/>
              <a:t> 삭제되거나 수정될 때 취할 수 있는 동작을 지정함</a:t>
            </a:r>
            <a:endParaRPr lang="en-US" altLang="ko-KR" dirty="0" smtClean="0"/>
          </a:p>
          <a:p>
            <a:pPr lvl="0"/>
            <a:r>
              <a:rPr lang="en-US" altLang="ko-KR" dirty="0" smtClean="0"/>
              <a:t>NO ACTION</a:t>
            </a:r>
            <a:r>
              <a:rPr lang="ko-KR" altLang="en-US" dirty="0" smtClean="0"/>
              <a:t>은 어떠한 동작도 취하지 않음</a:t>
            </a:r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533367"/>
              </p:ext>
            </p:extLst>
          </p:nvPr>
        </p:nvGraphicFramePr>
        <p:xfrm>
          <a:off x="943024" y="3501008"/>
          <a:ext cx="7373392" cy="2285260"/>
        </p:xfrm>
        <a:graphic>
          <a:graphicData uri="http://schemas.openxmlformats.org/drawingml/2006/table">
            <a:tbl>
              <a:tblPr/>
              <a:tblGrid>
                <a:gridCol w="1684760"/>
                <a:gridCol w="3398067"/>
                <a:gridCol w="2290565"/>
              </a:tblGrid>
              <a:tr h="3863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타입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비슷한 타입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4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NUMBER(p, s)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실수형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 정수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자리 소수 부분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생략하여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라고 쓰면 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NUMBER(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8, 2)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저장됨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DECIMAL(p, s)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NUMBER[(</a:t>
                      </a:r>
                      <a:r>
                        <a:rPr lang="en-US" sz="12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p,s</a:t>
                      </a:r>
                      <a:r>
                        <a:rPr 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)]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INTEGER, INT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SMALLINT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5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CHAR(n)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문자형 고정길이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문자를 저장하고 남은 공간은 공백으로 채움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CHARACTER(n)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CHAR(n)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VARCHAR2(n)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문자형 가변길이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4000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바이트까지 저장됨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CHARACTER(n) VARYING(n)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CHAR(n) VARYING(n)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2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DATE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날짜형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날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시간을 지정함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314096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3-9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속성의 데이터 타입 종류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ALTER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ALTER </a:t>
            </a:r>
            <a:r>
              <a:rPr lang="ko-KR" altLang="en-US" dirty="0" smtClean="0"/>
              <a:t>문은 생성된 테이블의 속성과 속성에 관한 제약을 변경하며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기본키</a:t>
            </a:r>
            <a:r>
              <a:rPr lang="ko-KR" altLang="en-US" dirty="0" smtClean="0"/>
              <a:t> 및 </a:t>
            </a:r>
            <a:r>
              <a:rPr lang="ko-KR" altLang="en-US" dirty="0" err="1" smtClean="0"/>
              <a:t>외래키를</a:t>
            </a:r>
            <a:r>
              <a:rPr lang="ko-KR" altLang="en-US" dirty="0" smtClean="0"/>
              <a:t> 변경함</a:t>
            </a:r>
            <a:endParaRPr lang="en-US" altLang="ko-KR" dirty="0" smtClean="0"/>
          </a:p>
          <a:p>
            <a:r>
              <a:rPr lang="en-US" altLang="ko-KR" dirty="0" smtClean="0"/>
              <a:t>ADD, DROP</a:t>
            </a:r>
            <a:r>
              <a:rPr lang="ko-KR" altLang="en-US" dirty="0" smtClean="0"/>
              <a:t>은 속성을 추가하거나 제거할 때 사용함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MODIFY</a:t>
            </a:r>
            <a:r>
              <a:rPr lang="ko-KR" altLang="en-US" dirty="0" smtClean="0"/>
              <a:t>는 속성의 기본값을 설정하거나 삭제할 때 사용함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ADD &lt;</a:t>
            </a:r>
            <a:r>
              <a:rPr lang="ko-KR" altLang="en-US" dirty="0" smtClean="0"/>
              <a:t>제약이름</a:t>
            </a:r>
            <a:r>
              <a:rPr lang="en-US" altLang="ko-KR" dirty="0" smtClean="0"/>
              <a:t>&gt;, DROP &lt;</a:t>
            </a:r>
            <a:r>
              <a:rPr lang="ko-KR" altLang="en-US" dirty="0" smtClean="0"/>
              <a:t>제약이름</a:t>
            </a:r>
            <a:r>
              <a:rPr lang="en-US" altLang="ko-KR" dirty="0" smtClean="0"/>
              <a:t>&gt;</a:t>
            </a:r>
            <a:r>
              <a:rPr lang="ko-KR" altLang="en-US" dirty="0" smtClean="0"/>
              <a:t>은 제약사항을 추가하거나 삭제할 때 사용함</a:t>
            </a:r>
            <a:endParaRPr lang="en-US" altLang="ko-KR" dirty="0" smtClean="0"/>
          </a:p>
          <a:p>
            <a:r>
              <a:rPr lang="en-US" altLang="ko-KR" dirty="0" smtClean="0"/>
              <a:t>ALTER </a:t>
            </a:r>
            <a:r>
              <a:rPr lang="ko-KR" altLang="en-US" dirty="0" smtClean="0"/>
              <a:t>문의 기본 문법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6144" y="3573016"/>
            <a:ext cx="6756176" cy="20162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 smtClean="0"/>
              <a:t>ALTER TABLE </a:t>
            </a:r>
            <a:r>
              <a:rPr lang="ko-KR" altLang="en-US" sz="1200" dirty="0" smtClean="0"/>
              <a:t>테이블이름</a:t>
            </a:r>
          </a:p>
          <a:p>
            <a:pPr marL="447675">
              <a:lnSpc>
                <a:spcPct val="140000"/>
              </a:lnSpc>
            </a:pPr>
            <a:r>
              <a:rPr lang="en-US" altLang="ko-KR" sz="1200" dirty="0" smtClean="0"/>
              <a:t>[ADD </a:t>
            </a:r>
            <a:r>
              <a:rPr lang="ko-KR" altLang="en-US" sz="1200" dirty="0" smtClean="0"/>
              <a:t>속성이름 데이터타입</a:t>
            </a:r>
            <a:r>
              <a:rPr lang="en-US" altLang="ko-KR" sz="1200" dirty="0" smtClean="0"/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 smtClean="0"/>
              <a:t>	[DROP COLUMN </a:t>
            </a:r>
            <a:r>
              <a:rPr lang="ko-KR" altLang="en-US" sz="1200" dirty="0" smtClean="0"/>
              <a:t>속성이름</a:t>
            </a:r>
            <a:r>
              <a:rPr lang="en-US" altLang="ko-KR" sz="1200" dirty="0" smtClean="0"/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 smtClean="0"/>
              <a:t>	[MODIFY </a:t>
            </a:r>
            <a:r>
              <a:rPr lang="ko-KR" altLang="en-US" sz="1200" dirty="0" smtClean="0"/>
              <a:t>속성이름 데이터타입</a:t>
            </a:r>
            <a:r>
              <a:rPr lang="en-US" altLang="ko-KR" sz="1200" dirty="0" smtClean="0"/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 smtClean="0"/>
              <a:t>	[MODIFY </a:t>
            </a:r>
            <a:r>
              <a:rPr lang="ko-KR" altLang="en-US" sz="1200" dirty="0" smtClean="0"/>
              <a:t>속성이름 </a:t>
            </a:r>
            <a:r>
              <a:rPr lang="en-US" altLang="ko-KR" sz="1200" dirty="0" smtClean="0"/>
              <a:t>[NULL┃NOT NULL]]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 smtClean="0"/>
              <a:t>	[ADD PRIMARY KEY(</a:t>
            </a:r>
            <a:r>
              <a:rPr lang="ko-KR" altLang="en-US" sz="1200" dirty="0" smtClean="0"/>
              <a:t>속성이름</a:t>
            </a:r>
            <a:r>
              <a:rPr lang="en-US" altLang="ko-KR" sz="1200" dirty="0" smtClean="0"/>
              <a:t>)]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 smtClean="0"/>
              <a:t>	[[ADD┃DROP] </a:t>
            </a:r>
            <a:r>
              <a:rPr lang="ko-KR" altLang="en-US" sz="1200" dirty="0" smtClean="0"/>
              <a:t>제약이름</a:t>
            </a:r>
            <a:r>
              <a:rPr lang="en-US" altLang="ko-KR" sz="1200" dirty="0" smtClean="0"/>
              <a:t>]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ALTER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2287656"/>
              </p:ext>
            </p:extLst>
          </p:nvPr>
        </p:nvGraphicFramePr>
        <p:xfrm>
          <a:off x="735807" y="126876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3-37  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VARCHAR2(13)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자료형을 가진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추가하시오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ALTER TABLE </a:t>
                      </a:r>
                      <a:r>
                        <a:rPr lang="en-US" altLang="ko-KR" sz="1400" dirty="0" err="1" smtClean="0"/>
                        <a:t>NewBook</a:t>
                      </a:r>
                      <a:r>
                        <a:rPr lang="en-US" altLang="ko-KR" sz="1400" dirty="0" smtClean="0"/>
                        <a:t> ADD </a:t>
                      </a:r>
                      <a:r>
                        <a:rPr lang="en-US" altLang="ko-KR" sz="1400" dirty="0" err="1" smtClean="0"/>
                        <a:t>isbn</a:t>
                      </a:r>
                      <a:r>
                        <a:rPr lang="en-US" altLang="ko-KR" sz="1400" dirty="0" smtClean="0"/>
                        <a:t> VARCHAR2(13);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3619324"/>
              </p:ext>
            </p:extLst>
          </p:nvPr>
        </p:nvGraphicFramePr>
        <p:xfrm>
          <a:off x="735807" y="234888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3-38  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속성의 데이터 타입을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형으로 변경하시오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ALTER TABLE </a:t>
                      </a:r>
                      <a:r>
                        <a:rPr lang="en-US" altLang="ko-KR" sz="1400" dirty="0" err="1" smtClean="0"/>
                        <a:t>NewBook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b="1" dirty="0" smtClean="0"/>
                        <a:t>MODIFY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isbn</a:t>
                      </a:r>
                      <a:r>
                        <a:rPr lang="en-US" altLang="ko-KR" sz="1400" dirty="0" smtClean="0"/>
                        <a:t> NUMBER;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1308955"/>
              </p:ext>
            </p:extLst>
          </p:nvPr>
        </p:nvGraphicFramePr>
        <p:xfrm>
          <a:off x="735807" y="342900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3-39  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삭제하시오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ALTER TABLE </a:t>
                      </a:r>
                      <a:r>
                        <a:rPr lang="en-US" altLang="ko-KR" sz="1400" dirty="0" err="1" smtClean="0"/>
                        <a:t>NewBook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b="1" dirty="0" smtClean="0"/>
                        <a:t>DROP COLUMN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dirty="0" err="1" smtClean="0"/>
                        <a:t>isbn</a:t>
                      </a:r>
                      <a:r>
                        <a:rPr lang="en-US" altLang="ko-KR" sz="1400" dirty="0" smtClean="0"/>
                        <a:t>;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2804615"/>
              </p:ext>
            </p:extLst>
          </p:nvPr>
        </p:nvGraphicFramePr>
        <p:xfrm>
          <a:off x="735807" y="448937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3-40  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속성에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NOT NULL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제약조건을 적용하시오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ALTER TABLE </a:t>
                      </a:r>
                      <a:r>
                        <a:rPr lang="en-US" altLang="ko-KR" sz="1400" dirty="0" err="1" smtClean="0"/>
                        <a:t>NewBook</a:t>
                      </a:r>
                      <a:r>
                        <a:rPr lang="en-US" altLang="ko-KR" sz="1400" dirty="0" smtClean="0"/>
                        <a:t> MODIFY </a:t>
                      </a:r>
                      <a:r>
                        <a:rPr lang="en-US" altLang="ko-KR" sz="1400" dirty="0" err="1" smtClean="0"/>
                        <a:t>bookid</a:t>
                      </a:r>
                      <a:r>
                        <a:rPr lang="en-US" altLang="ko-KR" sz="1400" dirty="0" smtClean="0"/>
                        <a:t> NUMBER </a:t>
                      </a:r>
                      <a:r>
                        <a:rPr lang="en-US" altLang="ko-KR" sz="1400" b="1" dirty="0" smtClean="0"/>
                        <a:t>NOT NULL</a:t>
                      </a:r>
                      <a:r>
                        <a:rPr lang="en-US" altLang="ko-KR" sz="1400" dirty="0" smtClean="0"/>
                        <a:t>;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5332647"/>
              </p:ext>
            </p:extLst>
          </p:nvPr>
        </p:nvGraphicFramePr>
        <p:xfrm>
          <a:off x="735807" y="556949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3-41  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</a:t>
                      </a:r>
                      <a:r>
                        <a:rPr lang="ko-KR" altLang="en-US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기본키로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ALTER TABLE </a:t>
                      </a:r>
                      <a:r>
                        <a:rPr lang="en-US" altLang="ko-KR" sz="1400" dirty="0" err="1" smtClean="0"/>
                        <a:t>NewBook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en-US" altLang="ko-KR" sz="1400" b="1" dirty="0" smtClean="0"/>
                        <a:t>ADD PRIMARY KEY(</a:t>
                      </a:r>
                      <a:r>
                        <a:rPr lang="en-US" altLang="ko-KR" sz="1400" b="1" dirty="0" err="1" smtClean="0"/>
                        <a:t>bookid</a:t>
                      </a:r>
                      <a:r>
                        <a:rPr lang="en-US" altLang="ko-KR" sz="1400" b="1" dirty="0" smtClean="0"/>
                        <a:t>);</a:t>
                      </a:r>
                      <a:endParaRPr lang="ko-KR" altLang="en-US" sz="1400" b="1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DROP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DROP </a:t>
            </a:r>
            <a:r>
              <a:rPr lang="ko-KR" altLang="en-US" dirty="0" smtClean="0"/>
              <a:t>문은 테이블을 삭제하는 명령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테이블의 구조와 데이터를 모두 삭제하므로 사용에 주의해야 함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데이터만 삭제하려면 </a:t>
            </a:r>
            <a:r>
              <a:rPr lang="en-US" altLang="ko-KR" sz="1200" dirty="0" smtClean="0"/>
              <a:t>DELETE </a:t>
            </a:r>
            <a:r>
              <a:rPr lang="ko-KR" altLang="en-US" sz="1200" dirty="0" smtClean="0"/>
              <a:t>문을 사용함</a:t>
            </a:r>
            <a:r>
              <a:rPr lang="en-US" altLang="ko-KR" sz="1200" dirty="0" smtClean="0"/>
              <a:t>).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DROP</a:t>
            </a:r>
            <a:r>
              <a:rPr lang="ko-KR" altLang="en-US" dirty="0" smtClean="0"/>
              <a:t>문의 기본 문법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5806" y="3140968"/>
            <a:ext cx="7652617" cy="360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 dirty="0" smtClean="0"/>
              <a:t>DROP TABLE </a:t>
            </a:r>
            <a:r>
              <a:rPr lang="ko-KR" altLang="en-US" sz="1200" dirty="0" smtClean="0"/>
              <a:t>테이블이름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3499961"/>
              </p:ext>
            </p:extLst>
          </p:nvPr>
        </p:nvGraphicFramePr>
        <p:xfrm>
          <a:off x="735807" y="378904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3-42  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DROP TABLE </a:t>
                      </a:r>
                      <a:r>
                        <a:rPr lang="en-US" altLang="ko-KR" sz="1400" b="0" dirty="0" err="1" smtClean="0"/>
                        <a:t>NewBook</a:t>
                      </a:r>
                      <a:r>
                        <a:rPr lang="en-US" altLang="ko-KR" sz="1400" b="0" dirty="0" smtClean="0"/>
                        <a:t>;</a:t>
                      </a:r>
                      <a:endParaRPr lang="ko-KR" altLang="en-US" sz="1400" b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4140536"/>
              </p:ext>
            </p:extLst>
          </p:nvPr>
        </p:nvGraphicFramePr>
        <p:xfrm>
          <a:off x="755576" y="4921423"/>
          <a:ext cx="7652617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3-43  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만약 삭제가 거절된다면 원인을 파악하고 관련된 테이블을 같이 삭제하시오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테이블이 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참조하고 있음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DROP TABLE </a:t>
                      </a:r>
                      <a:r>
                        <a:rPr lang="en-US" altLang="ko-KR" sz="1400" dirty="0" err="1" smtClean="0"/>
                        <a:t>NewCustomer</a:t>
                      </a:r>
                      <a:r>
                        <a:rPr lang="en-US" altLang="ko-KR" sz="1400" dirty="0" smtClean="0"/>
                        <a:t>;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05.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조작어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삽입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INSERT </a:t>
            </a:r>
            <a:r>
              <a:rPr lang="ko-KR" altLang="en-US" dirty="0" smtClean="0"/>
              <a:t>문</a:t>
            </a:r>
            <a:endParaRPr lang="en-US" altLang="ko-KR" dirty="0" smtClean="0"/>
          </a:p>
          <a:p>
            <a:r>
              <a:rPr lang="en-US" altLang="ko-KR" dirty="0" smtClean="0"/>
              <a:t>UPDATE </a:t>
            </a:r>
            <a:r>
              <a:rPr lang="ko-KR" altLang="en-US" dirty="0" smtClean="0"/>
              <a:t>문</a:t>
            </a:r>
            <a:endParaRPr lang="en-US" altLang="ko-KR" dirty="0" smtClean="0"/>
          </a:p>
          <a:p>
            <a:r>
              <a:rPr lang="en-US" altLang="ko-KR" dirty="0" smtClean="0"/>
              <a:t>DELETE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1802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INSERT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INSERT </a:t>
            </a:r>
            <a:r>
              <a:rPr lang="ko-KR" altLang="en-US" dirty="0" smtClean="0"/>
              <a:t>문은 테이블에 새로운 </a:t>
            </a:r>
            <a:r>
              <a:rPr lang="ko-KR" altLang="en-US" dirty="0" err="1"/>
              <a:t>투</a:t>
            </a:r>
            <a:r>
              <a:rPr lang="ko-KR" altLang="en-US" dirty="0" err="1" smtClean="0"/>
              <a:t>플을</a:t>
            </a:r>
            <a:r>
              <a:rPr lang="ko-KR" altLang="en-US" dirty="0" smtClean="0"/>
              <a:t> 삽입하는 명령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INSERT </a:t>
            </a:r>
            <a:r>
              <a:rPr lang="ko-KR" altLang="en-US" dirty="0" smtClean="0"/>
              <a:t>문의 기본 문법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2420888"/>
            <a:ext cx="8064896" cy="576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 smtClean="0"/>
              <a:t>INSERT  INTO </a:t>
            </a:r>
            <a:r>
              <a:rPr lang="ko-KR" altLang="en-US" sz="1200" dirty="0" smtClean="0"/>
              <a:t>테이블이름</a:t>
            </a:r>
            <a:r>
              <a:rPr lang="en-US" altLang="ko-KR" sz="1200" dirty="0" smtClean="0"/>
              <a:t>[(</a:t>
            </a:r>
            <a:r>
              <a:rPr lang="ko-KR" altLang="en-US" sz="1200" dirty="0" smtClean="0"/>
              <a:t>속성리스트</a:t>
            </a:r>
            <a:r>
              <a:rPr lang="en-US" altLang="ko-KR" sz="1200" dirty="0" smtClean="0"/>
              <a:t>)]</a:t>
            </a:r>
          </a:p>
          <a:p>
            <a:pPr marL="542925" indent="-542925">
              <a:lnSpc>
                <a:spcPct val="140000"/>
              </a:lnSpc>
            </a:pPr>
            <a:r>
              <a:rPr lang="en-US" altLang="ko-KR" sz="1200" dirty="0" smtClean="0"/>
              <a:t>	 VALUES (</a:t>
            </a:r>
            <a:r>
              <a:rPr lang="ko-KR" altLang="en-US" sz="1200" dirty="0" err="1" smtClean="0"/>
              <a:t>값리스트</a:t>
            </a:r>
            <a:r>
              <a:rPr lang="en-US" altLang="ko-KR" sz="1200" dirty="0" smtClean="0"/>
              <a:t>);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995408"/>
              </p:ext>
            </p:extLst>
          </p:nvPr>
        </p:nvGraphicFramePr>
        <p:xfrm>
          <a:off x="611560" y="3212976"/>
          <a:ext cx="8064896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896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3-44  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90,000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원이다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611560" y="4014241"/>
            <a:ext cx="64714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 smtClean="0"/>
              <a:t>INSERT  INTO </a:t>
            </a:r>
            <a:r>
              <a:rPr lang="en-US" altLang="ko-KR" sz="1400" dirty="0" smtClean="0"/>
              <a:t>Book(</a:t>
            </a:r>
            <a:r>
              <a:rPr lang="en-US" altLang="ko-KR" sz="1400" dirty="0" err="1" smtClean="0"/>
              <a:t>bookid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publisher, price)</a:t>
            </a:r>
          </a:p>
          <a:p>
            <a:pPr marL="714375" indent="-714375"/>
            <a:r>
              <a:rPr lang="en-US" altLang="ko-KR" sz="1400" dirty="0" smtClean="0"/>
              <a:t>	</a:t>
            </a:r>
            <a:r>
              <a:rPr lang="en-US" altLang="ko-KR" sz="1400" b="1" dirty="0" smtClean="0"/>
              <a:t>VALUES</a:t>
            </a:r>
            <a:r>
              <a:rPr lang="en-US" altLang="ko-KR" sz="1400" dirty="0" smtClean="0"/>
              <a:t> (11, '</a:t>
            </a:r>
            <a:r>
              <a:rPr lang="ko-KR" altLang="en-US" sz="1400" dirty="0" smtClean="0"/>
              <a:t>스포츠 의학</a:t>
            </a:r>
            <a:r>
              <a:rPr lang="en-US" altLang="ko-KR" sz="1400" dirty="0" smtClean="0"/>
              <a:t>', '</a:t>
            </a:r>
            <a:r>
              <a:rPr lang="ko-KR" altLang="en-US" sz="1400" dirty="0" err="1" smtClean="0"/>
              <a:t>한솔의학서적</a:t>
            </a:r>
            <a:r>
              <a:rPr lang="en-US" altLang="ko-KR" sz="1400" dirty="0" smtClean="0"/>
              <a:t>', 90000);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87" y="3921591"/>
            <a:ext cx="3301273" cy="253174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INSERT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39552" y="1196752"/>
            <a:ext cx="8064896" cy="5400600"/>
          </a:xfrm>
          <a:prstGeom prst="rect">
            <a:avLst/>
          </a:prstGeo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7546029"/>
              </p:ext>
            </p:extLst>
          </p:nvPr>
        </p:nvGraphicFramePr>
        <p:xfrm>
          <a:off x="807815" y="1412776"/>
          <a:ext cx="7652617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3-45  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미정이다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27584" y="2177777"/>
            <a:ext cx="51125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INSERT   INTO Book(</a:t>
            </a:r>
            <a:r>
              <a:rPr lang="en-US" altLang="ko-KR" sz="1400" dirty="0" err="1" smtClean="0"/>
              <a:t>bookid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publisher)</a:t>
            </a:r>
          </a:p>
          <a:p>
            <a:pPr marL="714375" indent="-714375"/>
            <a:r>
              <a:rPr lang="en-US" altLang="ko-KR" sz="1400" dirty="0" smtClean="0"/>
              <a:t>	VALUES (14, '</a:t>
            </a:r>
            <a:r>
              <a:rPr lang="ko-KR" altLang="en-US" sz="1400" dirty="0" smtClean="0"/>
              <a:t>스포츠 의학</a:t>
            </a:r>
            <a:r>
              <a:rPr lang="en-US" altLang="ko-KR" sz="1400" dirty="0" smtClean="0"/>
              <a:t>', '</a:t>
            </a:r>
            <a:r>
              <a:rPr lang="ko-KR" altLang="en-US" sz="1400" dirty="0" err="1" smtClean="0"/>
              <a:t>한솔의학서적</a:t>
            </a:r>
            <a:r>
              <a:rPr lang="en-US" altLang="ko-KR" sz="1400" dirty="0" smtClean="0"/>
              <a:t>');</a:t>
            </a:r>
            <a:endParaRPr lang="ko-KR" altLang="en-US" sz="1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753856"/>
            <a:ext cx="411480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INSERT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대량 삽입</a:t>
            </a:r>
            <a:r>
              <a:rPr lang="en-US" altLang="ko-KR" dirty="0" smtClean="0"/>
              <a:t>(bulk insert)</a:t>
            </a:r>
            <a:r>
              <a:rPr lang="ko-KR" altLang="en-US" dirty="0" smtClean="0"/>
              <a:t>이란 한꺼번에 여러 개의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삽입하는 방법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5983553"/>
              </p:ext>
            </p:extLst>
          </p:nvPr>
        </p:nvGraphicFramePr>
        <p:xfrm>
          <a:off x="827584" y="1844824"/>
          <a:ext cx="7796633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/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3-46  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수입도서 목록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모두 삽입하시오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60487" y="2492896"/>
            <a:ext cx="51125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INSERT   INTO Book(</a:t>
            </a:r>
            <a:r>
              <a:rPr lang="en-US" altLang="ko-KR" sz="1400" dirty="0" err="1" smtClean="0"/>
              <a:t>bookid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price, publisher)</a:t>
            </a:r>
          </a:p>
          <a:p>
            <a:pPr marL="714375" indent="-714375"/>
            <a:r>
              <a:rPr lang="en-US" altLang="ko-KR" sz="1400" dirty="0" smtClean="0"/>
              <a:t>	SELECT </a:t>
            </a:r>
            <a:r>
              <a:rPr lang="en-US" altLang="ko-KR" sz="1400" dirty="0" err="1" smtClean="0"/>
              <a:t>bookid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bookname</a:t>
            </a:r>
            <a:r>
              <a:rPr lang="en-US" altLang="ko-KR" sz="1400" dirty="0" smtClean="0"/>
              <a:t>, price, publisher</a:t>
            </a:r>
          </a:p>
          <a:p>
            <a:pPr indent="714375"/>
            <a:r>
              <a:rPr lang="en-US" altLang="ko-KR" sz="1400" dirty="0" smtClean="0"/>
              <a:t>FROM  </a:t>
            </a:r>
            <a:r>
              <a:rPr lang="en-US" altLang="ko-KR" sz="1400" dirty="0" err="1" smtClean="0"/>
              <a:t>Imported_book</a:t>
            </a:r>
            <a:r>
              <a:rPr lang="en-US" altLang="ko-KR" sz="1400" dirty="0" smtClean="0"/>
              <a:t>;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262602"/>
            <a:ext cx="3528392" cy="307603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UPDATE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UPDATE </a:t>
            </a:r>
            <a:r>
              <a:rPr lang="ko-KR" altLang="en-US" dirty="0" smtClean="0"/>
              <a:t>문은 특정 속성 값을 수정하는 명령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UPDATE </a:t>
            </a:r>
            <a:r>
              <a:rPr lang="ko-KR" altLang="en-US" dirty="0" smtClean="0"/>
              <a:t>문의 기본 문법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6895" y="2420888"/>
            <a:ext cx="7796633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 smtClean="0"/>
              <a:t>UPDATE </a:t>
            </a:r>
            <a:r>
              <a:rPr lang="ko-KR" altLang="en-US" sz="1200" dirty="0" smtClean="0"/>
              <a:t>테이블이름</a:t>
            </a:r>
          </a:p>
          <a:p>
            <a:pPr marL="809625" indent="-809625">
              <a:lnSpc>
                <a:spcPct val="140000"/>
              </a:lnSpc>
            </a:pPr>
            <a:r>
              <a:rPr lang="en-US" altLang="ko-KR" sz="1200" dirty="0" smtClean="0"/>
              <a:t>SET       </a:t>
            </a:r>
            <a:r>
              <a:rPr lang="ko-KR" altLang="en-US" sz="1200" dirty="0" smtClean="0"/>
              <a:t>속성이름</a:t>
            </a:r>
            <a:r>
              <a:rPr lang="en-US" altLang="ko-KR" sz="1200" dirty="0" smtClean="0"/>
              <a:t>1=</a:t>
            </a:r>
            <a:r>
              <a:rPr lang="ko-KR" altLang="en-US" sz="1200" dirty="0" smtClean="0"/>
              <a:t>값</a:t>
            </a:r>
            <a:r>
              <a:rPr lang="en-US" altLang="ko-KR" sz="1200" dirty="0" smtClean="0"/>
              <a:t>1[, </a:t>
            </a:r>
            <a:r>
              <a:rPr lang="ko-KR" altLang="en-US" sz="1200" dirty="0" smtClean="0"/>
              <a:t>속성이름</a:t>
            </a:r>
            <a:r>
              <a:rPr lang="en-US" altLang="ko-KR" sz="1200" dirty="0" smtClean="0"/>
              <a:t>2=</a:t>
            </a:r>
            <a:r>
              <a:rPr lang="ko-KR" altLang="en-US" sz="1200" dirty="0" smtClean="0"/>
              <a:t>값</a:t>
            </a:r>
            <a:r>
              <a:rPr lang="en-US" altLang="ko-KR" sz="1200" dirty="0" smtClean="0"/>
              <a:t>2, ...]</a:t>
            </a:r>
          </a:p>
          <a:p>
            <a:pPr>
              <a:lnSpc>
                <a:spcPct val="140000"/>
              </a:lnSpc>
            </a:pPr>
            <a:r>
              <a:rPr lang="en-US" altLang="ko-KR" sz="1200" dirty="0" smtClean="0"/>
              <a:t>[WHERE &lt;</a:t>
            </a:r>
            <a:r>
              <a:rPr lang="ko-KR" altLang="en-US" sz="1200" dirty="0" smtClean="0"/>
              <a:t>검색조건</a:t>
            </a:r>
            <a:r>
              <a:rPr lang="en-US" altLang="ko-KR" sz="1200" dirty="0" smtClean="0"/>
              <a:t>&gt;];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UPDATE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graphicFrame>
        <p:nvGraphicFramePr>
          <p:cNvPr id="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0314506"/>
              </p:ext>
            </p:extLst>
          </p:nvPr>
        </p:nvGraphicFramePr>
        <p:xfrm>
          <a:off x="746895" y="1412776"/>
          <a:ext cx="7796633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3-47  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Customer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고객번호가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고객의 주소를 ‘대한민국 부산’으로 변경하시오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735807" y="2257127"/>
            <a:ext cx="66559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UPDATE 	Customer</a:t>
            </a:r>
          </a:p>
          <a:p>
            <a:r>
              <a:rPr lang="en-US" altLang="ko-KR" sz="1400" dirty="0" smtClean="0"/>
              <a:t>SET 	address='</a:t>
            </a:r>
            <a:r>
              <a:rPr lang="ko-KR" altLang="en-US" sz="1400" dirty="0" smtClean="0"/>
              <a:t>대한민국 부산</a:t>
            </a:r>
            <a:r>
              <a:rPr lang="en-US" altLang="ko-KR" sz="1400" dirty="0" smtClean="0"/>
              <a:t>'</a:t>
            </a:r>
          </a:p>
          <a:p>
            <a:r>
              <a:rPr lang="en-US" altLang="ko-KR" sz="1400" dirty="0" smtClean="0"/>
              <a:t>WHERE 	</a:t>
            </a:r>
            <a:r>
              <a:rPr lang="en-US" altLang="ko-KR" sz="1400" dirty="0" err="1" smtClean="0"/>
              <a:t>custid</a:t>
            </a:r>
            <a:r>
              <a:rPr lang="en-US" altLang="ko-KR" sz="1400" dirty="0" smtClean="0"/>
              <a:t>=5;</a:t>
            </a:r>
            <a:endParaRPr lang="ko-KR" altLang="en-US" sz="1400" dirty="0"/>
          </a:p>
        </p:txBody>
      </p:sp>
      <p:graphicFrame>
        <p:nvGraphicFramePr>
          <p:cNvPr id="10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3382810"/>
              </p:ext>
            </p:extLst>
          </p:nvPr>
        </p:nvGraphicFramePr>
        <p:xfrm>
          <a:off x="746895" y="3865984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3-48  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Customer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박세리 고객의 주소를 김연아 고객의 주소로 변경하시오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735807" y="4509120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UPDATE	Customer</a:t>
            </a:r>
          </a:p>
          <a:p>
            <a:r>
              <a:rPr lang="en-US" altLang="ko-KR" sz="1400" dirty="0" smtClean="0"/>
              <a:t>SET 	address = (SELECT address</a:t>
            </a:r>
          </a:p>
          <a:p>
            <a:r>
              <a:rPr lang="en-US" altLang="ko-KR" sz="1400" dirty="0" smtClean="0"/>
              <a:t>		FROM Customer</a:t>
            </a:r>
          </a:p>
          <a:p>
            <a:r>
              <a:rPr lang="en-US" altLang="ko-KR" sz="1400" dirty="0" smtClean="0"/>
              <a:t>		WHERE name='</a:t>
            </a:r>
            <a:r>
              <a:rPr lang="ko-KR" altLang="en-US" sz="1400" dirty="0" smtClean="0"/>
              <a:t>김연아</a:t>
            </a:r>
            <a:r>
              <a:rPr lang="en-US" altLang="ko-KR" sz="1400" dirty="0" smtClean="0"/>
              <a:t>')</a:t>
            </a:r>
          </a:p>
          <a:p>
            <a:r>
              <a:rPr lang="en-US" altLang="ko-KR" sz="1400" dirty="0" smtClean="0"/>
              <a:t>WHERE 	name LIKE='</a:t>
            </a:r>
            <a:r>
              <a:rPr lang="ko-KR" altLang="en-US" sz="1400" dirty="0" smtClean="0"/>
              <a:t>박세리</a:t>
            </a:r>
            <a:r>
              <a:rPr lang="en-US" altLang="ko-KR" sz="1400" dirty="0" smtClean="0"/>
              <a:t>';</a:t>
            </a:r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347" y="2204864"/>
            <a:ext cx="3252252" cy="133156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777" y="4365104"/>
            <a:ext cx="3305822" cy="144016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DELETE </a:t>
            </a:r>
            <a:r>
              <a:rPr lang="ko-KR" altLang="en-US" dirty="0" smtClean="0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DELETE </a:t>
            </a:r>
            <a:r>
              <a:rPr lang="ko-KR" altLang="en-US" dirty="0" smtClean="0"/>
              <a:t>문은 테이블에 있는 기존 </a:t>
            </a:r>
            <a:r>
              <a:rPr lang="ko-KR" altLang="en-US" dirty="0" err="1"/>
              <a:t>투</a:t>
            </a:r>
            <a:r>
              <a:rPr lang="ko-KR" altLang="en-US" dirty="0" err="1" smtClean="0"/>
              <a:t>플을</a:t>
            </a:r>
            <a:r>
              <a:rPr lang="ko-KR" altLang="en-US" dirty="0" smtClean="0"/>
              <a:t> 삭제하는 명령</a:t>
            </a:r>
            <a:endParaRPr lang="en-US" altLang="ko-KR" dirty="0" smtClean="0"/>
          </a:p>
          <a:p>
            <a:r>
              <a:rPr lang="en-US" altLang="ko-KR" dirty="0" smtClean="0"/>
              <a:t>DELETE </a:t>
            </a:r>
            <a:r>
              <a:rPr lang="ko-KR" altLang="en-US" dirty="0" smtClean="0"/>
              <a:t>문의 기본 문법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7370" y="1962418"/>
            <a:ext cx="7796633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 smtClean="0"/>
              <a:t>DELETE FROM    </a:t>
            </a:r>
            <a:r>
              <a:rPr lang="ko-KR" altLang="en-US" sz="1200" dirty="0" smtClean="0"/>
              <a:t>테이블이름</a:t>
            </a:r>
          </a:p>
          <a:p>
            <a:pPr marL="628650" indent="-628650">
              <a:lnSpc>
                <a:spcPct val="140000"/>
              </a:lnSpc>
            </a:pPr>
            <a:r>
              <a:rPr lang="en-US" altLang="ko-KR" sz="1200" dirty="0" smtClean="0"/>
              <a:t>[WHERE  </a:t>
            </a:r>
            <a:r>
              <a:rPr lang="ko-KR" altLang="en-US" sz="1200" dirty="0" smtClean="0"/>
              <a:t>검색조건</a:t>
            </a:r>
            <a:r>
              <a:rPr lang="en-US" altLang="ko-KR" sz="1200" dirty="0" smtClean="0"/>
              <a:t>];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7322866"/>
              </p:ext>
            </p:extLst>
          </p:nvPr>
        </p:nvGraphicFramePr>
        <p:xfrm>
          <a:off x="737370" y="3098199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3-49  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Customer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고객번호가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고객을 삭제하시오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55576" y="3656329"/>
            <a:ext cx="6655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DELETE 	FROM 	Customer</a:t>
            </a:r>
          </a:p>
          <a:p>
            <a:r>
              <a:rPr lang="en-US" altLang="ko-KR" sz="1400" dirty="0" smtClean="0"/>
              <a:t>WHERE 	</a:t>
            </a:r>
            <a:r>
              <a:rPr lang="en-US" altLang="ko-KR" sz="1400" dirty="0" err="1" smtClean="0"/>
              <a:t>custid</a:t>
            </a:r>
            <a:r>
              <a:rPr lang="en-US" altLang="ko-KR" sz="1400" dirty="0" smtClean="0"/>
              <a:t>=5;</a:t>
            </a:r>
            <a:endParaRPr lang="ko-KR" altLang="en-US" sz="1400" dirty="0"/>
          </a:p>
        </p:txBody>
      </p:sp>
      <p:graphicFrame>
        <p:nvGraphicFramePr>
          <p:cNvPr id="9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386292"/>
              </p:ext>
            </p:extLst>
          </p:nvPr>
        </p:nvGraphicFramePr>
        <p:xfrm>
          <a:off x="732475" y="4863891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3-50   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고객을 삭제하시오</a:t>
                      </a: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37370" y="5391814"/>
            <a:ext cx="6655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DELETE FROM 	Customer;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522324"/>
            <a:ext cx="3386275" cy="11770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528" y="5373785"/>
            <a:ext cx="4471020" cy="1086357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>
              <a:solidFill>
                <a:schemeClr val="tx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34" y="1196752"/>
            <a:ext cx="8136904" cy="5472608"/>
          </a:xfrm>
        </p:spPr>
        <p:txBody>
          <a:bodyPr/>
          <a:lstStyle/>
          <a:p>
            <a:r>
              <a:rPr lang="en-US" altLang="ko-KR" sz="1400" b="1" smtClean="0">
                <a:latin typeface="+mj-ea"/>
                <a:ea typeface="+mj-ea"/>
              </a:rPr>
              <a:t>3. </a:t>
            </a:r>
            <a:r>
              <a:rPr lang="ko-KR" altLang="en-US" sz="1400" b="1" dirty="0">
                <a:latin typeface="+mj-ea"/>
                <a:ea typeface="+mj-ea"/>
              </a:rPr>
              <a:t>마당서점에서 다음의 심화된 질문에 대해 </a:t>
            </a:r>
            <a:r>
              <a:rPr lang="en-US" altLang="ko-KR" sz="1400" b="1" dirty="0">
                <a:latin typeface="+mj-ea"/>
                <a:ea typeface="+mj-ea"/>
              </a:rPr>
              <a:t>SQL </a:t>
            </a:r>
            <a:r>
              <a:rPr lang="ko-KR" altLang="en-US" sz="1400" b="1" dirty="0">
                <a:latin typeface="+mj-ea"/>
                <a:ea typeface="+mj-ea"/>
              </a:rPr>
              <a:t>문을 작성하시오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1) </a:t>
            </a:r>
            <a:r>
              <a:rPr lang="ko-KR" altLang="en-US" sz="1400" dirty="0">
                <a:latin typeface="+mj-ea"/>
                <a:ea typeface="+mj-ea"/>
              </a:rPr>
              <a:t>박지성이 구매한 도서의 출판사와 같은 출판사에서 도서를 구매한 고객의 이름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2) </a:t>
            </a:r>
            <a:r>
              <a:rPr lang="ko-KR" altLang="en-US" sz="1400" dirty="0">
                <a:latin typeface="+mj-ea"/>
                <a:ea typeface="+mj-ea"/>
              </a:rPr>
              <a:t>두 개 이상의 서로 다른 출판사에서 도서를 구매한 고객의 이름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3) </a:t>
            </a:r>
            <a:r>
              <a:rPr lang="ko-KR" altLang="en-US" sz="1400" dirty="0">
                <a:latin typeface="+mj-ea"/>
                <a:ea typeface="+mj-ea"/>
              </a:rPr>
              <a:t>전체 고객의 </a:t>
            </a:r>
            <a:r>
              <a:rPr lang="en-US" altLang="ko-KR" sz="1400" dirty="0">
                <a:latin typeface="+mj-ea"/>
                <a:ea typeface="+mj-ea"/>
              </a:rPr>
              <a:t>30% </a:t>
            </a:r>
            <a:r>
              <a:rPr lang="ko-KR" altLang="en-US" sz="1400" dirty="0">
                <a:latin typeface="+mj-ea"/>
                <a:ea typeface="+mj-ea"/>
              </a:rPr>
              <a:t>이상이 구매한 도서</a:t>
            </a:r>
          </a:p>
          <a:p>
            <a:endParaRPr lang="en-US" altLang="ko-KR" sz="1400" dirty="0" smtClean="0">
              <a:latin typeface="+mj-ea"/>
              <a:ea typeface="+mj-ea"/>
            </a:endParaRPr>
          </a:p>
          <a:p>
            <a:r>
              <a:rPr lang="en-US" altLang="ko-KR" sz="1400" b="1" smtClean="0">
                <a:latin typeface="+mj-ea"/>
                <a:ea typeface="+mj-ea"/>
              </a:rPr>
              <a:t>4. </a:t>
            </a:r>
            <a:r>
              <a:rPr lang="ko-KR" altLang="en-US" sz="1400" b="1" dirty="0">
                <a:latin typeface="+mj-ea"/>
                <a:ea typeface="+mj-ea"/>
              </a:rPr>
              <a:t>다음 질의에 대해 </a:t>
            </a:r>
            <a:r>
              <a:rPr lang="en-US" altLang="ko-KR" sz="1400" b="1" dirty="0">
                <a:latin typeface="+mj-ea"/>
                <a:ea typeface="+mj-ea"/>
              </a:rPr>
              <a:t>DML </a:t>
            </a:r>
            <a:r>
              <a:rPr lang="ko-KR" altLang="en-US" sz="1400" b="1" dirty="0">
                <a:latin typeface="+mj-ea"/>
                <a:ea typeface="+mj-ea"/>
              </a:rPr>
              <a:t>문을 작성하시오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1) </a:t>
            </a:r>
            <a:r>
              <a:rPr lang="ko-KR" altLang="en-US" sz="1400" dirty="0">
                <a:latin typeface="+mj-ea"/>
                <a:ea typeface="+mj-ea"/>
              </a:rPr>
              <a:t>새로운 도서 </a:t>
            </a:r>
            <a:r>
              <a:rPr lang="en-US" altLang="ko-KR" sz="1400" dirty="0">
                <a:latin typeface="+mj-ea"/>
                <a:ea typeface="+mj-ea"/>
              </a:rPr>
              <a:t>(‘</a:t>
            </a:r>
            <a:r>
              <a:rPr lang="ko-KR" altLang="en-US" sz="1400" dirty="0">
                <a:latin typeface="+mj-ea"/>
                <a:ea typeface="+mj-ea"/>
              </a:rPr>
              <a:t>스포츠 세계’</a:t>
            </a:r>
            <a:r>
              <a:rPr lang="en-US" altLang="ko-KR" sz="1400" dirty="0">
                <a:latin typeface="+mj-ea"/>
                <a:ea typeface="+mj-ea"/>
              </a:rPr>
              <a:t>, ‘</a:t>
            </a:r>
            <a:r>
              <a:rPr lang="ko-KR" altLang="en-US" sz="1400" dirty="0">
                <a:latin typeface="+mj-ea"/>
                <a:ea typeface="+mj-ea"/>
              </a:rPr>
              <a:t>대한미디어’</a:t>
            </a:r>
            <a:r>
              <a:rPr lang="en-US" altLang="ko-KR" sz="1400" dirty="0">
                <a:latin typeface="+mj-ea"/>
                <a:ea typeface="+mj-ea"/>
              </a:rPr>
              <a:t>, 10000</a:t>
            </a:r>
            <a:r>
              <a:rPr lang="ko-KR" altLang="en-US" sz="1400" dirty="0">
                <a:latin typeface="+mj-ea"/>
                <a:ea typeface="+mj-ea"/>
              </a:rPr>
              <a:t>원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  <a:r>
              <a:rPr lang="ko-KR" altLang="en-US" sz="1400" dirty="0">
                <a:latin typeface="+mj-ea"/>
                <a:ea typeface="+mj-ea"/>
              </a:rPr>
              <a:t>이 마당서점에 입고되었다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endParaRPr lang="en-US" altLang="ko-KR" sz="1400" dirty="0" smtClean="0">
              <a:latin typeface="+mj-ea"/>
              <a:ea typeface="+mj-ea"/>
            </a:endParaRPr>
          </a:p>
          <a:p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en-US" altLang="ko-KR" sz="1400" dirty="0" smtClean="0">
                <a:latin typeface="+mj-ea"/>
                <a:ea typeface="+mj-ea"/>
              </a:rPr>
              <a:t>     </a:t>
            </a:r>
            <a:r>
              <a:rPr lang="ko-KR" altLang="en-US" sz="1400" dirty="0" smtClean="0">
                <a:latin typeface="+mj-ea"/>
                <a:ea typeface="+mj-ea"/>
              </a:rPr>
              <a:t>삽입이 </a:t>
            </a:r>
            <a:r>
              <a:rPr lang="ko-KR" altLang="en-US" sz="1400" dirty="0">
                <a:latin typeface="+mj-ea"/>
                <a:ea typeface="+mj-ea"/>
              </a:rPr>
              <a:t>안 </a:t>
            </a:r>
            <a:r>
              <a:rPr lang="ko-KR" altLang="en-US" sz="1400" dirty="0" smtClean="0">
                <a:latin typeface="+mj-ea"/>
                <a:ea typeface="+mj-ea"/>
              </a:rPr>
              <a:t>될 경우 </a:t>
            </a:r>
            <a:r>
              <a:rPr lang="ko-KR" altLang="en-US" sz="1400" dirty="0">
                <a:latin typeface="+mj-ea"/>
                <a:ea typeface="+mj-ea"/>
              </a:rPr>
              <a:t>필요한 데이터가 더 있는지 찾아보자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2) ‘</a:t>
            </a:r>
            <a:r>
              <a:rPr lang="ko-KR" altLang="en-US" sz="1400" dirty="0">
                <a:latin typeface="+mj-ea"/>
                <a:ea typeface="+mj-ea"/>
              </a:rPr>
              <a:t>삼성당’에서 출판한 도서를 삭제해야 한다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3) ‘</a:t>
            </a:r>
            <a:r>
              <a:rPr lang="ko-KR" altLang="en-US" sz="1400" dirty="0">
                <a:latin typeface="+mj-ea"/>
                <a:ea typeface="+mj-ea"/>
              </a:rPr>
              <a:t>이상미디어’에서 출판한 도서를 삭제해야 한다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삭제가 안 될 경우 원인을 생각해보자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 smtClean="0">
                <a:latin typeface="+mj-ea"/>
                <a:ea typeface="+mj-ea"/>
              </a:rPr>
              <a:t>  (</a:t>
            </a:r>
            <a:r>
              <a:rPr lang="en-US" altLang="ko-KR" sz="1400" dirty="0">
                <a:latin typeface="+mj-ea"/>
                <a:ea typeface="+mj-ea"/>
              </a:rPr>
              <a:t>4) </a:t>
            </a:r>
            <a:r>
              <a:rPr lang="ko-KR" altLang="en-US" sz="1400" dirty="0">
                <a:latin typeface="+mj-ea"/>
                <a:ea typeface="+mj-ea"/>
              </a:rPr>
              <a:t>출판사 ‘대한미디어’가 ‘대한출판사’로 이름을 바꾸었다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endParaRPr lang="ko-KR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77989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요약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3312368" cy="5472608"/>
          </a:xfrm>
          <a:prstGeom prst="rect">
            <a:avLst/>
          </a:prstGeo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altLang="ko-KR" dirty="0" smtClean="0"/>
              <a:t>Oracle Database 11g</a:t>
            </a:r>
          </a:p>
          <a:p>
            <a:pPr>
              <a:buFont typeface="+mj-lt"/>
              <a:buAutoNum type="arabicPeriod"/>
            </a:pPr>
            <a:r>
              <a:rPr lang="en-US" altLang="ko-KR" dirty="0" smtClean="0"/>
              <a:t>SQL</a:t>
            </a:r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데이터 </a:t>
            </a:r>
            <a:r>
              <a:rPr lang="ko-KR" altLang="en-US" dirty="0" err="1" smtClean="0"/>
              <a:t>정의어</a:t>
            </a:r>
            <a:r>
              <a:rPr lang="en-US" altLang="ko-KR" dirty="0" smtClean="0"/>
              <a:t>(DLL)</a:t>
            </a:r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데이터 </a:t>
            </a:r>
            <a:r>
              <a:rPr lang="ko-KR" altLang="en-US" dirty="0" err="1" smtClean="0"/>
              <a:t>조작어</a:t>
            </a:r>
            <a:r>
              <a:rPr lang="en-US" altLang="ko-KR" dirty="0" smtClean="0"/>
              <a:t>(DML)</a:t>
            </a:r>
          </a:p>
          <a:p>
            <a:pPr>
              <a:buFont typeface="+mj-lt"/>
              <a:buAutoNum type="arabicPeriod"/>
            </a:pPr>
            <a:r>
              <a:rPr lang="en-US" altLang="ko-KR" dirty="0" smtClean="0"/>
              <a:t>WHERE </a:t>
            </a:r>
            <a:r>
              <a:rPr lang="ko-KR" altLang="en-US" dirty="0" smtClean="0"/>
              <a:t>조건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집계 함수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en-US" altLang="ko-KR" dirty="0" smtClean="0"/>
              <a:t>GROUP BY</a:t>
            </a:r>
          </a:p>
          <a:p>
            <a:pPr>
              <a:buFont typeface="+mj-lt"/>
              <a:buAutoNum type="arabicPeriod"/>
            </a:pPr>
            <a:r>
              <a:rPr lang="en-US" altLang="ko-KR" dirty="0" smtClean="0"/>
              <a:t>HAVING</a:t>
            </a:r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조인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동등조인</a:t>
            </a:r>
            <a:r>
              <a:rPr lang="en-US" altLang="ko-KR" dirty="0" smtClean="0"/>
              <a:t>(</a:t>
            </a:r>
            <a:r>
              <a:rPr lang="ko-KR" altLang="en-US" dirty="0" smtClean="0"/>
              <a:t>내부조인</a:t>
            </a:r>
            <a:r>
              <a:rPr lang="en-US" altLang="ko-KR" dirty="0" smtClean="0"/>
              <a:t>)</a:t>
            </a:r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부속질의</a:t>
            </a: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340837" y="1085503"/>
            <a:ext cx="3312368" cy="54726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12"/>
            </a:pPr>
            <a:r>
              <a:rPr kumimoji="0" lang="ko-KR" altLang="en-US" dirty="0" smtClean="0"/>
              <a:t>상관 </a:t>
            </a:r>
            <a:r>
              <a:rPr kumimoji="0" lang="ko-KR" altLang="en-US" dirty="0"/>
              <a:t>부속질의</a:t>
            </a:r>
          </a:p>
          <a:p>
            <a:pPr>
              <a:buFont typeface="+mj-lt"/>
              <a:buAutoNum type="arabicPeriod" startAt="12"/>
            </a:pPr>
            <a:r>
              <a:rPr kumimoji="0" lang="ko-KR" altLang="en-US" dirty="0" err="1"/>
              <a:t>투플</a:t>
            </a:r>
            <a:r>
              <a:rPr kumimoji="0" lang="ko-KR" altLang="en-US" dirty="0"/>
              <a:t> 변수</a:t>
            </a:r>
          </a:p>
          <a:p>
            <a:pPr>
              <a:buFont typeface="+mj-lt"/>
              <a:buAutoNum type="arabicPeriod" startAt="12"/>
            </a:pPr>
            <a:r>
              <a:rPr kumimoji="0" lang="ko-KR" altLang="en-US" dirty="0"/>
              <a:t>집합연산</a:t>
            </a:r>
          </a:p>
          <a:p>
            <a:pPr>
              <a:buFont typeface="+mj-lt"/>
              <a:buAutoNum type="arabicPeriod" startAt="12"/>
            </a:pPr>
            <a:r>
              <a:rPr kumimoji="0" lang="ko-KR" altLang="en-US" dirty="0"/>
              <a:t>집합연산</a:t>
            </a:r>
          </a:p>
          <a:p>
            <a:pPr>
              <a:buFont typeface="+mj-lt"/>
              <a:buAutoNum type="arabicPeriod" startAt="12"/>
            </a:pPr>
            <a:r>
              <a:rPr kumimoji="0" lang="en-US" altLang="ko-KR" dirty="0"/>
              <a:t>EXISTS</a:t>
            </a:r>
          </a:p>
          <a:p>
            <a:pPr>
              <a:buFont typeface="+mj-lt"/>
              <a:buAutoNum type="arabicPeriod" startAt="12"/>
            </a:pPr>
            <a:r>
              <a:rPr kumimoji="0" lang="en-US" altLang="ko-KR" dirty="0"/>
              <a:t>CREATE</a:t>
            </a:r>
          </a:p>
          <a:p>
            <a:pPr>
              <a:buFont typeface="+mj-lt"/>
              <a:buAutoNum type="arabicPeriod" startAt="12"/>
            </a:pPr>
            <a:r>
              <a:rPr kumimoji="0" lang="en-US" altLang="ko-KR" dirty="0"/>
              <a:t>ALTER</a:t>
            </a:r>
          </a:p>
          <a:p>
            <a:pPr>
              <a:buFont typeface="+mj-lt"/>
              <a:buAutoNum type="arabicPeriod" startAt="12"/>
            </a:pPr>
            <a:r>
              <a:rPr kumimoji="0" lang="en-US" altLang="ko-KR" dirty="0"/>
              <a:t>DROP</a:t>
            </a:r>
          </a:p>
          <a:p>
            <a:pPr>
              <a:buFont typeface="+mj-lt"/>
              <a:buAutoNum type="arabicPeriod" startAt="12"/>
            </a:pPr>
            <a:r>
              <a:rPr kumimoji="0" lang="en-US" altLang="ko-KR" dirty="0"/>
              <a:t>INSERT</a:t>
            </a:r>
          </a:p>
          <a:p>
            <a:pPr>
              <a:buFont typeface="+mj-lt"/>
              <a:buAutoNum type="arabicPeriod" startAt="12"/>
            </a:pPr>
            <a:r>
              <a:rPr kumimoji="0" lang="en-US" altLang="ko-KR" dirty="0"/>
              <a:t>UPDATE</a:t>
            </a:r>
          </a:p>
          <a:p>
            <a:pPr>
              <a:buFont typeface="+mj-lt"/>
              <a:buAutoNum type="arabicPeriod" startAt="12"/>
            </a:pPr>
            <a:r>
              <a:rPr kumimoji="0" lang="en-US" altLang="ko-KR" dirty="0"/>
              <a:t>DELETE</a:t>
            </a:r>
          </a:p>
          <a:p>
            <a:pPr>
              <a:buFont typeface="+mj-lt"/>
              <a:buAutoNum type="arabicPeriod" startAt="12"/>
            </a:pPr>
            <a:endParaRPr kumimoji="0"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6367</TotalTime>
  <Words>3801</Words>
  <Application>Microsoft Office PowerPoint</Application>
  <PresentationFormat>화면 슬라이드 쇼(4:3)</PresentationFormat>
  <Paragraphs>1157</Paragraphs>
  <Slides>77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78" baseType="lpstr">
      <vt:lpstr>Office 테마</vt:lpstr>
      <vt:lpstr>PowerPoint 프레젠테이션</vt:lpstr>
      <vt:lpstr>PowerPoint 프레젠테이션</vt:lpstr>
      <vt:lpstr>PowerPoint 프레젠테이션</vt:lpstr>
      <vt:lpstr>01. SQL 학습을 위한 준비</vt:lpstr>
      <vt:lpstr>01. SQL 학습을 위한 준비</vt:lpstr>
      <vt:lpstr>01. SQL 학습을 위한 준비</vt:lpstr>
      <vt:lpstr>1. 마당서점의 데이터</vt:lpstr>
      <vt:lpstr>1. 마당서점의 데이터</vt:lpstr>
      <vt:lpstr>2. 누가 어떤 정보를 원하는가?</vt:lpstr>
      <vt:lpstr>3. 오라클과 샘플 데이터 설치</vt:lpstr>
      <vt:lpstr>3. 오라클과 샘플 데이터 설치</vt:lpstr>
      <vt:lpstr>3.1 SQL Plus </vt:lpstr>
      <vt:lpstr>3.1 SQL Plus </vt:lpstr>
      <vt:lpstr>3.2 SQL Developer</vt:lpstr>
      <vt:lpstr>3.2 SQL Developer</vt:lpstr>
      <vt:lpstr>02. SQL 개요</vt:lpstr>
      <vt:lpstr>02. SQL 개요</vt:lpstr>
      <vt:lpstr>02. SQL 개요</vt:lpstr>
      <vt:lpstr>02. SQL 개요</vt:lpstr>
      <vt:lpstr>02. SQL 개요</vt:lpstr>
      <vt:lpstr>03. 데이터 조작어 - 검색</vt:lpstr>
      <vt:lpstr>03. 데이터 조작어 - 검색</vt:lpstr>
      <vt:lpstr>1.1 SELECT/FROM_서점에 어떤 도서가 있는지 알고 싶다  </vt:lpstr>
      <vt:lpstr>1.1 SELECT/FROM_서점에 어떤 도서가 있는지 알고 싶다  </vt:lpstr>
      <vt:lpstr>1.1 SELECT/FROM_서점에 어떤 도서가 있는지 알고 싶다  </vt:lpstr>
      <vt:lpstr>1.2 WHERE 조건_가격이 20,000원 미만인 도서가 무엇인지 알고 싶다</vt:lpstr>
      <vt:lpstr>1.2 WHERE 조건_가격이 20,000원 미만인 도서가 무엇인지 알고 싶다</vt:lpstr>
      <vt:lpstr>1.2 WHERE 조건_가격이 20,000원 미만인 도서가 무엇인지 알고 싶다</vt:lpstr>
      <vt:lpstr>1.2 WHERE 조건_가격이 20,000원 미만인 도서가 무엇인지 알고 싶다</vt:lpstr>
      <vt:lpstr>1.2 WHERE 조건_가격이 20,000원 미만인 도서가 무엇인지 알고 싶다</vt:lpstr>
      <vt:lpstr>1.2 WHERE 조건_가격이 20,000원 미만인 도서가 무엇인지 알고 싶다</vt:lpstr>
      <vt:lpstr>1.3 ORDER BY_도서를 이름순으로 보고 싶다</vt:lpstr>
      <vt:lpstr>1.3 ORDER BY_도서를 가격 내림차순으로 보고싶다</vt:lpstr>
      <vt:lpstr>2.1 집계 함수_도서 판매액의 합계를 알고 싶다</vt:lpstr>
      <vt:lpstr>2.1 집계 함수_도서 판매액의 합계를 알고 싶다</vt:lpstr>
      <vt:lpstr>2.1 집계 함수_도서 판매액의 합계를 알고 싶다</vt:lpstr>
      <vt:lpstr>2.2 GROUP BY_어느 고객이 얼마나 주문했는지 알고 싶다</vt:lpstr>
      <vt:lpstr>2.2 GROUP BY_어느 고객이 얼마나 주문했는지 알고 싶다</vt:lpstr>
      <vt:lpstr>2.2 GROUP BY_어느 고객이 얼마나 주문했는지 알고 싶다</vt:lpstr>
      <vt:lpstr>PowerPoint 프레젠테이션</vt:lpstr>
      <vt:lpstr>3.1 조인_2개의 테이블을 합체해보자</vt:lpstr>
      <vt:lpstr>3.1 조인_2개의 테이블을 합체해보자</vt:lpstr>
      <vt:lpstr>3.1 조인_2개의 테이블을 합체해보자</vt:lpstr>
      <vt:lpstr>3.1 조인_2개의 테이블을 합체해보자</vt:lpstr>
      <vt:lpstr>3.1 조인_2개의 테이블을 합체해보자</vt:lpstr>
      <vt:lpstr>3.1 조인_2개의 테이블을 합체해보자</vt:lpstr>
      <vt:lpstr>3.1 조인_2개의 테이블을 합체해보자</vt:lpstr>
      <vt:lpstr>3.1 조인_2개의 테이블을 합체해보자</vt:lpstr>
      <vt:lpstr>3.2 부속질의_SQL 문 내에 또 다른 SQL 문을 작성해보자</vt:lpstr>
      <vt:lpstr>3.2 부속질의_SQL 문 내에 또 다른 SQL 문을 작성해보자</vt:lpstr>
      <vt:lpstr>3.2 부속질의_SQL 문 내에 또 다른 SQL 문을 작성해보자</vt:lpstr>
      <vt:lpstr>3.2 부속질의_SQL 문 내에 또 다른 SQL 문을 작성해보자</vt:lpstr>
      <vt:lpstr>3.2 부속질의_SQL 문 내에 또 다른 SQL 문을 작성해보자</vt:lpstr>
      <vt:lpstr>3.2 부속질의_SQL 문 내에 또 다른 SQL 문을 작성해보자</vt:lpstr>
      <vt:lpstr>3.3 집합연산_도서를 주문하지 않은 고객을 알고 싶다</vt:lpstr>
      <vt:lpstr>3.4 EXISTS_주문이 있는 고객을 알고 싶다</vt:lpstr>
      <vt:lpstr>3.4 EXISTS_주문이 있는 고객을 알고 싶다</vt:lpstr>
      <vt:lpstr>PowerPoint 프레젠테이션</vt:lpstr>
      <vt:lpstr>04. 데이터 정의어</vt:lpstr>
      <vt:lpstr>1. CREATE 문</vt:lpstr>
      <vt:lpstr>1. CREATE 문</vt:lpstr>
      <vt:lpstr>1. CREATE 문</vt:lpstr>
      <vt:lpstr>1. CREATE 문</vt:lpstr>
      <vt:lpstr>1. CREATE 문</vt:lpstr>
      <vt:lpstr>1. CREATE 문</vt:lpstr>
      <vt:lpstr>2. ALTER 문</vt:lpstr>
      <vt:lpstr>2. ALTER 문</vt:lpstr>
      <vt:lpstr>3. DROP 문</vt:lpstr>
      <vt:lpstr>05. 데이터 조작어 – 삽입, 수정, 삭제</vt:lpstr>
      <vt:lpstr>1. INSERT 문</vt:lpstr>
      <vt:lpstr>1. INSERT 문</vt:lpstr>
      <vt:lpstr>1. INSERT 문</vt:lpstr>
      <vt:lpstr>2. UPDATE 문</vt:lpstr>
      <vt:lpstr>2. UPDATE 문</vt:lpstr>
      <vt:lpstr>3. DELETE 문</vt:lpstr>
      <vt:lpstr>PowerPoint 프레젠테이션</vt:lpstr>
      <vt:lpstr>요약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KB</cp:lastModifiedBy>
  <cp:revision>707</cp:revision>
  <dcterms:created xsi:type="dcterms:W3CDTF">2012-07-11T10:23:22Z</dcterms:created>
  <dcterms:modified xsi:type="dcterms:W3CDTF">2017-08-04T07:32:41Z</dcterms:modified>
</cp:coreProperties>
</file>