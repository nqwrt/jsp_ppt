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495" r:id="rId2"/>
    <p:sldId id="266" r:id="rId3"/>
    <p:sldId id="383" r:id="rId4"/>
    <p:sldId id="382" r:id="rId5"/>
    <p:sldId id="395" r:id="rId6"/>
    <p:sldId id="396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389" r:id="rId16"/>
    <p:sldId id="406" r:id="rId17"/>
    <p:sldId id="407" r:id="rId18"/>
    <p:sldId id="408" r:id="rId19"/>
    <p:sldId id="410" r:id="rId20"/>
    <p:sldId id="411" r:id="rId21"/>
    <p:sldId id="412" r:id="rId22"/>
    <p:sldId id="416" r:id="rId23"/>
    <p:sldId id="417" r:id="rId24"/>
    <p:sldId id="418" r:id="rId25"/>
    <p:sldId id="419" r:id="rId26"/>
    <p:sldId id="420" r:id="rId27"/>
    <p:sldId id="421" r:id="rId28"/>
    <p:sldId id="422" r:id="rId29"/>
    <p:sldId id="423" r:id="rId30"/>
    <p:sldId id="424" r:id="rId31"/>
    <p:sldId id="425" r:id="rId32"/>
    <p:sldId id="427" r:id="rId33"/>
    <p:sldId id="429" r:id="rId34"/>
    <p:sldId id="430" r:id="rId35"/>
    <p:sldId id="431" r:id="rId36"/>
    <p:sldId id="432" r:id="rId37"/>
    <p:sldId id="433" r:id="rId38"/>
    <p:sldId id="488" r:id="rId39"/>
    <p:sldId id="390" r:id="rId40"/>
    <p:sldId id="436" r:id="rId41"/>
    <p:sldId id="438" r:id="rId42"/>
    <p:sldId id="439" r:id="rId43"/>
    <p:sldId id="440" r:id="rId44"/>
    <p:sldId id="442" r:id="rId45"/>
    <p:sldId id="444" r:id="rId46"/>
    <p:sldId id="489" r:id="rId47"/>
    <p:sldId id="490" r:id="rId48"/>
    <p:sldId id="393" r:id="rId49"/>
    <p:sldId id="445" r:id="rId50"/>
    <p:sldId id="446" r:id="rId51"/>
    <p:sldId id="447" r:id="rId52"/>
    <p:sldId id="448" r:id="rId53"/>
    <p:sldId id="452" r:id="rId54"/>
    <p:sldId id="492" r:id="rId55"/>
    <p:sldId id="462" r:id="rId56"/>
    <p:sldId id="467" r:id="rId57"/>
    <p:sldId id="494" r:id="rId58"/>
    <p:sldId id="471" r:id="rId59"/>
    <p:sldId id="394" r:id="rId60"/>
    <p:sldId id="476" r:id="rId61"/>
    <p:sldId id="477" r:id="rId62"/>
    <p:sldId id="478" r:id="rId63"/>
    <p:sldId id="479" r:id="rId64"/>
    <p:sldId id="480" r:id="rId65"/>
    <p:sldId id="481" r:id="rId66"/>
    <p:sldId id="482" r:id="rId67"/>
    <p:sldId id="483" r:id="rId68"/>
    <p:sldId id="484" r:id="rId69"/>
    <p:sldId id="485" r:id="rId70"/>
    <p:sldId id="392" r:id="rId71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DF1FF"/>
    <a:srgbClr val="97E1FF"/>
    <a:srgbClr val="00A4E6"/>
    <a:srgbClr val="5BD0FF"/>
    <a:srgbClr val="29C2FF"/>
    <a:srgbClr val="11BBFF"/>
    <a:srgbClr val="21C0FF"/>
    <a:srgbClr val="ABE7FF"/>
    <a:srgbClr val="B7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8927" autoAdjust="0"/>
  </p:normalViewPr>
  <p:slideViewPr>
    <p:cSldViewPr>
      <p:cViewPr>
        <p:scale>
          <a:sx n="123" d="100"/>
          <a:sy n="123" d="100"/>
        </p:scale>
        <p:origin x="-144" y="870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1111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9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C5A0A5-32C8-49C3-8BF9-3DB36DF7EA66}" type="doc">
      <dgm:prSet loTypeId="urn:microsoft.com/office/officeart/2005/8/layout/cycle5" loCatId="cycle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pPr latinLnBrk="1"/>
          <a:endParaRPr lang="ko-KR" altLang="en-US"/>
        </a:p>
      </dgm:t>
    </dgm:pt>
    <dgm:pt modelId="{C80D2317-4DB1-4ADA-9BCC-3C724751848D}">
      <dgm:prSet phldrT="[텍스트]" custT="1"/>
      <dgm:spPr>
        <a:solidFill>
          <a:schemeClr val="tx2">
            <a:lumMod val="20000"/>
            <a:lumOff val="80000"/>
          </a:schemeClr>
        </a:solidFill>
        <a:ln w="12700">
          <a:solidFill>
            <a:schemeClr val="accent1"/>
          </a:solidFill>
        </a:ln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요구사항 수집 및 분석</a:t>
          </a:r>
          <a:endParaRPr lang="ko-KR" altLang="en-US" sz="1200" dirty="0">
            <a:solidFill>
              <a:schemeClr val="tx1"/>
            </a:solidFill>
            <a:latin typeface="+mn-ea"/>
            <a:ea typeface="+mn-ea"/>
          </a:endParaRPr>
        </a:p>
      </dgm:t>
    </dgm:pt>
    <dgm:pt modelId="{C4218342-8A18-46E2-8897-DD6D597AF5BF}" type="parTrans" cxnId="{6BA2D96A-7880-48F4-AC7A-067CB99BAD2B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970F322D-219A-4571-AF52-EBD2C394B6E2}" type="sibTrans" cxnId="{6BA2D96A-7880-48F4-AC7A-067CB99BAD2B}">
      <dgm:prSet/>
      <dgm:spPr>
        <a:ln>
          <a:solidFill>
            <a:schemeClr val="accent1"/>
          </a:solidFill>
          <a:tailEnd type="triangle"/>
        </a:ln>
      </dgm:spPr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C9B40001-7A29-4AFE-BA11-951E6F297B37}">
      <dgm:prSet phldrT="[텍스트]" custT="1"/>
      <dgm:spPr>
        <a:solidFill>
          <a:schemeClr val="tx2">
            <a:lumMod val="20000"/>
            <a:lumOff val="80000"/>
          </a:schemeClr>
        </a:solidFill>
        <a:ln w="12700">
          <a:solidFill>
            <a:schemeClr val="accent1"/>
          </a:solidFill>
        </a:ln>
      </dgm:spPr>
      <dgm:t>
        <a:bodyPr/>
        <a:lstStyle/>
        <a:p>
          <a:pPr latinLnBrk="1"/>
          <a:r>
            <a:rPr lang="ko-KR" altLang="en-US" sz="1200" dirty="0" smtClean="0">
              <a:solidFill>
                <a:schemeClr val="tx1"/>
              </a:solidFill>
            </a:rPr>
            <a:t>설계</a:t>
          </a:r>
          <a:endParaRPr lang="ko-KR" altLang="en-US" sz="1200" dirty="0">
            <a:solidFill>
              <a:schemeClr val="tx1"/>
            </a:solidFill>
          </a:endParaRPr>
        </a:p>
      </dgm:t>
    </dgm:pt>
    <dgm:pt modelId="{8222BF82-E80D-4649-A326-D61D9D038559}" type="parTrans" cxnId="{934A8C39-62B6-47E6-ACBC-0F9E803BE967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D9061495-0912-47F2-9D0B-E1DFC91D4FB0}" type="sibTrans" cxnId="{934A8C39-62B6-47E6-ACBC-0F9E803BE967}">
      <dgm:prSet/>
      <dgm:spPr>
        <a:ln>
          <a:solidFill>
            <a:schemeClr val="accent1"/>
          </a:solidFill>
          <a:tailEnd type="triangle"/>
        </a:ln>
      </dgm:spPr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F7C0D987-ED0E-4904-9040-43E64445B3B2}">
      <dgm:prSet phldrT="[텍스트]" custT="1"/>
      <dgm:spPr>
        <a:solidFill>
          <a:schemeClr val="tx2">
            <a:lumMod val="20000"/>
            <a:lumOff val="80000"/>
          </a:schemeClr>
        </a:solidFill>
        <a:ln w="12700">
          <a:solidFill>
            <a:schemeClr val="accent1"/>
          </a:solidFill>
        </a:ln>
      </dgm:spPr>
      <dgm:t>
        <a:bodyPr/>
        <a:lstStyle/>
        <a:p>
          <a:pPr latinLnBrk="1"/>
          <a:r>
            <a:rPr lang="ko-KR" altLang="en-US" sz="1200" dirty="0" smtClean="0">
              <a:solidFill>
                <a:schemeClr val="tx1"/>
              </a:solidFill>
            </a:rPr>
            <a:t>구현</a:t>
          </a:r>
          <a:endParaRPr lang="ko-KR" altLang="en-US" sz="1200" dirty="0">
            <a:solidFill>
              <a:schemeClr val="tx1"/>
            </a:solidFill>
          </a:endParaRPr>
        </a:p>
      </dgm:t>
    </dgm:pt>
    <dgm:pt modelId="{73453CE1-2753-46F7-946E-C9DBA62F93A3}" type="parTrans" cxnId="{06D3D112-CB0F-4D63-BF7C-7ED9CF18F2D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61F52E54-2FC3-4921-9DB2-D92486387DCC}" type="sibTrans" cxnId="{06D3D112-CB0F-4D63-BF7C-7ED9CF18F2DF}">
      <dgm:prSet/>
      <dgm:spPr>
        <a:ln>
          <a:solidFill>
            <a:schemeClr val="accent1"/>
          </a:solidFill>
          <a:tailEnd type="triangle"/>
        </a:ln>
      </dgm:spPr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5BDD9537-3788-4A2E-B1D0-78AE687D74C3}">
      <dgm:prSet phldrT="[텍스트]" custT="1"/>
      <dgm:spPr>
        <a:solidFill>
          <a:schemeClr val="tx2">
            <a:lumMod val="20000"/>
            <a:lumOff val="80000"/>
          </a:schemeClr>
        </a:solidFill>
        <a:ln w="12700">
          <a:solidFill>
            <a:schemeClr val="accent1"/>
          </a:solidFill>
        </a:ln>
      </dgm:spPr>
      <dgm:t>
        <a:bodyPr/>
        <a:lstStyle/>
        <a:p>
          <a:pPr latinLnBrk="1"/>
          <a:r>
            <a:rPr lang="ko-KR" altLang="en-US" sz="1200" dirty="0" smtClean="0">
              <a:solidFill>
                <a:schemeClr val="tx1"/>
              </a:solidFill>
            </a:rPr>
            <a:t>운영</a:t>
          </a:r>
          <a:endParaRPr lang="ko-KR" altLang="en-US" sz="1200" dirty="0">
            <a:solidFill>
              <a:schemeClr val="tx1"/>
            </a:solidFill>
          </a:endParaRPr>
        </a:p>
      </dgm:t>
    </dgm:pt>
    <dgm:pt modelId="{2B9D6434-186D-4887-999F-318B621F3E13}" type="parTrans" cxnId="{7CD91EE0-E17E-4588-8F0D-7199CDAAA70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66CF61A4-F1E4-45A3-B8F1-8E8E467B96C4}" type="sibTrans" cxnId="{7CD91EE0-E17E-4588-8F0D-7199CDAAA70D}">
      <dgm:prSet/>
      <dgm:spPr>
        <a:ln>
          <a:solidFill>
            <a:schemeClr val="accent1"/>
          </a:solidFill>
          <a:tailEnd type="triangle"/>
        </a:ln>
      </dgm:spPr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7EB3B915-D25A-412A-8019-98877DE9AD32}">
      <dgm:prSet phldrT="[텍스트]" custT="1"/>
      <dgm:spPr>
        <a:solidFill>
          <a:schemeClr val="tx2">
            <a:lumMod val="20000"/>
            <a:lumOff val="80000"/>
          </a:schemeClr>
        </a:solidFill>
        <a:ln w="12700">
          <a:solidFill>
            <a:schemeClr val="accent1"/>
          </a:solidFill>
        </a:ln>
      </dgm:spPr>
      <dgm:t>
        <a:bodyPr/>
        <a:lstStyle/>
        <a:p>
          <a:pPr latinLnBrk="1"/>
          <a:r>
            <a:rPr lang="ko-KR" altLang="en-US" sz="1200" dirty="0" smtClean="0">
              <a:solidFill>
                <a:schemeClr val="tx1"/>
              </a:solidFill>
            </a:rPr>
            <a:t>감시 및 개선</a:t>
          </a:r>
          <a:endParaRPr lang="ko-KR" altLang="en-US" sz="1200" dirty="0">
            <a:solidFill>
              <a:schemeClr val="tx1"/>
            </a:solidFill>
          </a:endParaRPr>
        </a:p>
      </dgm:t>
    </dgm:pt>
    <dgm:pt modelId="{9C42C519-BAB6-4FC9-B12B-66D973623729}" type="parTrans" cxnId="{1BA25C7E-2AEF-4FA2-9A1D-C9ADF9C8853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2E037650-FFA1-421D-B660-D450C438B8C9}" type="sibTrans" cxnId="{1BA25C7E-2AEF-4FA2-9A1D-C9ADF9C88535}">
      <dgm:prSet/>
      <dgm:spPr>
        <a:ln>
          <a:solidFill>
            <a:schemeClr val="accent1"/>
          </a:solidFill>
          <a:tailEnd type="triangle"/>
        </a:ln>
      </dgm:spPr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C24311D3-BC57-474E-BF8F-764C20061C0B}" type="pres">
      <dgm:prSet presAssocID="{03C5A0A5-32C8-49C3-8BF9-3DB36DF7EA6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1D711AF-4F84-43C9-8F49-5B92D211CD6F}" type="pres">
      <dgm:prSet presAssocID="{C80D2317-4DB1-4ADA-9BCC-3C724751848D}" presName="node" presStyleLbl="node1" presStyleIdx="0" presStyleCnt="5" custScaleY="6542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99C3B69-2F96-4570-AA9A-D251AF0185E1}" type="pres">
      <dgm:prSet presAssocID="{C80D2317-4DB1-4ADA-9BCC-3C724751848D}" presName="spNode" presStyleCnt="0"/>
      <dgm:spPr/>
    </dgm:pt>
    <dgm:pt modelId="{8761BBDA-3B05-4687-9A1C-29DE0E240D65}" type="pres">
      <dgm:prSet presAssocID="{970F322D-219A-4571-AF52-EBD2C394B6E2}" presName="sibTrans" presStyleLbl="sibTrans1D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8CC3B448-CF42-44E7-B5C9-B46845E6E5B8}" type="pres">
      <dgm:prSet presAssocID="{C9B40001-7A29-4AFE-BA11-951E6F297B37}" presName="node" presStyleLbl="node1" presStyleIdx="1" presStyleCnt="5" custScaleY="40077" custRadScaleRad="108749" custRadScaleInc="1759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5483D5B-1B87-4CC7-AED1-600A053D1CE4}" type="pres">
      <dgm:prSet presAssocID="{C9B40001-7A29-4AFE-BA11-951E6F297B37}" presName="spNode" presStyleCnt="0"/>
      <dgm:spPr/>
    </dgm:pt>
    <dgm:pt modelId="{4BB6FCDB-A32C-40D1-8A36-757631EFE52C}" type="pres">
      <dgm:prSet presAssocID="{D9061495-0912-47F2-9D0B-E1DFC91D4FB0}" presName="sibTrans" presStyleLbl="sibTrans1D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E15DFB26-57D7-4A96-A446-A723CA0DD8F3}" type="pres">
      <dgm:prSet presAssocID="{F7C0D987-ED0E-4904-9040-43E64445B3B2}" presName="node" presStyleLbl="node1" presStyleIdx="2" presStyleCnt="5" custScaleY="40077" custRadScaleRad="103937" custRadScaleInc="-2589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B2B3E23-753E-41B7-B327-14786342EA61}" type="pres">
      <dgm:prSet presAssocID="{F7C0D987-ED0E-4904-9040-43E64445B3B2}" presName="spNode" presStyleCnt="0"/>
      <dgm:spPr/>
    </dgm:pt>
    <dgm:pt modelId="{159A9AB9-A95E-42E0-BE7E-4709F71646E5}" type="pres">
      <dgm:prSet presAssocID="{61F52E54-2FC3-4921-9DB2-D92486387DCC}" presName="sibTrans" presStyleLbl="sibTrans1D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2DA30297-C0A3-4236-9AE9-D90FA611E385}" type="pres">
      <dgm:prSet presAssocID="{5BDD9537-3788-4A2E-B1D0-78AE687D74C3}" presName="node" presStyleLbl="node1" presStyleIdx="3" presStyleCnt="5" custScaleY="40077" custRadScaleRad="103889" custRadScaleInc="2577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9B5EE74-5928-4CB8-ACC9-B5C92D875183}" type="pres">
      <dgm:prSet presAssocID="{5BDD9537-3788-4A2E-B1D0-78AE687D74C3}" presName="spNode" presStyleCnt="0"/>
      <dgm:spPr/>
    </dgm:pt>
    <dgm:pt modelId="{AD16FFF2-4DEC-4B0E-B9CF-899794AB09DC}" type="pres">
      <dgm:prSet presAssocID="{66CF61A4-F1E4-45A3-B8F1-8E8E467B96C4}" presName="sibTrans" presStyleLbl="sibTrans1D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294D2532-6D86-4C22-8116-685A995D6316}" type="pres">
      <dgm:prSet presAssocID="{7EB3B915-D25A-412A-8019-98877DE9AD32}" presName="node" presStyleLbl="node1" presStyleIdx="4" presStyleCnt="5" custScaleY="40077" custRadScaleRad="106778" custRadScaleInc="-2677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00F6D7E-46F7-4AA9-85F7-E4A5C3677CA9}" type="pres">
      <dgm:prSet presAssocID="{7EB3B915-D25A-412A-8019-98877DE9AD32}" presName="spNode" presStyleCnt="0"/>
      <dgm:spPr/>
    </dgm:pt>
    <dgm:pt modelId="{95E0A1A6-AD0A-4787-91A0-1FE847A7DFE4}" type="pres">
      <dgm:prSet presAssocID="{2E037650-FFA1-421D-B660-D450C438B8C9}" presName="sibTrans" presStyleLbl="sibTrans1D1" presStyleIdx="4" presStyleCnt="5"/>
      <dgm:spPr/>
      <dgm:t>
        <a:bodyPr/>
        <a:lstStyle/>
        <a:p>
          <a:pPr latinLnBrk="1"/>
          <a:endParaRPr lang="ko-KR" altLang="en-US"/>
        </a:p>
      </dgm:t>
    </dgm:pt>
  </dgm:ptLst>
  <dgm:cxnLst>
    <dgm:cxn modelId="{45D92F25-5D16-4DE5-8DF2-B522ED1E0E5F}" type="presOf" srcId="{03C5A0A5-32C8-49C3-8BF9-3DB36DF7EA66}" destId="{C24311D3-BC57-474E-BF8F-764C20061C0B}" srcOrd="0" destOrd="0" presId="urn:microsoft.com/office/officeart/2005/8/layout/cycle5"/>
    <dgm:cxn modelId="{B7D832BC-006E-48B7-8249-9D009A6C4AFA}" type="presOf" srcId="{C9B40001-7A29-4AFE-BA11-951E6F297B37}" destId="{8CC3B448-CF42-44E7-B5C9-B46845E6E5B8}" srcOrd="0" destOrd="0" presId="urn:microsoft.com/office/officeart/2005/8/layout/cycle5"/>
    <dgm:cxn modelId="{02AB569A-E479-4FFC-85E0-D9BD6FD08BCA}" type="presOf" srcId="{D9061495-0912-47F2-9D0B-E1DFC91D4FB0}" destId="{4BB6FCDB-A32C-40D1-8A36-757631EFE52C}" srcOrd="0" destOrd="0" presId="urn:microsoft.com/office/officeart/2005/8/layout/cycle5"/>
    <dgm:cxn modelId="{06D3D112-CB0F-4D63-BF7C-7ED9CF18F2DF}" srcId="{03C5A0A5-32C8-49C3-8BF9-3DB36DF7EA66}" destId="{F7C0D987-ED0E-4904-9040-43E64445B3B2}" srcOrd="2" destOrd="0" parTransId="{73453CE1-2753-46F7-946E-C9DBA62F93A3}" sibTransId="{61F52E54-2FC3-4921-9DB2-D92486387DCC}"/>
    <dgm:cxn modelId="{3368D7B0-A72F-47DD-B3AC-CA3353FA953F}" type="presOf" srcId="{F7C0D987-ED0E-4904-9040-43E64445B3B2}" destId="{E15DFB26-57D7-4A96-A446-A723CA0DD8F3}" srcOrd="0" destOrd="0" presId="urn:microsoft.com/office/officeart/2005/8/layout/cycle5"/>
    <dgm:cxn modelId="{934A8C39-62B6-47E6-ACBC-0F9E803BE967}" srcId="{03C5A0A5-32C8-49C3-8BF9-3DB36DF7EA66}" destId="{C9B40001-7A29-4AFE-BA11-951E6F297B37}" srcOrd="1" destOrd="0" parTransId="{8222BF82-E80D-4649-A326-D61D9D038559}" sibTransId="{D9061495-0912-47F2-9D0B-E1DFC91D4FB0}"/>
    <dgm:cxn modelId="{FCBB52F9-E40A-44B2-935B-DF4EEFFEADE8}" type="presOf" srcId="{66CF61A4-F1E4-45A3-B8F1-8E8E467B96C4}" destId="{AD16FFF2-4DEC-4B0E-B9CF-899794AB09DC}" srcOrd="0" destOrd="0" presId="urn:microsoft.com/office/officeart/2005/8/layout/cycle5"/>
    <dgm:cxn modelId="{6BA2D96A-7880-48F4-AC7A-067CB99BAD2B}" srcId="{03C5A0A5-32C8-49C3-8BF9-3DB36DF7EA66}" destId="{C80D2317-4DB1-4ADA-9BCC-3C724751848D}" srcOrd="0" destOrd="0" parTransId="{C4218342-8A18-46E2-8897-DD6D597AF5BF}" sibTransId="{970F322D-219A-4571-AF52-EBD2C394B6E2}"/>
    <dgm:cxn modelId="{81E85702-AC85-4B16-ACD0-5C3213937B21}" type="presOf" srcId="{2E037650-FFA1-421D-B660-D450C438B8C9}" destId="{95E0A1A6-AD0A-4787-91A0-1FE847A7DFE4}" srcOrd="0" destOrd="0" presId="urn:microsoft.com/office/officeart/2005/8/layout/cycle5"/>
    <dgm:cxn modelId="{D4BDABE8-7F05-4BBB-A70A-4BC8BD8C9B44}" type="presOf" srcId="{5BDD9537-3788-4A2E-B1D0-78AE687D74C3}" destId="{2DA30297-C0A3-4236-9AE9-D90FA611E385}" srcOrd="0" destOrd="0" presId="urn:microsoft.com/office/officeart/2005/8/layout/cycle5"/>
    <dgm:cxn modelId="{A58C1ECB-650D-46ED-A0BD-E1069966F8F3}" type="presOf" srcId="{7EB3B915-D25A-412A-8019-98877DE9AD32}" destId="{294D2532-6D86-4C22-8116-685A995D6316}" srcOrd="0" destOrd="0" presId="urn:microsoft.com/office/officeart/2005/8/layout/cycle5"/>
    <dgm:cxn modelId="{6C788FE3-F6B6-4116-969E-D34BECA99E58}" type="presOf" srcId="{61F52E54-2FC3-4921-9DB2-D92486387DCC}" destId="{159A9AB9-A95E-42E0-BE7E-4709F71646E5}" srcOrd="0" destOrd="0" presId="urn:microsoft.com/office/officeart/2005/8/layout/cycle5"/>
    <dgm:cxn modelId="{1BA25C7E-2AEF-4FA2-9A1D-C9ADF9C88535}" srcId="{03C5A0A5-32C8-49C3-8BF9-3DB36DF7EA66}" destId="{7EB3B915-D25A-412A-8019-98877DE9AD32}" srcOrd="4" destOrd="0" parTransId="{9C42C519-BAB6-4FC9-B12B-66D973623729}" sibTransId="{2E037650-FFA1-421D-B660-D450C438B8C9}"/>
    <dgm:cxn modelId="{7CD91EE0-E17E-4588-8F0D-7199CDAAA70D}" srcId="{03C5A0A5-32C8-49C3-8BF9-3DB36DF7EA66}" destId="{5BDD9537-3788-4A2E-B1D0-78AE687D74C3}" srcOrd="3" destOrd="0" parTransId="{2B9D6434-186D-4887-999F-318B621F3E13}" sibTransId="{66CF61A4-F1E4-45A3-B8F1-8E8E467B96C4}"/>
    <dgm:cxn modelId="{E85FD303-0CBC-4C66-AA41-B8D9A13FDF74}" type="presOf" srcId="{970F322D-219A-4571-AF52-EBD2C394B6E2}" destId="{8761BBDA-3B05-4687-9A1C-29DE0E240D65}" srcOrd="0" destOrd="0" presId="urn:microsoft.com/office/officeart/2005/8/layout/cycle5"/>
    <dgm:cxn modelId="{0C84EAA3-8B63-4FB7-B582-265DABC0A94C}" type="presOf" srcId="{C80D2317-4DB1-4ADA-9BCC-3C724751848D}" destId="{61D711AF-4F84-43C9-8F49-5B92D211CD6F}" srcOrd="0" destOrd="0" presId="urn:microsoft.com/office/officeart/2005/8/layout/cycle5"/>
    <dgm:cxn modelId="{FAC5C2A4-2A0C-44C9-B4AA-EE9EB0D43AFF}" type="presParOf" srcId="{C24311D3-BC57-474E-BF8F-764C20061C0B}" destId="{61D711AF-4F84-43C9-8F49-5B92D211CD6F}" srcOrd="0" destOrd="0" presId="urn:microsoft.com/office/officeart/2005/8/layout/cycle5"/>
    <dgm:cxn modelId="{426A6AD6-AFE8-4AC6-869B-8E5D267FCAA3}" type="presParOf" srcId="{C24311D3-BC57-474E-BF8F-764C20061C0B}" destId="{A99C3B69-2F96-4570-AA9A-D251AF0185E1}" srcOrd="1" destOrd="0" presId="urn:microsoft.com/office/officeart/2005/8/layout/cycle5"/>
    <dgm:cxn modelId="{982A13A6-2B9B-4643-8E20-613DD574859E}" type="presParOf" srcId="{C24311D3-BC57-474E-BF8F-764C20061C0B}" destId="{8761BBDA-3B05-4687-9A1C-29DE0E240D65}" srcOrd="2" destOrd="0" presId="urn:microsoft.com/office/officeart/2005/8/layout/cycle5"/>
    <dgm:cxn modelId="{D5F1F1D9-D0BA-48F0-B875-5C3FD662CF7C}" type="presParOf" srcId="{C24311D3-BC57-474E-BF8F-764C20061C0B}" destId="{8CC3B448-CF42-44E7-B5C9-B46845E6E5B8}" srcOrd="3" destOrd="0" presId="urn:microsoft.com/office/officeart/2005/8/layout/cycle5"/>
    <dgm:cxn modelId="{46E56FA6-6CE3-4A34-860E-429E1330EA9E}" type="presParOf" srcId="{C24311D3-BC57-474E-BF8F-764C20061C0B}" destId="{A5483D5B-1B87-4CC7-AED1-600A053D1CE4}" srcOrd="4" destOrd="0" presId="urn:microsoft.com/office/officeart/2005/8/layout/cycle5"/>
    <dgm:cxn modelId="{F2173084-321B-40E7-AB29-5D20EDA0B477}" type="presParOf" srcId="{C24311D3-BC57-474E-BF8F-764C20061C0B}" destId="{4BB6FCDB-A32C-40D1-8A36-757631EFE52C}" srcOrd="5" destOrd="0" presId="urn:microsoft.com/office/officeart/2005/8/layout/cycle5"/>
    <dgm:cxn modelId="{55F9031E-50B6-4D3A-A494-C0B782D7C018}" type="presParOf" srcId="{C24311D3-BC57-474E-BF8F-764C20061C0B}" destId="{E15DFB26-57D7-4A96-A446-A723CA0DD8F3}" srcOrd="6" destOrd="0" presId="urn:microsoft.com/office/officeart/2005/8/layout/cycle5"/>
    <dgm:cxn modelId="{CA51E543-5712-45EE-A152-4AF2DB1C83B3}" type="presParOf" srcId="{C24311D3-BC57-474E-BF8F-764C20061C0B}" destId="{4B2B3E23-753E-41B7-B327-14786342EA61}" srcOrd="7" destOrd="0" presId="urn:microsoft.com/office/officeart/2005/8/layout/cycle5"/>
    <dgm:cxn modelId="{455B1A35-8B28-442B-A3EC-62FD20140CDB}" type="presParOf" srcId="{C24311D3-BC57-474E-BF8F-764C20061C0B}" destId="{159A9AB9-A95E-42E0-BE7E-4709F71646E5}" srcOrd="8" destOrd="0" presId="urn:microsoft.com/office/officeart/2005/8/layout/cycle5"/>
    <dgm:cxn modelId="{E018C015-8F40-438B-A054-1130D1C60B05}" type="presParOf" srcId="{C24311D3-BC57-474E-BF8F-764C20061C0B}" destId="{2DA30297-C0A3-4236-9AE9-D90FA611E385}" srcOrd="9" destOrd="0" presId="urn:microsoft.com/office/officeart/2005/8/layout/cycle5"/>
    <dgm:cxn modelId="{37BA6CA6-D042-4B21-B871-98FE0086F0C4}" type="presParOf" srcId="{C24311D3-BC57-474E-BF8F-764C20061C0B}" destId="{29B5EE74-5928-4CB8-ACC9-B5C92D875183}" srcOrd="10" destOrd="0" presId="urn:microsoft.com/office/officeart/2005/8/layout/cycle5"/>
    <dgm:cxn modelId="{A7272B0C-7DE7-4193-8986-25501F07EAC2}" type="presParOf" srcId="{C24311D3-BC57-474E-BF8F-764C20061C0B}" destId="{AD16FFF2-4DEC-4B0E-B9CF-899794AB09DC}" srcOrd="11" destOrd="0" presId="urn:microsoft.com/office/officeart/2005/8/layout/cycle5"/>
    <dgm:cxn modelId="{810E6A49-A2BD-4E6A-86CC-F23595159679}" type="presParOf" srcId="{C24311D3-BC57-474E-BF8F-764C20061C0B}" destId="{294D2532-6D86-4C22-8116-685A995D6316}" srcOrd="12" destOrd="0" presId="urn:microsoft.com/office/officeart/2005/8/layout/cycle5"/>
    <dgm:cxn modelId="{DEC6E827-97E7-414A-B091-6A557F7B054D}" type="presParOf" srcId="{C24311D3-BC57-474E-BF8F-764C20061C0B}" destId="{000F6D7E-46F7-4AA9-85F7-E4A5C3677CA9}" srcOrd="13" destOrd="0" presId="urn:microsoft.com/office/officeart/2005/8/layout/cycle5"/>
    <dgm:cxn modelId="{2931DB74-DC66-4DBD-9C48-21034715A1F3}" type="presParOf" srcId="{C24311D3-BC57-474E-BF8F-764C20061C0B}" destId="{95E0A1A6-AD0A-4787-91A0-1FE847A7DFE4}" srcOrd="14" destOrd="0" presId="urn:microsoft.com/office/officeart/2005/8/layout/cycle5"/>
  </dgm:cxnLst>
  <dgm:bg/>
  <dgm:whole>
    <a:ln w="76200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711AF-4F84-43C9-8F49-5B92D211CD6F}">
      <dsp:nvSpPr>
        <dsp:cNvPr id="0" name=""/>
        <dsp:cNvSpPr/>
      </dsp:nvSpPr>
      <dsp:spPr>
        <a:xfrm>
          <a:off x="2260094" y="71817"/>
          <a:ext cx="1240450" cy="527476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요구사항 수집 및 분석</a:t>
          </a:r>
          <a:endParaRPr lang="ko-KR" altLang="en-US" sz="1200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2285843" y="97566"/>
        <a:ext cx="1188952" cy="475978"/>
      </dsp:txXfrm>
    </dsp:sp>
    <dsp:sp modelId="{8761BBDA-3B05-4687-9A1C-29DE0E240D65}">
      <dsp:nvSpPr>
        <dsp:cNvPr id="0" name=""/>
        <dsp:cNvSpPr/>
      </dsp:nvSpPr>
      <dsp:spPr>
        <a:xfrm>
          <a:off x="1445656" y="397097"/>
          <a:ext cx="3219740" cy="3219740"/>
        </a:xfrm>
        <a:custGeom>
          <a:avLst/>
          <a:gdLst/>
          <a:ahLst/>
          <a:cxnLst/>
          <a:rect l="0" t="0" r="0" b="0"/>
          <a:pathLst>
            <a:path>
              <a:moveTo>
                <a:pt x="2311252" y="160820"/>
              </a:moveTo>
              <a:arcTo wR="1609870" hR="1609870" stAng="17749701" swAng="1857867"/>
            </a:path>
          </a:pathLst>
        </a:custGeom>
        <a:noFill/>
        <a:ln w="9525" cap="flat" cmpd="sng" algn="ctr">
          <a:solidFill>
            <a:schemeClr val="accent1"/>
          </a:solidFill>
          <a:prstDash val="solid"/>
          <a:tailEnd type="triangle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C3B448-CF42-44E7-B5C9-B46845E6E5B8}">
      <dsp:nvSpPr>
        <dsp:cNvPr id="0" name=""/>
        <dsp:cNvSpPr/>
      </dsp:nvSpPr>
      <dsp:spPr>
        <a:xfrm>
          <a:off x="3960444" y="1366936"/>
          <a:ext cx="1240450" cy="323137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</a:rPr>
            <a:t>설계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>
        <a:off x="3976218" y="1382710"/>
        <a:ext cx="1208902" cy="291589"/>
      </dsp:txXfrm>
    </dsp:sp>
    <dsp:sp modelId="{4BB6FCDB-A32C-40D1-8A36-757631EFE52C}">
      <dsp:nvSpPr>
        <dsp:cNvPr id="0" name=""/>
        <dsp:cNvSpPr/>
      </dsp:nvSpPr>
      <dsp:spPr>
        <a:xfrm>
          <a:off x="1405244" y="281774"/>
          <a:ext cx="3219740" cy="3219740"/>
        </a:xfrm>
        <a:custGeom>
          <a:avLst/>
          <a:gdLst/>
          <a:ahLst/>
          <a:cxnLst/>
          <a:rect l="0" t="0" r="0" b="0"/>
          <a:pathLst>
            <a:path>
              <a:moveTo>
                <a:pt x="3217781" y="1689255"/>
              </a:moveTo>
              <a:arcTo wR="1609870" hR="1609870" stAng="21769591" swAng="1908544"/>
            </a:path>
          </a:pathLst>
        </a:custGeom>
        <a:noFill/>
        <a:ln w="9525" cap="flat" cmpd="sng" algn="ctr">
          <a:solidFill>
            <a:schemeClr val="accent1"/>
          </a:solidFill>
          <a:prstDash val="solid"/>
          <a:tailEnd type="triangle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5DFB26-57D7-4A96-A446-A723CA0DD8F3}">
      <dsp:nvSpPr>
        <dsp:cNvPr id="0" name=""/>
        <dsp:cNvSpPr/>
      </dsp:nvSpPr>
      <dsp:spPr>
        <a:xfrm>
          <a:off x="3384371" y="3023118"/>
          <a:ext cx="1240450" cy="323137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</a:rPr>
            <a:t>구현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>
        <a:off x="3400145" y="3038892"/>
        <a:ext cx="1208902" cy="291589"/>
      </dsp:txXfrm>
    </dsp:sp>
    <dsp:sp modelId="{159A9AB9-A95E-42E0-BE7E-4709F71646E5}">
      <dsp:nvSpPr>
        <dsp:cNvPr id="0" name=""/>
        <dsp:cNvSpPr/>
      </dsp:nvSpPr>
      <dsp:spPr>
        <a:xfrm>
          <a:off x="1271157" y="411421"/>
          <a:ext cx="3219740" cy="3219740"/>
        </a:xfrm>
        <a:custGeom>
          <a:avLst/>
          <a:gdLst/>
          <a:ahLst/>
          <a:cxnLst/>
          <a:rect l="0" t="0" r="0" b="0"/>
          <a:pathLst>
            <a:path>
              <a:moveTo>
                <a:pt x="2202332" y="3106756"/>
              </a:moveTo>
              <a:arcTo wR="1609870" hR="1609870" stAng="4104390" swAng="2591195"/>
            </a:path>
          </a:pathLst>
        </a:custGeom>
        <a:noFill/>
        <a:ln w="9525" cap="flat" cmpd="sng" algn="ctr">
          <a:solidFill>
            <a:schemeClr val="accent1"/>
          </a:solidFill>
          <a:prstDash val="solid"/>
          <a:tailEnd type="triangle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A30297-C0A3-4236-9AE9-D90FA611E385}">
      <dsp:nvSpPr>
        <dsp:cNvPr id="0" name=""/>
        <dsp:cNvSpPr/>
      </dsp:nvSpPr>
      <dsp:spPr>
        <a:xfrm>
          <a:off x="1136975" y="3023125"/>
          <a:ext cx="1240450" cy="323137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</a:rPr>
            <a:t>운영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>
        <a:off x="1152749" y="3038899"/>
        <a:ext cx="1208902" cy="291589"/>
      </dsp:txXfrm>
    </dsp:sp>
    <dsp:sp modelId="{AD16FFF2-4DEC-4B0E-B9CF-899794AB09DC}">
      <dsp:nvSpPr>
        <dsp:cNvPr id="0" name=""/>
        <dsp:cNvSpPr/>
      </dsp:nvSpPr>
      <dsp:spPr>
        <a:xfrm>
          <a:off x="1163433" y="309524"/>
          <a:ext cx="3219740" cy="3219740"/>
        </a:xfrm>
        <a:custGeom>
          <a:avLst/>
          <a:gdLst/>
          <a:ahLst/>
          <a:cxnLst/>
          <a:rect l="0" t="0" r="0" b="0"/>
          <a:pathLst>
            <a:path>
              <a:moveTo>
                <a:pt x="272074" y="2505406"/>
              </a:moveTo>
              <a:arcTo wR="1609870" hR="1609870" stAng="8772069" swAng="1795335"/>
            </a:path>
          </a:pathLst>
        </a:custGeom>
        <a:noFill/>
        <a:ln w="9525" cap="flat" cmpd="sng" algn="ctr">
          <a:solidFill>
            <a:schemeClr val="accent1"/>
          </a:solidFill>
          <a:prstDash val="solid"/>
          <a:tailEnd type="triangle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4D2532-6D86-4C22-8116-685A995D6316}">
      <dsp:nvSpPr>
        <dsp:cNvPr id="0" name=""/>
        <dsp:cNvSpPr/>
      </dsp:nvSpPr>
      <dsp:spPr>
        <a:xfrm>
          <a:off x="576065" y="1438949"/>
          <a:ext cx="1240450" cy="323137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</a:rPr>
            <a:t>감시 및 개선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>
        <a:off x="591839" y="1454723"/>
        <a:ext cx="1208902" cy="291589"/>
      </dsp:txXfrm>
    </dsp:sp>
    <dsp:sp modelId="{95E0A1A6-AD0A-4787-91A0-1FE847A7DFE4}">
      <dsp:nvSpPr>
        <dsp:cNvPr id="0" name=""/>
        <dsp:cNvSpPr/>
      </dsp:nvSpPr>
      <dsp:spPr>
        <a:xfrm>
          <a:off x="1139041" y="383822"/>
          <a:ext cx="3219740" cy="3219740"/>
        </a:xfrm>
        <a:custGeom>
          <a:avLst/>
          <a:gdLst/>
          <a:ahLst/>
          <a:cxnLst/>
          <a:rect l="0" t="0" r="0" b="0"/>
          <a:pathLst>
            <a:path>
              <a:moveTo>
                <a:pt x="218972" y="799261"/>
              </a:moveTo>
              <a:arcTo wR="1609870" hR="1609870" stAng="12614005" swAng="1920817"/>
            </a:path>
          </a:pathLst>
        </a:custGeom>
        <a:noFill/>
        <a:ln w="9525" cap="flat" cmpd="sng" algn="ctr">
          <a:solidFill>
            <a:schemeClr val="accent1"/>
          </a:solidFill>
          <a:prstDash val="solid"/>
          <a:tailEnd type="triangle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48182-79EE-4B02-9AA5-EF29C5299923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6372200" cy="6858000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42967"/>
            <a:ext cx="2771800" cy="5622321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323528" y="4689058"/>
            <a:ext cx="8229600" cy="1332230"/>
          </a:xfrm>
        </p:spPr>
        <p:txBody>
          <a:bodyPr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6516211"/>
            <a:ext cx="1558694" cy="23062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30805" y="6269130"/>
            <a:ext cx="36663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baseline="0" dirty="0" err="1" smtClean="0">
                <a:latin typeface="+mn-lt"/>
                <a:ea typeface="+mn-ea"/>
              </a:rPr>
              <a:t>오라클로</a:t>
            </a:r>
            <a:r>
              <a:rPr kumimoji="0" lang="ko-KR" altLang="en-US" sz="1400" b="1" baseline="0" dirty="0" smtClean="0">
                <a:latin typeface="+mn-lt"/>
                <a:ea typeface="+mn-ea"/>
              </a:rPr>
              <a:t> 배우는 데이터베이스 개론과 실습</a:t>
            </a:r>
            <a:endParaRPr kumimoji="0" lang="ko-KR" altLang="en-US" sz="1400" b="1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0" y="0"/>
            <a:ext cx="6372200" cy="6858000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42967"/>
            <a:ext cx="2771800" cy="562232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56810" y="3573016"/>
            <a:ext cx="6143382" cy="1902073"/>
          </a:xfrm>
        </p:spPr>
        <p:txBody>
          <a:bodyPr/>
          <a:lstStyle>
            <a:lvl1pPr algn="l"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감사합니다</a:t>
            </a:r>
            <a:endParaRPr lang="ko-KR" altLang="en-US" dirty="0"/>
          </a:p>
        </p:txBody>
      </p:sp>
      <p:sp>
        <p:nvSpPr>
          <p:cNvPr id="15" name="직사각형 10"/>
          <p:cNvSpPr/>
          <p:nvPr userDrawn="1"/>
        </p:nvSpPr>
        <p:spPr>
          <a:xfrm>
            <a:off x="-180975" y="6091238"/>
            <a:ext cx="10729913" cy="698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30805" y="6269130"/>
            <a:ext cx="36663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baseline="0" dirty="0" err="1" smtClean="0">
                <a:latin typeface="+mn-lt"/>
                <a:ea typeface="+mn-ea"/>
              </a:rPr>
              <a:t>오라클로</a:t>
            </a:r>
            <a:r>
              <a:rPr kumimoji="0" lang="ko-KR" altLang="en-US" sz="1400" b="1" baseline="0" dirty="0" smtClean="0">
                <a:latin typeface="+mn-lt"/>
                <a:ea typeface="+mn-ea"/>
              </a:rPr>
              <a:t> 배우는 데이터베이스 개론과 실습</a:t>
            </a:r>
            <a:endParaRPr kumimoji="0" lang="ko-KR" altLang="en-US" sz="1400" b="1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018581"/>
            <a:ext cx="121602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7" name="TextBox 7"/>
          <p:cNvSpPr txBox="1"/>
          <p:nvPr userDrawn="1"/>
        </p:nvSpPr>
        <p:spPr>
          <a:xfrm>
            <a:off x="634256" y="2276872"/>
            <a:ext cx="7991475" cy="9848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[</a:t>
            </a:r>
            <a:r>
              <a:rPr kumimoji="0"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강의교안 이용 안내</a:t>
            </a: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]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ea typeface="맑은 고딕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dirty="0">
                <a:ea typeface="맑은 고딕" pitchFamily="50" charset="-127"/>
              </a:rPr>
              <a:t>본 강의교안의 저작권은 </a:t>
            </a:r>
            <a:r>
              <a:rPr kumimoji="0" lang="ko-KR" altLang="en-US" sz="1000" dirty="0" err="1" smtClean="0">
                <a:ea typeface="맑은 고딕" pitchFamily="50" charset="-127"/>
              </a:rPr>
              <a:t>한빛아카데미</a:t>
            </a:r>
            <a:r>
              <a:rPr kumimoji="0" lang="ko-KR" altLang="en-US" sz="1000" dirty="0" smtClean="0">
                <a:ea typeface="맑은 고딕" pitchFamily="50" charset="-127"/>
              </a:rPr>
              <a:t>㈜</a:t>
            </a:r>
            <a:r>
              <a:rPr kumimoji="0" lang="ko-KR" altLang="en-US" sz="1000" dirty="0">
                <a:ea typeface="맑은 고딕" pitchFamily="50" charset="-127"/>
              </a:rPr>
              <a:t>에 있습니다</a:t>
            </a:r>
            <a:r>
              <a:rPr kumimoji="0" lang="en-US" altLang="ko-KR" sz="1000" dirty="0">
                <a:ea typeface="맑은 고딕" pitchFamily="50" charset="-127"/>
              </a:rPr>
              <a:t>.</a:t>
            </a:r>
            <a:r>
              <a:rPr kumimoji="0" lang="ko-KR" altLang="en-US" sz="1000" dirty="0">
                <a:solidFill>
                  <a:srgbClr val="222222"/>
                </a:solidFill>
                <a:ea typeface="맑은 고딕" pitchFamily="50" charset="-127"/>
              </a:rPr>
              <a:t> </a:t>
            </a: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이 자료를 무단으로 전제하거나 배포할 경우 저작권법 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136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조에 </a:t>
            </a:r>
            <a:r>
              <a:rPr kumimoji="0" lang="ko-KR" altLang="en-US" sz="1000" u="sng" dirty="0" smtClean="0">
                <a:solidFill>
                  <a:srgbClr val="222222"/>
                </a:solidFill>
                <a:ea typeface="맑은 고딕" pitchFamily="50" charset="-127"/>
              </a:rPr>
              <a:t>의거하여 처벌을 받을 수 있습니다</a:t>
            </a:r>
            <a:r>
              <a:rPr kumimoji="0" lang="en-US" altLang="ko-KR" sz="1000" u="sng" dirty="0" smtClean="0">
                <a:solidFill>
                  <a:srgbClr val="222222"/>
                </a:solidFill>
                <a:ea typeface="맑은 고딕" pitchFamily="50" charset="-127"/>
              </a:rPr>
              <a:t>.</a:t>
            </a: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 userDrawn="1"/>
        </p:nvSpPr>
        <p:spPr bwMode="auto">
          <a:xfrm>
            <a:off x="634256" y="1340843"/>
            <a:ext cx="7186612" cy="646331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800" dirty="0" err="1" smtClean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rPr>
              <a:t>오라클</a:t>
            </a:r>
            <a:r>
              <a:rPr kumimoji="0" lang="ko-KR" altLang="en-US" sz="1800" baseline="0" dirty="0" err="1" smtClean="0">
                <a:latin typeface="HY견고딕" pitchFamily="18" charset="-127"/>
                <a:ea typeface="HY견고딕" pitchFamily="18" charset="-127"/>
              </a:rPr>
              <a:t>로</a:t>
            </a:r>
            <a:r>
              <a:rPr kumimoji="0" lang="ko-KR" altLang="en-US" sz="1800" baseline="0" dirty="0" smtClean="0">
                <a:latin typeface="HY견고딕" pitchFamily="18" charset="-127"/>
                <a:ea typeface="HY견고딕" pitchFamily="18" charset="-127"/>
              </a:rPr>
              <a:t> 배우는 </a:t>
            </a:r>
            <a:endParaRPr kumimoji="0" lang="en-US" altLang="ko-KR" sz="1800" baseline="0" dirty="0" smtClean="0">
              <a:latin typeface="HY견고딕" pitchFamily="18" charset="-127"/>
              <a:ea typeface="HY견고딕" pitchFamily="18" charset="-127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800" baseline="0" dirty="0" smtClean="0">
                <a:latin typeface="HY견고딕" pitchFamily="18" charset="-127"/>
                <a:ea typeface="HY견고딕" pitchFamily="18" charset="-127"/>
              </a:rPr>
              <a:t>데이터베이스 개론과 실습 </a:t>
            </a:r>
            <a:endParaRPr kumimoji="0" lang="de-DE" altLang="ko-KR" sz="1800" dirty="0" smtClean="0"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55096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95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251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4032448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내용 개체 틀 2"/>
          <p:cNvSpPr>
            <a:spLocks noGrp="1"/>
          </p:cNvSpPr>
          <p:nvPr>
            <p:ph idx="10"/>
          </p:nvPr>
        </p:nvSpPr>
        <p:spPr>
          <a:xfrm>
            <a:off x="4679504" y="1124744"/>
            <a:ext cx="4032448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719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825" y="980728"/>
            <a:ext cx="8641655" cy="547260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3052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</a:defRPr>
            </a:lvl1pPr>
          </a:lstStyle>
          <a:p>
            <a:r>
              <a:rPr lang="ko-KR" altLang="en-US" smtClean="0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980728"/>
            <a:ext cx="8136904" cy="547260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9951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6"/>
          <p:cNvSpPr/>
          <p:nvPr userDrawn="1"/>
        </p:nvSpPr>
        <p:spPr>
          <a:xfrm>
            <a:off x="0" y="0"/>
            <a:ext cx="6372200" cy="6858000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56810" y="3573016"/>
            <a:ext cx="6143382" cy="1902073"/>
          </a:xfrm>
        </p:spPr>
        <p:txBody>
          <a:bodyPr/>
          <a:lstStyle>
            <a:lvl1pPr algn="l"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감사합니다</a:t>
            </a:r>
            <a:endParaRPr lang="ko-KR" altLang="en-US" dirty="0"/>
          </a:p>
        </p:txBody>
      </p:sp>
      <p:sp>
        <p:nvSpPr>
          <p:cNvPr id="7" name="TextBox 9"/>
          <p:cNvSpPr txBox="1"/>
          <p:nvPr userDrawn="1"/>
        </p:nvSpPr>
        <p:spPr>
          <a:xfrm>
            <a:off x="130805" y="6269130"/>
            <a:ext cx="36663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baseline="0" dirty="0" err="1" smtClean="0">
                <a:latin typeface="+mn-lt"/>
                <a:ea typeface="+mn-ea"/>
              </a:rPr>
              <a:t>오라클로</a:t>
            </a:r>
            <a:r>
              <a:rPr kumimoji="0" lang="ko-KR" altLang="en-US" sz="1400" b="1" baseline="0" dirty="0" smtClean="0">
                <a:latin typeface="+mn-lt"/>
                <a:ea typeface="+mn-ea"/>
              </a:rPr>
              <a:t> 배우는 데이터베이스 개론과 실습</a:t>
            </a:r>
            <a:endParaRPr kumimoji="0" lang="ko-KR" altLang="en-US" sz="1400" b="1" dirty="0">
              <a:latin typeface="+mn-lt"/>
              <a:ea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42967"/>
            <a:ext cx="2771800" cy="562232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97" b="39011"/>
          <a:stretch/>
        </p:blipFill>
        <p:spPr>
          <a:xfrm>
            <a:off x="6444208" y="5693066"/>
            <a:ext cx="2699792" cy="1152128"/>
          </a:xfrm>
          <a:prstGeom prst="rect">
            <a:avLst/>
          </a:prstGeom>
        </p:spPr>
      </p:pic>
      <p:sp>
        <p:nvSpPr>
          <p:cNvPr id="17" name="직사각형 10"/>
          <p:cNvSpPr/>
          <p:nvPr userDrawn="1"/>
        </p:nvSpPr>
        <p:spPr>
          <a:xfrm flipV="1">
            <a:off x="0" y="5599536"/>
            <a:ext cx="9036496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197645" y="5990292"/>
            <a:ext cx="2519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baseline="0" dirty="0" smtClean="0">
                <a:solidFill>
                  <a:schemeClr val="bg1"/>
                </a:solidFill>
                <a:latin typeface="+mn-lt"/>
                <a:ea typeface="+mn-ea"/>
              </a:rPr>
              <a:t>.</a:t>
            </a:r>
            <a:endParaRPr kumimoji="0" lang="ko-KR" altLang="en-US" sz="2000" b="1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645" y="5990292"/>
            <a:ext cx="2519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baseline="0" dirty="0" smtClean="0">
                <a:solidFill>
                  <a:schemeClr val="bg1"/>
                </a:solidFill>
                <a:latin typeface="+mn-lt"/>
                <a:ea typeface="+mn-ea"/>
              </a:rPr>
              <a:t>.</a:t>
            </a:r>
            <a:endParaRPr kumimoji="0" lang="ko-KR" altLang="en-US" sz="2000" b="1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538980" y="5990292"/>
            <a:ext cx="2519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baseline="0" dirty="0" smtClean="0">
                <a:solidFill>
                  <a:schemeClr val="bg1"/>
                </a:solidFill>
                <a:latin typeface="+mn-lt"/>
                <a:ea typeface="+mn-ea"/>
              </a:rPr>
              <a:t>.</a:t>
            </a:r>
            <a:endParaRPr kumimoji="0" lang="ko-KR" altLang="en-US" sz="2000" b="1" dirty="0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7561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2017-08-04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6" r:id="rId6"/>
    <p:sldLayoutId id="2147483683" r:id="rId7"/>
    <p:sldLayoutId id="2147483685" r:id="rId8"/>
    <p:sldLayoutId id="2147483687" r:id="rId9"/>
    <p:sldLayoutId id="2147483688" r:id="rId10"/>
    <p:sldLayoutId id="214748368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3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2800" i="1" smtClean="0"/>
              <a:t>Chapter 06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b="1" smtClean="0"/>
              <a:t>데이터 모델링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2264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971550" y="1844675"/>
            <a:ext cx="7056438" cy="4105275"/>
          </a:xfrm>
        </p:spPr>
        <p:txBody>
          <a:bodyPr/>
          <a:lstStyle/>
          <a:p>
            <a:r>
              <a:rPr lang="ko-KR" altLang="en-US" dirty="0" smtClean="0"/>
              <a:t>데이터 모델링의 개념</a:t>
            </a:r>
            <a:endParaRPr lang="en-US" altLang="ko-KR" dirty="0" smtClean="0"/>
          </a:p>
          <a:p>
            <a:r>
              <a:rPr lang="en-US" altLang="ko-KR" dirty="0" smtClean="0"/>
              <a:t>ER </a:t>
            </a:r>
            <a:r>
              <a:rPr lang="ko-KR" altLang="en-US" dirty="0" smtClean="0"/>
              <a:t>모델</a:t>
            </a:r>
            <a:endParaRPr lang="en-US" altLang="ko-KR" dirty="0" smtClean="0"/>
          </a:p>
          <a:p>
            <a:r>
              <a:rPr lang="en-US" altLang="ko-KR" dirty="0" smtClean="0">
                <a:latin typeface="+mn-ea"/>
              </a:rPr>
              <a:t>ER </a:t>
            </a:r>
            <a:r>
              <a:rPr lang="ko-KR" altLang="en-US" dirty="0" smtClean="0">
                <a:latin typeface="+mn-ea"/>
              </a:rPr>
              <a:t>모델을 관계 데이터 모델로 사상</a:t>
            </a:r>
            <a:endParaRPr lang="en-US" altLang="ko-KR" dirty="0" smtClean="0">
              <a:latin typeface="+mn-ea"/>
            </a:endParaRPr>
          </a:p>
          <a:p>
            <a:r>
              <a:rPr lang="en-US" altLang="ko-KR" dirty="0" err="1" smtClean="0">
                <a:latin typeface="+mn-ea"/>
              </a:rPr>
              <a:t>ERwin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실습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모델링 연습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smtClean="0">
                <a:latin typeface="+mn-ea"/>
              </a:rPr>
              <a:t>마당대학 데이터베이스</a:t>
            </a:r>
            <a:r>
              <a:rPr lang="en-US" altLang="ko-KR" dirty="0" smtClean="0">
                <a:latin typeface="+mn-ea"/>
              </a:rPr>
              <a:t>)</a:t>
            </a:r>
            <a:endParaRPr lang="en-US" altLang="ko-KR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sz="1600" dirty="0" smtClean="0"/>
              <a:t>데이터 모델링의 개념을 이해한다</a:t>
            </a:r>
            <a:r>
              <a:rPr lang="en-US" altLang="ko-KR" sz="1600" dirty="0" smtClean="0"/>
              <a:t>.</a:t>
            </a:r>
          </a:p>
          <a:p>
            <a:r>
              <a:rPr lang="ko-KR" altLang="en-US" sz="1600" dirty="0" smtClean="0"/>
              <a:t>개념적 모델링 단계에 사용하는 </a:t>
            </a:r>
            <a:r>
              <a:rPr lang="en-US" altLang="ko-KR" sz="1600" dirty="0" smtClean="0"/>
              <a:t>ER </a:t>
            </a:r>
            <a:r>
              <a:rPr lang="ko-KR" altLang="en-US" sz="1600" dirty="0" smtClean="0"/>
              <a:t>모델을 이해하고 작성 방법을 알아본다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err="1" smtClean="0"/>
              <a:t>ERwin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프로그램을 사용하여 </a:t>
            </a:r>
            <a:r>
              <a:rPr lang="en-US" altLang="ko-KR" sz="1600" dirty="0" smtClean="0"/>
              <a:t>ER </a:t>
            </a:r>
            <a:r>
              <a:rPr lang="ko-KR" altLang="en-US" sz="1600" dirty="0" smtClean="0"/>
              <a:t>모델을 작성해본다</a:t>
            </a:r>
            <a:r>
              <a:rPr lang="en-US" altLang="ko-KR" sz="1600" dirty="0" smtClean="0"/>
              <a:t>.</a:t>
            </a:r>
          </a:p>
          <a:p>
            <a:r>
              <a:rPr lang="ko-KR" altLang="en-US" sz="1600" dirty="0" smtClean="0"/>
              <a:t>마당대학 데이터베이스를 </a:t>
            </a:r>
            <a:r>
              <a:rPr lang="en-US" altLang="ko-KR" sz="1600" dirty="0" smtClean="0"/>
              <a:t>ER </a:t>
            </a:r>
            <a:r>
              <a:rPr lang="ko-KR" altLang="en-US" sz="1600" dirty="0" smtClean="0"/>
              <a:t>모델로 직접 설계해본다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2862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01</a:t>
            </a:r>
            <a:r>
              <a:rPr lang="en-US" altLang="ko-KR" dirty="0"/>
              <a:t>. </a:t>
            </a:r>
            <a:r>
              <a:rPr lang="ko-KR" altLang="en-US" dirty="0" smtClean="0"/>
              <a:t>데이터 모델링의 개념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데이터베이스 생명주기</a:t>
            </a:r>
            <a:endParaRPr lang="en-US" altLang="ko-KR" dirty="0" smtClean="0"/>
          </a:p>
          <a:p>
            <a:r>
              <a:rPr lang="ko-KR" altLang="en-US" dirty="0" smtClean="0"/>
              <a:t>데이터 모델링 과정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01. </a:t>
            </a:r>
            <a:r>
              <a:rPr lang="ko-KR" altLang="en-US" dirty="0" smtClean="0"/>
              <a:t>데이터 모델링의 개념</a:t>
            </a:r>
            <a:endParaRPr lang="ko-KR" altLang="en-US" dirty="0"/>
          </a:p>
        </p:txBody>
      </p:sp>
      <p:pic>
        <p:nvPicPr>
          <p:cNvPr id="4" name="_x95414072" descr="EMB000002c420c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57" y="1196752"/>
            <a:ext cx="5904656" cy="4668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오른쪽 대괄호 4"/>
          <p:cNvSpPr/>
          <p:nvPr/>
        </p:nvSpPr>
        <p:spPr>
          <a:xfrm>
            <a:off x="6516216" y="1196752"/>
            <a:ext cx="144016" cy="2736304"/>
          </a:xfrm>
          <a:prstGeom prst="rightBracket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오른쪽 대괄호 5"/>
          <p:cNvSpPr/>
          <p:nvPr/>
        </p:nvSpPr>
        <p:spPr>
          <a:xfrm>
            <a:off x="6516216" y="4365104"/>
            <a:ext cx="144016" cy="864096"/>
          </a:xfrm>
          <a:prstGeom prst="rightBracket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7" name="TextBox 6"/>
          <p:cNvSpPr txBox="1"/>
          <p:nvPr/>
        </p:nvSpPr>
        <p:spPr>
          <a:xfrm>
            <a:off x="827584" y="594928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 모델링의 중요성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60232" y="242088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건물 설계</a:t>
            </a:r>
            <a:endParaRPr lang="en-US" altLang="ko-KR" sz="1200" dirty="0" smtClean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  <a:p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소프트웨어 설계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0232" y="4566369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지반 설계</a:t>
            </a:r>
            <a:endParaRPr lang="en-US" altLang="ko-KR" sz="1200" dirty="0" smtClean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  <a:p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데이터베이스 설계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01. </a:t>
            </a:r>
            <a:r>
              <a:rPr lang="ko-KR" altLang="en-US" dirty="0" smtClean="0"/>
              <a:t>데이터 모델링의 개념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768446" y="1242447"/>
            <a:ext cx="3836002" cy="4447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090048" y="1489034"/>
            <a:ext cx="3240360" cy="1723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원통 5"/>
          <p:cNvSpPr/>
          <p:nvPr/>
        </p:nvSpPr>
        <p:spPr>
          <a:xfrm>
            <a:off x="780897" y="3861048"/>
            <a:ext cx="2160240" cy="18024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오른쪽 화살표 6"/>
          <p:cNvSpPr/>
          <p:nvPr/>
        </p:nvSpPr>
        <p:spPr>
          <a:xfrm>
            <a:off x="3292233" y="2240868"/>
            <a:ext cx="1348574" cy="252028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232423" y="2492896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① 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정보 모델링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9" name="오른쪽 화살표 8"/>
          <p:cNvSpPr/>
          <p:nvPr/>
        </p:nvSpPr>
        <p:spPr>
          <a:xfrm rot="10800000">
            <a:off x="3292231" y="4516045"/>
            <a:ext cx="1351776" cy="249718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361293" y="4768074"/>
            <a:ext cx="1596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③</a:t>
            </a:r>
            <a:r>
              <a:rPr lang="ko-KR" alt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DB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로 구현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333152" y="1844824"/>
            <a:ext cx="937845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개체</a:t>
            </a:r>
            <a:r>
              <a:rPr lang="en-US" altLang="ko-KR" sz="1400" dirty="0" smtClean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순서도: 판단 11"/>
          <p:cNvSpPr/>
          <p:nvPr/>
        </p:nvSpPr>
        <p:spPr>
          <a:xfrm>
            <a:off x="6847060" y="1772816"/>
            <a:ext cx="1250351" cy="504056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관계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003312" y="2708920"/>
            <a:ext cx="937845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개체</a:t>
            </a:r>
            <a:r>
              <a:rPr lang="en-US" altLang="ko-KR" sz="1400" dirty="0" smtClean="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직선 연결선 13"/>
          <p:cNvCxnSpPr>
            <a:stCxn id="11" idx="3"/>
            <a:endCxn id="12" idx="1"/>
          </p:cNvCxnSpPr>
          <p:nvPr/>
        </p:nvCxnSpPr>
        <p:spPr>
          <a:xfrm>
            <a:off x="6270997" y="2024844"/>
            <a:ext cx="576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7472235" y="2273464"/>
            <a:ext cx="0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5123659" y="1513359"/>
            <a:ext cx="2154757" cy="276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개념적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모델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(ER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다이어그램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092433" y="3735664"/>
            <a:ext cx="3240360" cy="1723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5236449" y="4163461"/>
            <a:ext cx="2860962" cy="340519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400" dirty="0" smtClean="0"/>
              <a:t>테이블</a:t>
            </a:r>
            <a:r>
              <a:rPr lang="en-US" altLang="ko-KR" sz="1400" dirty="0" smtClean="0"/>
              <a:t>1 </a:t>
            </a:r>
            <a:r>
              <a:rPr lang="en-US" altLang="ko-KR" sz="1400" dirty="0"/>
              <a:t>(</a:t>
            </a:r>
            <a:r>
              <a:rPr lang="ko-KR" altLang="en-US" sz="1400" u="sng" dirty="0"/>
              <a:t>속성</a:t>
            </a:r>
            <a:r>
              <a:rPr lang="en-US" altLang="ko-KR" sz="1400" u="sng" dirty="0"/>
              <a:t>1</a:t>
            </a:r>
            <a:r>
              <a:rPr lang="en-US" altLang="ko-KR" sz="1400" dirty="0"/>
              <a:t>,</a:t>
            </a:r>
            <a:r>
              <a:rPr lang="ko-KR" altLang="en-US" sz="1400" dirty="0"/>
              <a:t>속성</a:t>
            </a:r>
            <a:r>
              <a:rPr lang="en-US" altLang="ko-KR" sz="1400" dirty="0"/>
              <a:t>2,</a:t>
            </a:r>
            <a:r>
              <a:rPr lang="ko-KR" altLang="en-US" sz="1400" dirty="0"/>
              <a:t>속성</a:t>
            </a:r>
            <a:r>
              <a:rPr lang="en-US" altLang="ko-KR" sz="1400" dirty="0"/>
              <a:t>3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5242298" y="4542551"/>
            <a:ext cx="2860962" cy="340519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400" dirty="0" smtClean="0"/>
              <a:t>테이블</a:t>
            </a:r>
            <a:r>
              <a:rPr lang="en-US" altLang="ko-KR" sz="1400" dirty="0" smtClean="0"/>
              <a:t>2 </a:t>
            </a:r>
            <a:r>
              <a:rPr lang="en-US" altLang="ko-KR" sz="1400" dirty="0"/>
              <a:t>(</a:t>
            </a:r>
            <a:r>
              <a:rPr lang="ko-KR" altLang="en-US" sz="1400" u="sng" dirty="0"/>
              <a:t>속성</a:t>
            </a:r>
            <a:r>
              <a:rPr lang="en-US" altLang="ko-KR" sz="1400" u="sng" dirty="0"/>
              <a:t>1</a:t>
            </a:r>
            <a:r>
              <a:rPr lang="en-US" altLang="ko-KR" sz="1400" dirty="0"/>
              <a:t>,</a:t>
            </a:r>
            <a:r>
              <a:rPr lang="ko-KR" altLang="en-US" sz="1400" dirty="0"/>
              <a:t>속성</a:t>
            </a:r>
            <a:r>
              <a:rPr lang="en-US" altLang="ko-KR" sz="1400" dirty="0"/>
              <a:t>2,</a:t>
            </a:r>
            <a:r>
              <a:rPr lang="ko-KR" altLang="en-US" sz="1400" dirty="0"/>
              <a:t>속성</a:t>
            </a:r>
            <a:r>
              <a:rPr lang="en-US" altLang="ko-KR" sz="1400" dirty="0"/>
              <a:t>3)</a:t>
            </a:r>
            <a:endParaRPr lang="ko-KR" altLang="en-US" sz="1400" dirty="0"/>
          </a:p>
        </p:txBody>
      </p:sp>
      <p:sp>
        <p:nvSpPr>
          <p:cNvPr id="20" name="직사각형 19"/>
          <p:cNvSpPr/>
          <p:nvPr/>
        </p:nvSpPr>
        <p:spPr>
          <a:xfrm>
            <a:off x="5130130" y="3764657"/>
            <a:ext cx="2287806" cy="276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논리적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모델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관계 데이터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모델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아래쪽 화살표 20"/>
          <p:cNvSpPr/>
          <p:nvPr/>
        </p:nvSpPr>
        <p:spPr>
          <a:xfrm>
            <a:off x="6554376" y="3291683"/>
            <a:ext cx="223587" cy="3600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90632" y="3017091"/>
            <a:ext cx="1141659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일치해야 함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230074" y="3920424"/>
            <a:ext cx="1261884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ko-KR" altLang="en-US" sz="1400" dirty="0" smtClean="0">
                <a:latin typeface="HY엽서L" pitchFamily="18" charset="-127"/>
                <a:ea typeface="HY엽서L" pitchFamily="18" charset="-127"/>
              </a:rPr>
              <a:t>데이터베이</a:t>
            </a:r>
            <a:r>
              <a:rPr lang="ko-KR" altLang="en-US" sz="1400" dirty="0">
                <a:latin typeface="HY엽서L" pitchFamily="18" charset="-127"/>
                <a:ea typeface="HY엽서L" pitchFamily="18" charset="-127"/>
              </a:rPr>
              <a:t>스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74485"/>
              </p:ext>
            </p:extLst>
          </p:nvPr>
        </p:nvGraphicFramePr>
        <p:xfrm>
          <a:off x="1020225" y="4482612"/>
          <a:ext cx="1701336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112"/>
                <a:gridCol w="567112"/>
                <a:gridCol w="567112"/>
              </a:tblGrid>
              <a:tr h="174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384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84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구름 24"/>
          <p:cNvSpPr/>
          <p:nvPr/>
        </p:nvSpPr>
        <p:spPr>
          <a:xfrm>
            <a:off x="579123" y="1254778"/>
            <a:ext cx="2563788" cy="1364876"/>
          </a:xfrm>
          <a:prstGeom prst="clou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400" dirty="0" smtClean="0">
              <a:latin typeface="HY엽서L" pitchFamily="18" charset="-127"/>
              <a:ea typeface="HY엽서L" pitchFamily="18" charset="-127"/>
            </a:endParaRPr>
          </a:p>
          <a:p>
            <a:pPr algn="ctr"/>
            <a:r>
              <a:rPr lang="ko-KR" altLang="en-US" sz="1200" dirty="0">
                <a:latin typeface="+mn-ea"/>
              </a:rPr>
              <a:t>현실 세계</a:t>
            </a:r>
          </a:p>
          <a:p>
            <a:pPr algn="ctr"/>
            <a:endParaRPr lang="en-US" altLang="ko-KR" sz="500" dirty="0" smtClean="0">
              <a:latin typeface="+mn-ea"/>
            </a:endParaRPr>
          </a:p>
          <a:p>
            <a:pPr marL="285750" indent="-285750" algn="ctr">
              <a:buFont typeface="Arial" pitchFamily="34" charset="0"/>
              <a:buChar char="•"/>
            </a:pPr>
            <a:r>
              <a:rPr lang="ko-KR" altLang="en-US" sz="1200" dirty="0" smtClean="0">
                <a:latin typeface="+mn-ea"/>
              </a:rPr>
              <a:t>개념</a:t>
            </a:r>
            <a:r>
              <a:rPr lang="en-US" altLang="ko-KR" sz="1200" dirty="0">
                <a:latin typeface="+mn-ea"/>
              </a:rPr>
              <a:t>1</a:t>
            </a:r>
          </a:p>
          <a:p>
            <a:pPr marL="285750" indent="-285750" algn="ctr">
              <a:buFont typeface="Arial" pitchFamily="34" charset="0"/>
              <a:buChar char="•"/>
            </a:pPr>
            <a:r>
              <a:rPr lang="ko-KR" altLang="en-US" sz="1200" dirty="0" smtClean="0">
                <a:latin typeface="+mn-ea"/>
              </a:rPr>
              <a:t>개념</a:t>
            </a:r>
            <a:r>
              <a:rPr lang="en-US" altLang="ko-KR" sz="1200" dirty="0">
                <a:latin typeface="+mn-ea"/>
              </a:rPr>
              <a:t>2</a:t>
            </a:r>
          </a:p>
          <a:p>
            <a:pPr marL="285750" indent="-285750" algn="ctr">
              <a:buFont typeface="Arial" pitchFamily="34" charset="0"/>
              <a:buChar char="•"/>
            </a:pPr>
            <a:r>
              <a:rPr lang="ko-KR" altLang="en-US" sz="1200" dirty="0">
                <a:latin typeface="+mn-ea"/>
              </a:rPr>
              <a:t>개념</a:t>
            </a:r>
            <a:r>
              <a:rPr lang="en-US" altLang="ko-KR" sz="1200" dirty="0" smtClean="0">
                <a:latin typeface="+mn-ea"/>
              </a:rPr>
              <a:t>3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 rot="5400000">
            <a:off x="1331991" y="3260013"/>
            <a:ext cx="1058054" cy="1"/>
          </a:xfrm>
          <a:prstGeom prst="straightConnector1">
            <a:avLst/>
          </a:prstGeom>
          <a:ln w="19050" cmpd="sng">
            <a:solidFill>
              <a:schemeClr val="bg1">
                <a:lumMod val="50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07909" y="3284984"/>
            <a:ext cx="1556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② 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데이터 모델링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3568" y="594928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 모델링의 개념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데이터베이스 생명주기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데이터베이스 생명주기</a:t>
            </a:r>
            <a:r>
              <a:rPr lang="en-US" altLang="ko-KR" dirty="0"/>
              <a:t>(database life cycle</a:t>
            </a:r>
            <a:r>
              <a:rPr lang="en-US" altLang="ko-KR" dirty="0" smtClean="0"/>
              <a:t>)</a:t>
            </a:r>
            <a:r>
              <a:rPr lang="ko-KR" altLang="en-US" dirty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데이터베이스의 생성과 운영에 관련된 특징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084168" y="508518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데이터베이스 생명주기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33" name="다이어그램 32"/>
          <p:cNvGraphicFramePr/>
          <p:nvPr>
            <p:extLst>
              <p:ext uri="{D42A27DB-BD31-4B8C-83A1-F6EECF244321}">
                <p14:modId xmlns:p14="http://schemas.microsoft.com/office/powerpoint/2010/main" val="2284221650"/>
              </p:ext>
            </p:extLst>
          </p:nvPr>
        </p:nvGraphicFramePr>
        <p:xfrm>
          <a:off x="971600" y="2348880"/>
          <a:ext cx="5760640" cy="3775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데이터베이스 생명주기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"/>
            </a:pPr>
            <a:r>
              <a:rPr lang="ko-KR" altLang="en-US" dirty="0" smtClean="0"/>
              <a:t>요구사항 수집 및 분석</a:t>
            </a:r>
            <a:endParaRPr lang="en-US" altLang="ko-KR" dirty="0" smtClean="0"/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사용자들의 요구사항을 듣고 분석하여 데이터베이스 구축의 범위를 정하는 단계</a:t>
            </a:r>
            <a:endParaRPr lang="en-US" altLang="ko-KR" sz="1400" b="0" dirty="0" smtClean="0"/>
          </a:p>
          <a:p>
            <a:pPr>
              <a:buNone/>
            </a:pPr>
            <a:endParaRPr lang="en-US" altLang="ko-KR" sz="500" b="0" dirty="0" smtClean="0"/>
          </a:p>
          <a:p>
            <a:pPr>
              <a:buFont typeface="Wingdings" pitchFamily="2" charset="2"/>
              <a:buChar char=""/>
            </a:pPr>
            <a:r>
              <a:rPr lang="ko-KR" altLang="en-US" dirty="0" smtClean="0"/>
              <a:t>설계</a:t>
            </a:r>
            <a:endParaRPr lang="en-US" altLang="ko-KR" dirty="0" smtClean="0"/>
          </a:p>
          <a:p>
            <a:pPr algn="just"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분석된 요구사항을 기초로 주요 개념과 업무 프로세스 등을 식별하고</a:t>
            </a:r>
            <a:r>
              <a:rPr lang="en-US" altLang="ko-KR" sz="1400" b="0" dirty="0" smtClean="0"/>
              <a:t>(</a:t>
            </a:r>
            <a:r>
              <a:rPr lang="ko-KR" altLang="en-US" sz="1400" b="0" dirty="0" smtClean="0"/>
              <a:t>개념적 설계</a:t>
            </a:r>
            <a:r>
              <a:rPr lang="en-US" altLang="ko-KR" sz="1400" b="0" dirty="0" smtClean="0"/>
              <a:t>), </a:t>
            </a:r>
            <a:r>
              <a:rPr lang="ko-KR" altLang="en-US" sz="1400" b="0" dirty="0" smtClean="0"/>
              <a:t>사용하는 </a:t>
            </a:r>
            <a:r>
              <a:rPr lang="en-US" altLang="ko-KR" sz="1400" b="0" dirty="0" smtClean="0"/>
              <a:t>DBMS</a:t>
            </a:r>
            <a:r>
              <a:rPr lang="ko-KR" altLang="en-US" sz="1400" b="0" dirty="0" smtClean="0"/>
              <a:t>의 종류에 맞게 변환</a:t>
            </a:r>
            <a:r>
              <a:rPr lang="en-US" altLang="ko-KR" sz="1400" b="0" dirty="0" smtClean="0"/>
              <a:t>(</a:t>
            </a:r>
            <a:r>
              <a:rPr lang="ko-KR" altLang="en-US" sz="1400" b="0" dirty="0" smtClean="0"/>
              <a:t>논리적 설계</a:t>
            </a:r>
            <a:r>
              <a:rPr lang="en-US" altLang="ko-KR" sz="1400" b="0" dirty="0" smtClean="0"/>
              <a:t>)</a:t>
            </a:r>
            <a:r>
              <a:rPr lang="ko-KR" altLang="en-US" sz="1400" b="0" dirty="0" smtClean="0"/>
              <a:t>한 후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데이터베이스 스키마를 도출</a:t>
            </a:r>
            <a:r>
              <a:rPr lang="en-US" altLang="ko-KR" sz="1400" b="0" dirty="0" smtClean="0"/>
              <a:t>(</a:t>
            </a:r>
            <a:r>
              <a:rPr lang="ko-KR" altLang="en-US" sz="1400" b="0" dirty="0" smtClean="0"/>
              <a:t>물리적 설계</a:t>
            </a:r>
            <a:r>
              <a:rPr lang="en-US" altLang="ko-KR" sz="1400" b="0" dirty="0" smtClean="0"/>
              <a:t>)</a:t>
            </a:r>
          </a:p>
          <a:p>
            <a:pPr algn="just">
              <a:buNone/>
            </a:pPr>
            <a:endParaRPr lang="en-US" altLang="ko-KR" sz="500" b="0" dirty="0" smtClean="0"/>
          </a:p>
          <a:p>
            <a:pPr>
              <a:buFont typeface="Wingdings" pitchFamily="2" charset="2"/>
              <a:buChar char=""/>
            </a:pPr>
            <a:r>
              <a:rPr lang="ko-KR" altLang="en-US" dirty="0" smtClean="0"/>
              <a:t>구현</a:t>
            </a:r>
            <a:endParaRPr lang="en-US" altLang="ko-KR" dirty="0" smtClean="0"/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설계 단계에서 생성한 스키마를 실제 </a:t>
            </a:r>
            <a:r>
              <a:rPr lang="en-US" altLang="ko-KR" sz="1400" b="0" dirty="0" smtClean="0"/>
              <a:t>DBMS</a:t>
            </a:r>
            <a:r>
              <a:rPr lang="ko-KR" altLang="en-US" sz="1400" b="0" dirty="0" smtClean="0"/>
              <a:t>에 적용하여 테이블 및 관련 객체</a:t>
            </a:r>
            <a:r>
              <a:rPr lang="en-US" altLang="ko-KR" sz="1400" b="0" dirty="0" smtClean="0"/>
              <a:t>(</a:t>
            </a:r>
            <a:r>
              <a:rPr lang="ko-KR" altLang="en-US" sz="1400" b="0" dirty="0" err="1" smtClean="0"/>
              <a:t>뷰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인덱스 등</a:t>
            </a:r>
            <a:r>
              <a:rPr lang="en-US" altLang="ko-KR" sz="1400" b="0" dirty="0" smtClean="0"/>
              <a:t>)</a:t>
            </a:r>
            <a:r>
              <a:rPr lang="ko-KR" altLang="en-US" sz="1400" b="0" dirty="0" smtClean="0"/>
              <a:t>를 만듦</a:t>
            </a:r>
            <a:endParaRPr lang="en-US" altLang="ko-KR" sz="1400" b="0" dirty="0" smtClean="0"/>
          </a:p>
          <a:p>
            <a:pPr>
              <a:buNone/>
            </a:pPr>
            <a:endParaRPr lang="en-US" altLang="ko-KR" sz="1400" b="0" dirty="0" smtClean="0"/>
          </a:p>
          <a:p>
            <a:pPr>
              <a:buFont typeface="Wingdings" pitchFamily="2" charset="2"/>
              <a:buChar char=""/>
            </a:pPr>
            <a:r>
              <a:rPr lang="ko-KR" altLang="en-US" dirty="0" smtClean="0"/>
              <a:t>운영</a:t>
            </a:r>
            <a:endParaRPr lang="en-US" altLang="ko-KR" dirty="0" smtClean="0"/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구현된 데이터베이스를 기반으로 소프트웨어를 구축하여 서비스를 제공</a:t>
            </a:r>
            <a:endParaRPr lang="en-US" altLang="ko-KR" sz="1400" b="0" dirty="0" smtClean="0"/>
          </a:p>
          <a:p>
            <a:pPr>
              <a:buNone/>
            </a:pPr>
            <a:endParaRPr lang="en-US" altLang="ko-KR" sz="500" b="0" dirty="0" smtClean="0"/>
          </a:p>
          <a:p>
            <a:pPr>
              <a:buFont typeface="Wingdings" pitchFamily="2" charset="2"/>
              <a:buChar char=""/>
            </a:pPr>
            <a:r>
              <a:rPr lang="ko-KR" altLang="en-US" dirty="0" smtClean="0"/>
              <a:t>감시 및 개선</a:t>
            </a:r>
            <a:endParaRPr lang="en-US" altLang="ko-KR" dirty="0" smtClean="0"/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데이터베이스 운영에 따른 시스템의 문제를 관찰하고 데이터베이스 자체의 문제점을 파악하여 개선</a:t>
            </a:r>
            <a:endParaRPr lang="en-US" altLang="ko-KR" sz="1400" b="0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데이터 모델링 과정</a:t>
            </a:r>
            <a:endParaRPr lang="ko-KR" altLang="en-US" dirty="0"/>
          </a:p>
        </p:txBody>
      </p:sp>
      <p:grpSp>
        <p:nvGrpSpPr>
          <p:cNvPr id="32" name="그룹 31"/>
          <p:cNvGrpSpPr/>
          <p:nvPr/>
        </p:nvGrpSpPr>
        <p:grpSpPr>
          <a:xfrm>
            <a:off x="899593" y="1058069"/>
            <a:ext cx="7561067" cy="4953694"/>
            <a:chOff x="899592" y="1066436"/>
            <a:chExt cx="7633768" cy="5054144"/>
          </a:xfrm>
        </p:grpSpPr>
        <p:sp>
          <p:nvSpPr>
            <p:cNvPr id="4" name="직사각형 3"/>
            <p:cNvSpPr/>
            <p:nvPr/>
          </p:nvSpPr>
          <p:spPr>
            <a:xfrm>
              <a:off x="899592" y="2229162"/>
              <a:ext cx="3718196" cy="3058971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899592" y="1364198"/>
              <a:ext cx="3718196" cy="38286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ym typeface="Wingdings"/>
                </a:rPr>
                <a:t> </a:t>
              </a:r>
              <a:r>
                <a:rPr lang="ko-KR" altLang="en-US" sz="1400" dirty="0" smtClean="0"/>
                <a:t>요구사항 수집 및 분석</a:t>
              </a:r>
              <a:endParaRPr lang="ko-KR" altLang="en-US" sz="1400" dirty="0"/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1340132" y="2912370"/>
              <a:ext cx="2952328" cy="360040"/>
            </a:xfrm>
            <a:prstGeom prst="round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ym typeface="Wingdings"/>
                </a:rPr>
                <a:t> </a:t>
              </a:r>
              <a:r>
                <a:rPr lang="ko-KR" altLang="en-US" sz="1400" dirty="0" smtClean="0"/>
                <a:t>개념적 모델링</a:t>
              </a:r>
              <a:endParaRPr lang="ko-KR" altLang="en-US" sz="1400" dirty="0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1395430" y="3799249"/>
              <a:ext cx="2952328" cy="360040"/>
            </a:xfrm>
            <a:prstGeom prst="round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ym typeface="Wingdings"/>
                </a:rPr>
                <a:t> </a:t>
              </a:r>
              <a:r>
                <a:rPr lang="ko-KR" altLang="en-US" sz="1400" dirty="0" smtClean="0"/>
                <a:t>논리적 모델링</a:t>
              </a:r>
              <a:endParaRPr lang="ko-KR" altLang="en-US" sz="1400" dirty="0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1433670" y="4736965"/>
              <a:ext cx="2952328" cy="360040"/>
            </a:xfrm>
            <a:prstGeom prst="round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ym typeface="Wingdings"/>
                </a:rPr>
                <a:t> </a:t>
              </a:r>
              <a:r>
                <a:rPr lang="ko-KR" altLang="en-US" sz="1400" dirty="0" smtClean="0"/>
                <a:t>물리적 모델링</a:t>
              </a:r>
              <a:endParaRPr lang="ko-KR" altLang="en-US" sz="1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02322" y="1066436"/>
              <a:ext cx="3430808" cy="972787"/>
            </a:xfrm>
            <a:prstGeom prst="roundRect">
              <a:avLst>
                <a:gd name="adj" fmla="val 9674"/>
              </a:avLst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현실 세계의 대상 및 사용자의 요구 등을 정리 및 분석</a:t>
              </a:r>
            </a:p>
            <a:p>
              <a:pPr marL="171450" indent="-171450">
                <a:buFont typeface="Arial" pitchFamily="34" charset="0"/>
                <a:buChar char="•"/>
              </a:pP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사용자 식별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ko-KR" altLang="en-US" sz="1000" dirty="0">
                  <a:latin typeface="HY엽서L" pitchFamily="18" charset="-127"/>
                  <a:ea typeface="HY엽서L" pitchFamily="18" charset="-127"/>
                </a:rPr>
                <a:t>데이터 베이스 용도 식별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사용자 요구 사항 수집 및 명세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91746" y="2650984"/>
              <a:ext cx="3441614" cy="799075"/>
            </a:xfrm>
            <a:prstGeom prst="roundRect">
              <a:avLst>
                <a:gd name="adj" fmla="val 8154"/>
              </a:avLst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중요 개념을 구분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핵심 </a:t>
              </a: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Entity(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독립개체</a:t>
              </a: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)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 도출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ERD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작성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02322" y="3501647"/>
              <a:ext cx="3430808" cy="972787"/>
            </a:xfrm>
            <a:prstGeom prst="roundRect">
              <a:avLst>
                <a:gd name="adj" fmla="val 12671"/>
              </a:avLst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L" pitchFamily="18" charset="-127"/>
                  <a:ea typeface="HY엽서L" pitchFamily="18" charset="-127"/>
                </a:rPr>
                <a:t>각 개념을 구체화</a:t>
              </a:r>
            </a:p>
            <a:p>
              <a:pPr marL="285750" indent="-285750">
                <a:buFont typeface="Arial" pitchFamily="34" charset="0"/>
                <a:buChar char="•"/>
              </a:pP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ERD-RDB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모델 사상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상세 속성 정의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정규화 등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102322" y="4578383"/>
              <a:ext cx="3430808" cy="972787"/>
            </a:xfrm>
            <a:prstGeom prst="roundRect">
              <a:avLst>
                <a:gd name="adj" fmla="val 10673"/>
              </a:avLst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L" pitchFamily="18" charset="-127"/>
                  <a:ea typeface="HY엽서L" pitchFamily="18" charset="-127"/>
                </a:rPr>
                <a:t>데이터베이스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생성 계획에 따라 개체</a:t>
              </a: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,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인덱스 등을 생성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DB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개체 정의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테이블 및 인덱스 등 설계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877696" y="3353813"/>
              <a:ext cx="934812" cy="283275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DBMS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선정</a:t>
              </a:r>
              <a:endParaRPr lang="ko-KR" altLang="en-US" sz="1000" dirty="0">
                <a:latin typeface="HY엽서L" pitchFamily="18" charset="-127"/>
                <a:ea typeface="HY엽서L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928041" y="5760540"/>
              <a:ext cx="3718196" cy="36004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/>
                <a:t>데이터베이스 구현</a:t>
              </a:r>
              <a:endParaRPr lang="ko-KR" altLang="en-US" sz="1400" dirty="0"/>
            </a:p>
          </p:txBody>
        </p:sp>
        <p:cxnSp>
          <p:nvCxnSpPr>
            <p:cNvPr id="17" name="직선 연결선 16"/>
            <p:cNvCxnSpPr>
              <a:endCxn id="10" idx="1"/>
            </p:cNvCxnSpPr>
            <p:nvPr/>
          </p:nvCxnSpPr>
          <p:spPr>
            <a:xfrm>
              <a:off x="4292459" y="3050521"/>
              <a:ext cx="799287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>
              <a:endCxn id="11" idx="1"/>
            </p:cNvCxnSpPr>
            <p:nvPr/>
          </p:nvCxnSpPr>
          <p:spPr>
            <a:xfrm>
              <a:off x="4347758" y="3979269"/>
              <a:ext cx="754564" cy="877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4385998" y="4916985"/>
              <a:ext cx="71632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직사각형 19"/>
            <p:cNvSpPr/>
            <p:nvPr/>
          </p:nvSpPr>
          <p:spPr>
            <a:xfrm>
              <a:off x="899592" y="2229162"/>
              <a:ext cx="3718196" cy="38286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/>
                <a:t>설계</a:t>
              </a:r>
              <a:endParaRPr lang="ko-KR" altLang="en-US" sz="1400" dirty="0"/>
            </a:p>
          </p:txBody>
        </p:sp>
        <p:sp>
          <p:nvSpPr>
            <p:cNvPr id="24" name="아래쪽 화살표 23"/>
            <p:cNvSpPr/>
            <p:nvPr/>
          </p:nvSpPr>
          <p:spPr>
            <a:xfrm>
              <a:off x="2665884" y="1844824"/>
              <a:ext cx="223587" cy="36004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아래쪽 화살표 24"/>
            <p:cNvSpPr/>
            <p:nvPr/>
          </p:nvSpPr>
          <p:spPr>
            <a:xfrm>
              <a:off x="2665884" y="3356992"/>
              <a:ext cx="223587" cy="36004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아래쪽 화살표 25"/>
            <p:cNvSpPr/>
            <p:nvPr/>
          </p:nvSpPr>
          <p:spPr>
            <a:xfrm>
              <a:off x="2665884" y="4293096"/>
              <a:ext cx="223587" cy="36004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아래쪽 화살표 26"/>
            <p:cNvSpPr/>
            <p:nvPr/>
          </p:nvSpPr>
          <p:spPr>
            <a:xfrm>
              <a:off x="2665885" y="5288133"/>
              <a:ext cx="223587" cy="47240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/>
            <p:cNvCxnSpPr>
              <a:stCxn id="5" idx="3"/>
              <a:endCxn id="9" idx="1"/>
            </p:cNvCxnSpPr>
            <p:nvPr/>
          </p:nvCxnSpPr>
          <p:spPr>
            <a:xfrm flipV="1">
              <a:off x="4617788" y="1552830"/>
              <a:ext cx="484535" cy="28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880542" y="610168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 모델링 과정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요구사항 수집 및 분석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요구사항 수집 방법</a:t>
            </a:r>
            <a:endParaRPr lang="en-US" altLang="ko-KR" dirty="0" smtClean="0"/>
          </a:p>
          <a:p>
            <a:endParaRPr lang="en-US" altLang="ko-KR" sz="500" dirty="0" smtClean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0" dirty="0" smtClean="0"/>
              <a:t>실제 문서를 수집하고 분석함</a:t>
            </a:r>
            <a:endParaRPr lang="en-US" altLang="ko-KR" sz="1400" b="0" dirty="0" smtClean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0" dirty="0" smtClean="0"/>
              <a:t>담당자와의 인터뷰나 설문조사를 통해 요구사항을 직접 수렴함</a:t>
            </a:r>
            <a:endParaRPr lang="en-US" altLang="ko-KR" sz="1400" b="0" dirty="0" smtClean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0" dirty="0" smtClean="0"/>
              <a:t>비슷한 업무를 처리하는 기존의 데이터베이스를 분석함</a:t>
            </a:r>
            <a:endParaRPr lang="en-US" altLang="ko-KR" sz="1400" b="0" dirty="0" smtClean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0" dirty="0" smtClean="0"/>
              <a:t>각 업무와 연관된 모든 부분을 살펴봄</a:t>
            </a:r>
            <a:endParaRPr lang="ko-KR" altLang="en-US" sz="14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개념적 모델링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 dirty="0" smtClean="0"/>
              <a:t>개념적 모델링</a:t>
            </a:r>
            <a:r>
              <a:rPr lang="en-US" altLang="ko-KR" dirty="0" smtClean="0"/>
              <a:t>(conceptual modeling)</a:t>
            </a:r>
          </a:p>
          <a:p>
            <a:pPr lvl="1" algn="just"/>
            <a:r>
              <a:rPr lang="ko-KR" altLang="en-US" b="0" dirty="0" smtClean="0"/>
              <a:t>요구사항을 수집하고 분석한 결과를 토대로 업무의 핵심적인 개념을 구분하고 전체적인 뼈대를 만드는 과정</a:t>
            </a:r>
            <a:endParaRPr lang="en-US" altLang="ko-KR" b="0" dirty="0" smtClean="0"/>
          </a:p>
          <a:p>
            <a:pPr lvl="1" algn="just"/>
            <a:r>
              <a:rPr lang="ko-KR" altLang="en-US" dirty="0" smtClean="0"/>
              <a:t>개체</a:t>
            </a:r>
            <a:r>
              <a:rPr lang="en-US" altLang="ko-KR" dirty="0" smtClean="0"/>
              <a:t>(entity)</a:t>
            </a:r>
            <a:r>
              <a:rPr lang="ko-KR" altLang="en-US" dirty="0" smtClean="0"/>
              <a:t>를 추출하고 각 개체들 간의 관계를 정의하여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r>
              <a:rPr lang="en-US" altLang="ko-KR" dirty="0" smtClean="0"/>
              <a:t>(ERD, Entity Relationship Diagram)</a:t>
            </a:r>
            <a:r>
              <a:rPr lang="ko-KR" altLang="en-US" dirty="0" smtClean="0"/>
              <a:t>을 만드는 과정까지를 말함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883503" y="3274781"/>
            <a:ext cx="1140456" cy="626846"/>
          </a:xfrm>
          <a:prstGeom prst="rect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도서</a:t>
            </a:r>
          </a:p>
        </p:txBody>
      </p:sp>
      <p:sp>
        <p:nvSpPr>
          <p:cNvPr id="5" name="다이아몬드 4"/>
          <p:cNvSpPr/>
          <p:nvPr/>
        </p:nvSpPr>
        <p:spPr>
          <a:xfrm>
            <a:off x="3905299" y="3212097"/>
            <a:ext cx="1487552" cy="752215"/>
          </a:xfrm>
          <a:prstGeom prst="diamond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주문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147818" y="3274781"/>
            <a:ext cx="1140456" cy="626846"/>
          </a:xfrm>
          <a:prstGeom prst="rect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고객</a:t>
            </a:r>
          </a:p>
        </p:txBody>
      </p:sp>
      <p:cxnSp>
        <p:nvCxnSpPr>
          <p:cNvPr id="7" name="직선 연결선 6"/>
          <p:cNvCxnSpPr>
            <a:stCxn id="4" idx="3"/>
            <a:endCxn id="5" idx="1"/>
          </p:cNvCxnSpPr>
          <p:nvPr/>
        </p:nvCxnSpPr>
        <p:spPr>
          <a:xfrm>
            <a:off x="3023959" y="3588204"/>
            <a:ext cx="881340" cy="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8" name="직선 연결선 7"/>
          <p:cNvCxnSpPr>
            <a:stCxn id="5" idx="3"/>
            <a:endCxn id="6" idx="1"/>
          </p:cNvCxnSpPr>
          <p:nvPr/>
        </p:nvCxnSpPr>
        <p:spPr>
          <a:xfrm flipV="1">
            <a:off x="5392851" y="3588204"/>
            <a:ext cx="754967" cy="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9" name="직선 연결선 8"/>
          <p:cNvCxnSpPr>
            <a:stCxn id="4" idx="2"/>
            <a:endCxn id="11" idx="0"/>
          </p:cNvCxnSpPr>
          <p:nvPr/>
        </p:nvCxnSpPr>
        <p:spPr>
          <a:xfrm flipH="1">
            <a:off x="1571734" y="3901627"/>
            <a:ext cx="881997" cy="107615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>
            <a:stCxn id="4" idx="2"/>
            <a:endCxn id="12" idx="0"/>
          </p:cNvCxnSpPr>
          <p:nvPr/>
        </p:nvCxnSpPr>
        <p:spPr>
          <a:xfrm>
            <a:off x="2453731" y="3901627"/>
            <a:ext cx="846195" cy="107615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1187624" y="4977784"/>
            <a:ext cx="768219" cy="46744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도서이름</a:t>
            </a:r>
            <a:endParaRPr lang="ko-KR" altLang="en-US" sz="1200" dirty="0"/>
          </a:p>
        </p:txBody>
      </p:sp>
      <p:sp>
        <p:nvSpPr>
          <p:cNvPr id="12" name="타원 11"/>
          <p:cNvSpPr/>
          <p:nvPr/>
        </p:nvSpPr>
        <p:spPr>
          <a:xfrm>
            <a:off x="2915816" y="4977784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도서단가</a:t>
            </a:r>
            <a:endParaRPr lang="ko-KR" altLang="en-US" sz="1200" dirty="0"/>
          </a:p>
        </p:txBody>
      </p:sp>
      <p:cxnSp>
        <p:nvCxnSpPr>
          <p:cNvPr id="13" name="직선 연결선 12"/>
          <p:cNvCxnSpPr>
            <a:stCxn id="4" idx="2"/>
            <a:endCxn id="15" idx="0"/>
          </p:cNvCxnSpPr>
          <p:nvPr/>
        </p:nvCxnSpPr>
        <p:spPr>
          <a:xfrm flipH="1">
            <a:off x="2453730" y="3901627"/>
            <a:ext cx="1" cy="107615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/>
          <p:cNvSpPr/>
          <p:nvPr/>
        </p:nvSpPr>
        <p:spPr>
          <a:xfrm>
            <a:off x="2069621" y="4977784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도서단가</a:t>
            </a:r>
            <a:endParaRPr lang="ko-KR" altLang="en-US" sz="1200" dirty="0"/>
          </a:p>
        </p:txBody>
      </p:sp>
      <p:sp>
        <p:nvSpPr>
          <p:cNvPr id="15" name="타원 14"/>
          <p:cNvSpPr/>
          <p:nvPr/>
        </p:nvSpPr>
        <p:spPr>
          <a:xfrm>
            <a:off x="2069620" y="4977784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출판사</a:t>
            </a:r>
            <a:endParaRPr lang="ko-KR" altLang="en-US" sz="1200" dirty="0"/>
          </a:p>
        </p:txBody>
      </p:sp>
      <p:cxnSp>
        <p:nvCxnSpPr>
          <p:cNvPr id="16" name="직선 연결선 15"/>
          <p:cNvCxnSpPr>
            <a:stCxn id="5" idx="2"/>
          </p:cNvCxnSpPr>
          <p:nvPr/>
        </p:nvCxnSpPr>
        <p:spPr>
          <a:xfrm>
            <a:off x="4649075" y="3964312"/>
            <a:ext cx="0" cy="101347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/>
          <p:cNvSpPr/>
          <p:nvPr/>
        </p:nvSpPr>
        <p:spPr>
          <a:xfrm>
            <a:off x="4272325" y="4977784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주문일자</a:t>
            </a:r>
            <a:endParaRPr lang="ko-KR" altLang="en-US" sz="1200" dirty="0"/>
          </a:p>
        </p:txBody>
      </p:sp>
      <p:cxnSp>
        <p:nvCxnSpPr>
          <p:cNvPr id="18" name="직선 연결선 17"/>
          <p:cNvCxnSpPr>
            <a:stCxn id="6" idx="2"/>
            <a:endCxn id="20" idx="0"/>
          </p:cNvCxnSpPr>
          <p:nvPr/>
        </p:nvCxnSpPr>
        <p:spPr>
          <a:xfrm flipH="1">
            <a:off x="5898382" y="3901627"/>
            <a:ext cx="819664" cy="107615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>
            <a:stCxn id="6" idx="2"/>
            <a:endCxn id="21" idx="0"/>
          </p:cNvCxnSpPr>
          <p:nvPr/>
        </p:nvCxnSpPr>
        <p:spPr>
          <a:xfrm>
            <a:off x="6718046" y="3901627"/>
            <a:ext cx="878491" cy="101497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5514272" y="4977784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고객이름</a:t>
            </a:r>
            <a:endParaRPr lang="ko-KR" altLang="en-US" sz="1200" dirty="0"/>
          </a:p>
        </p:txBody>
      </p:sp>
      <p:sp>
        <p:nvSpPr>
          <p:cNvPr id="21" name="타원 20"/>
          <p:cNvSpPr/>
          <p:nvPr/>
        </p:nvSpPr>
        <p:spPr>
          <a:xfrm>
            <a:off x="7212427" y="4916602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ko-KR" altLang="en-US" sz="1200" dirty="0" smtClean="0"/>
              <a:t>전화번호</a:t>
            </a:r>
            <a:endParaRPr lang="ko-KR" altLang="en-US" sz="1200" dirty="0"/>
          </a:p>
        </p:txBody>
      </p:sp>
      <p:cxnSp>
        <p:nvCxnSpPr>
          <p:cNvPr id="22" name="직선 연결선 21"/>
          <p:cNvCxnSpPr/>
          <p:nvPr/>
        </p:nvCxnSpPr>
        <p:spPr>
          <a:xfrm flipH="1">
            <a:off x="6718045" y="3921131"/>
            <a:ext cx="1" cy="101347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/>
          <p:cNvSpPr/>
          <p:nvPr/>
        </p:nvSpPr>
        <p:spPr>
          <a:xfrm>
            <a:off x="6348331" y="4953218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주소</a:t>
            </a:r>
            <a:endParaRPr lang="ko-KR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1043608" y="573325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개념적 모델링의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2.3 </a:t>
            </a:r>
            <a:r>
              <a:rPr lang="ko-KR" altLang="en-US" dirty="0" smtClean="0"/>
              <a:t>논리적 모델링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 sz="1400" dirty="0" smtClean="0"/>
              <a:t>논리적 모델링</a:t>
            </a:r>
            <a:r>
              <a:rPr lang="en-US" altLang="ko-KR" sz="1400" dirty="0" smtClean="0"/>
              <a:t>(logical modeling) : </a:t>
            </a:r>
            <a:r>
              <a:rPr lang="ko-KR" altLang="en-US" sz="1400" dirty="0" smtClean="0"/>
              <a:t>개념적 모델링에서 만든 </a:t>
            </a:r>
            <a:r>
              <a:rPr lang="en-US" altLang="ko-KR" sz="1400" dirty="0" smtClean="0"/>
              <a:t>ER </a:t>
            </a:r>
            <a:r>
              <a:rPr lang="ko-KR" altLang="en-US" sz="1400" dirty="0" smtClean="0"/>
              <a:t>다이어그램을 사용하려는</a:t>
            </a:r>
            <a:r>
              <a:rPr lang="en-US" altLang="ko-KR" sz="1400" dirty="0" smtClean="0"/>
              <a:t>DBMS</a:t>
            </a:r>
            <a:r>
              <a:rPr lang="ko-KR" altLang="en-US" sz="1400" dirty="0" smtClean="0"/>
              <a:t>에 맞게 사상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매핑</a:t>
            </a:r>
            <a:r>
              <a:rPr lang="en-US" altLang="ko-KR" sz="1400" dirty="0" smtClean="0"/>
              <a:t>, mapping)</a:t>
            </a:r>
            <a:r>
              <a:rPr lang="ko-KR" altLang="en-US" sz="1400" dirty="0" smtClean="0"/>
              <a:t>하여 실제 데이터베이스로 구현하기 위한 모델을 만드는 과정</a:t>
            </a:r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r>
              <a:rPr lang="ko-KR" altLang="en-US" sz="1400" dirty="0" smtClean="0"/>
              <a:t>논리적 모델링 과정</a:t>
            </a:r>
            <a:endParaRPr lang="en-US" altLang="ko-KR" sz="1400" dirty="0" smtClean="0"/>
          </a:p>
          <a:p>
            <a:pPr algn="just"/>
            <a:endParaRPr lang="en-US" altLang="ko-KR" sz="500" dirty="0" smtClean="0"/>
          </a:p>
          <a:p>
            <a:pPr marL="628650" lvl="1" indent="-266700" algn="just">
              <a:buFont typeface="+mj-lt"/>
              <a:buAutoNum type="arabicPeriod"/>
            </a:pPr>
            <a:r>
              <a:rPr lang="ko-KR" altLang="en-US" dirty="0" smtClean="0"/>
              <a:t>개념적 모델링에서 추출하지 않았던 상세 속성들을 모두 추출함</a:t>
            </a:r>
            <a:endParaRPr lang="en-US" altLang="ko-KR" dirty="0" smtClean="0"/>
          </a:p>
          <a:p>
            <a:pPr marL="628650" lvl="1" indent="-266700" algn="just">
              <a:buFont typeface="+mj-lt"/>
              <a:buAutoNum type="arabicPeriod"/>
            </a:pPr>
            <a:r>
              <a:rPr lang="ko-KR" altLang="en-US" dirty="0" smtClean="0"/>
              <a:t>정규화 수행</a:t>
            </a:r>
            <a:endParaRPr lang="en-US" altLang="ko-KR" dirty="0" smtClean="0"/>
          </a:p>
          <a:p>
            <a:pPr marL="628650" lvl="1" indent="-266700" algn="just">
              <a:buFont typeface="+mj-lt"/>
              <a:buAutoNum type="arabicPeriod"/>
            </a:pPr>
            <a:r>
              <a:rPr lang="ko-KR" altLang="en-US" dirty="0" smtClean="0"/>
              <a:t>데이터 표준화 수행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43609" y="3068960"/>
            <a:ext cx="5184575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tx1"/>
                </a:solidFill>
              </a:rPr>
              <a:t>도서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ko-KR" altLang="en-US" sz="1200" u="sng" dirty="0">
                <a:solidFill>
                  <a:schemeClr val="tx1"/>
                </a:solidFill>
              </a:rPr>
              <a:t>도서번호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도서이름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출판사이름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도서단가</a:t>
            </a:r>
            <a:r>
              <a:rPr lang="en-US" altLang="ko-KR" sz="1200" dirty="0" smtClean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tx1"/>
                </a:solidFill>
              </a:rPr>
              <a:t>고객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ko-KR" altLang="en-US" sz="1200" u="sng" dirty="0">
                <a:solidFill>
                  <a:schemeClr val="tx1"/>
                </a:solidFill>
              </a:rPr>
              <a:t>고객번호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고객이름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주소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전화번호</a:t>
            </a:r>
            <a:r>
              <a:rPr lang="en-US" altLang="ko-KR" sz="1200" dirty="0" smtClean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tx1"/>
                </a:solidFill>
              </a:rPr>
              <a:t>주문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ko-KR" altLang="en-US" sz="1200" u="sng" dirty="0">
                <a:solidFill>
                  <a:schemeClr val="tx1"/>
                </a:solidFill>
              </a:rPr>
              <a:t>주문번호</a:t>
            </a:r>
            <a:r>
              <a:rPr lang="en-US" altLang="ko-KR" sz="1200" dirty="0" smtClean="0">
                <a:solidFill>
                  <a:schemeClr val="tx1"/>
                </a:solidFill>
              </a:rPr>
              <a:t>,</a:t>
            </a:r>
            <a:r>
              <a:rPr lang="ko-KR" altLang="en-US" sz="1200" dirty="0" smtClean="0">
                <a:solidFill>
                  <a:schemeClr val="tx1"/>
                </a:solidFill>
              </a:rPr>
              <a:t>고객번호</a:t>
            </a:r>
            <a:r>
              <a:rPr lang="en-US" altLang="ko-KR" sz="1200" dirty="0">
                <a:solidFill>
                  <a:schemeClr val="tx1"/>
                </a:solidFill>
              </a:rPr>
              <a:t>(FK</a:t>
            </a:r>
            <a:r>
              <a:rPr lang="en-US" altLang="ko-KR" sz="1200" dirty="0" smtClean="0">
                <a:solidFill>
                  <a:schemeClr val="tx1"/>
                </a:solidFill>
              </a:rPr>
              <a:t>),</a:t>
            </a:r>
            <a:r>
              <a:rPr lang="ko-KR" altLang="en-US" sz="1200" dirty="0" smtClean="0">
                <a:solidFill>
                  <a:schemeClr val="tx1"/>
                </a:solidFill>
              </a:rPr>
              <a:t>도서번호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en-US" altLang="ko-KR" sz="1200" dirty="0">
                <a:solidFill>
                  <a:schemeClr val="tx1"/>
                </a:solidFill>
              </a:rPr>
              <a:t>FK),</a:t>
            </a:r>
            <a:r>
              <a:rPr lang="ko-KR" altLang="en-US" sz="1200" dirty="0">
                <a:solidFill>
                  <a:schemeClr val="tx1"/>
                </a:solidFill>
              </a:rPr>
              <a:t>주문일자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주문금액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43608" y="2267548"/>
            <a:ext cx="920261" cy="500606"/>
          </a:xfrm>
          <a:prstGeom prst="rect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도서</a:t>
            </a:r>
          </a:p>
        </p:txBody>
      </p:sp>
      <p:sp>
        <p:nvSpPr>
          <p:cNvPr id="6" name="다이아몬드 5"/>
          <p:cNvSpPr/>
          <p:nvPr/>
        </p:nvSpPr>
        <p:spPr>
          <a:xfrm>
            <a:off x="3065404" y="2204864"/>
            <a:ext cx="1200341" cy="600727"/>
          </a:xfrm>
          <a:prstGeom prst="diamond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주문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307923" y="2267548"/>
            <a:ext cx="920261" cy="500606"/>
          </a:xfrm>
          <a:prstGeom prst="rect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고객</a:t>
            </a:r>
          </a:p>
        </p:txBody>
      </p:sp>
      <p:cxnSp>
        <p:nvCxnSpPr>
          <p:cNvPr id="8" name="직선 연결선 7"/>
          <p:cNvCxnSpPr>
            <a:stCxn id="5" idx="3"/>
            <a:endCxn id="6" idx="1"/>
          </p:cNvCxnSpPr>
          <p:nvPr/>
        </p:nvCxnSpPr>
        <p:spPr>
          <a:xfrm flipV="1">
            <a:off x="1963869" y="2505228"/>
            <a:ext cx="1101535" cy="12623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9" name="직선 연결선 8"/>
          <p:cNvCxnSpPr>
            <a:stCxn id="6" idx="3"/>
            <a:endCxn id="7" idx="1"/>
          </p:cNvCxnSpPr>
          <p:nvPr/>
        </p:nvCxnSpPr>
        <p:spPr>
          <a:xfrm>
            <a:off x="4265745" y="2505228"/>
            <a:ext cx="1042178" cy="12623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10" name="TextBox 9"/>
          <p:cNvSpPr txBox="1"/>
          <p:nvPr/>
        </p:nvSpPr>
        <p:spPr>
          <a:xfrm>
            <a:off x="995983" y="4111179"/>
            <a:ext cx="2069421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0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0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 </a:t>
            </a:r>
            <a:r>
              <a:rPr lang="ko-KR" altLang="en-US" sz="1000" b="1" dirty="0" smtClean="0">
                <a:latin typeface="돋움" pitchFamily="50" charset="-127"/>
                <a:ea typeface="돋움" pitchFamily="50" charset="-127"/>
              </a:rPr>
              <a:t>논리적 모델링의 예</a:t>
            </a:r>
            <a:endParaRPr lang="ko-KR" altLang="en-US" sz="10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2.4 </a:t>
            </a:r>
            <a:r>
              <a:rPr lang="ko-KR" altLang="en-US" dirty="0" smtClean="0"/>
              <a:t>물리적 모델링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 dirty="0" smtClean="0"/>
              <a:t>물리적 모델링</a:t>
            </a:r>
            <a:r>
              <a:rPr lang="en-US" altLang="ko-KR" dirty="0" smtClean="0"/>
              <a:t>(physical </a:t>
            </a:r>
            <a:r>
              <a:rPr lang="en-US" altLang="ko-KR" smtClean="0"/>
              <a:t>modeling)</a:t>
            </a:r>
          </a:p>
          <a:p>
            <a:pPr lvl="1" algn="just"/>
            <a:r>
              <a:rPr lang="ko-KR" altLang="en-US" b="0" smtClean="0"/>
              <a:t>작성된 </a:t>
            </a:r>
            <a:r>
              <a:rPr lang="ko-KR" altLang="en-US" b="0" dirty="0" smtClean="0"/>
              <a:t>논리적 모델을 실제 컴퓨터의 저장 장치에 저장하기 위한 물리적 구조를 정의하고 구현하는 과정</a:t>
            </a:r>
            <a:endParaRPr lang="en-US" altLang="ko-KR" b="0" dirty="0" smtClean="0"/>
          </a:p>
          <a:p>
            <a:pPr lvl="1" algn="just"/>
            <a:r>
              <a:rPr lang="en-US" altLang="ko-KR" dirty="0" smtClean="0"/>
              <a:t>DBMS</a:t>
            </a:r>
            <a:r>
              <a:rPr lang="ko-KR" altLang="en-US" dirty="0" smtClean="0"/>
              <a:t>의 특성에 맞게 저장 구조를 정의해야 데이터베이스가 최적의 성능을 낼 수 있음</a:t>
            </a:r>
            <a:endParaRPr lang="ko-KR" altLang="en-US" dirty="0"/>
          </a:p>
        </p:txBody>
      </p:sp>
      <p:sp>
        <p:nvSpPr>
          <p:cNvPr id="4" name="순서도: 자기 디스크 3"/>
          <p:cNvSpPr/>
          <p:nvPr/>
        </p:nvSpPr>
        <p:spPr>
          <a:xfrm>
            <a:off x="1043608" y="2539642"/>
            <a:ext cx="5393672" cy="3769677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1212006" y="3084959"/>
            <a:ext cx="2639913" cy="1225868"/>
          </a:xfrm>
          <a:prstGeom prst="roundRect">
            <a:avLst>
              <a:gd name="adj" fmla="val 5012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</a:rPr>
              <a:t>CREATE TABLE Book (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bookid</a:t>
            </a:r>
            <a:r>
              <a:rPr lang="en-US" altLang="ko-KR" sz="1100" dirty="0">
                <a:solidFill>
                  <a:schemeClr val="tx1"/>
                </a:solidFill>
              </a:rPr>
              <a:t>      </a:t>
            </a:r>
            <a:r>
              <a:rPr lang="en-US" altLang="ko-KR" sz="1100" dirty="0" smtClean="0">
                <a:solidFill>
                  <a:schemeClr val="tx1"/>
                </a:solidFill>
              </a:rPr>
              <a:t>INT </a:t>
            </a:r>
            <a:r>
              <a:rPr lang="en-US" altLang="ko-KR" sz="1100" dirty="0">
                <a:solidFill>
                  <a:schemeClr val="tx1"/>
                </a:solidFill>
              </a:rPr>
              <a:t>PRIMARY KEY,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bookname</a:t>
            </a:r>
            <a:r>
              <a:rPr lang="en-US" altLang="ko-KR" sz="1100" dirty="0">
                <a:solidFill>
                  <a:schemeClr val="tx1"/>
                </a:solidFill>
              </a:rPr>
              <a:t>    VARCHAR(40),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publisher   VARCHAR(40),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price       INT </a:t>
            </a: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);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137670" y="3084959"/>
            <a:ext cx="2299610" cy="1225868"/>
          </a:xfrm>
          <a:prstGeom prst="roundRect">
            <a:avLst>
              <a:gd name="adj" fmla="val 7343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</a:rPr>
              <a:t>CREATE TABLE  Customer (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custid</a:t>
            </a:r>
            <a:r>
              <a:rPr lang="en-US" altLang="ko-KR" sz="1100" dirty="0">
                <a:solidFill>
                  <a:schemeClr val="tx1"/>
                </a:solidFill>
              </a:rPr>
              <a:t>      INT PRIMARY KEY, 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name        VARCHAR(40),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address     VARCHAR(40),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phone       VARCHAR(30)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);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1373932" y="4597127"/>
            <a:ext cx="3558108" cy="1413153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</a:rPr>
              <a:t>CREATE TABLE Orders (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orderid</a:t>
            </a:r>
            <a:r>
              <a:rPr lang="en-US" altLang="ko-KR" sz="1100" dirty="0">
                <a:solidFill>
                  <a:schemeClr val="tx1"/>
                </a:solidFill>
              </a:rPr>
              <a:t> INT  PRIMARY KEY,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custid</a:t>
            </a:r>
            <a:r>
              <a:rPr lang="en-US" altLang="ko-KR" sz="1100" dirty="0">
                <a:solidFill>
                  <a:schemeClr val="tx1"/>
                </a:solidFill>
              </a:rPr>
              <a:t>  INT  REFERENCES Customer(</a:t>
            </a:r>
            <a:r>
              <a:rPr lang="en-US" altLang="ko-KR" sz="1100" dirty="0" err="1">
                <a:solidFill>
                  <a:schemeClr val="tx1"/>
                </a:solidFill>
              </a:rPr>
              <a:t>custid</a:t>
            </a:r>
            <a:r>
              <a:rPr lang="en-US" altLang="ko-KR" sz="1100" dirty="0">
                <a:solidFill>
                  <a:schemeClr val="tx1"/>
                </a:solidFill>
              </a:rPr>
              <a:t>),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bookid</a:t>
            </a:r>
            <a:r>
              <a:rPr lang="en-US" altLang="ko-KR" sz="1100" dirty="0">
                <a:solidFill>
                  <a:schemeClr val="tx1"/>
                </a:solidFill>
              </a:rPr>
              <a:t> INT  REFERENCES Book </a:t>
            </a:r>
            <a:r>
              <a:rPr lang="en-US" altLang="ko-KR" sz="1100" dirty="0" smtClean="0">
                <a:solidFill>
                  <a:schemeClr val="tx1"/>
                </a:solidFill>
              </a:rPr>
              <a:t>(</a:t>
            </a:r>
            <a:r>
              <a:rPr lang="en-US" altLang="ko-KR" sz="1100" dirty="0" err="1">
                <a:solidFill>
                  <a:schemeClr val="tx1"/>
                </a:solidFill>
              </a:rPr>
              <a:t>bookid</a:t>
            </a:r>
            <a:r>
              <a:rPr lang="en-US" altLang="ko-KR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</a:rPr>
              <a:t>),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  </a:t>
            </a:r>
            <a:r>
              <a:rPr lang="en-US" altLang="ko-KR" sz="1100" dirty="0" err="1" smtClean="0">
                <a:solidFill>
                  <a:schemeClr val="tx1"/>
                </a:solidFill>
              </a:rPr>
              <a:t>orderdate</a:t>
            </a:r>
            <a:r>
              <a:rPr lang="en-US" altLang="ko-KR" sz="1100" dirty="0" smtClean="0">
                <a:solidFill>
                  <a:schemeClr val="tx1"/>
                </a:solidFill>
              </a:rPr>
              <a:t> DATE,</a:t>
            </a: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  </a:t>
            </a:r>
            <a:r>
              <a:rPr lang="en-US" altLang="ko-KR" sz="1100" dirty="0" err="1" smtClean="0">
                <a:solidFill>
                  <a:schemeClr val="tx1"/>
                </a:solidFill>
              </a:rPr>
              <a:t>saleprice</a:t>
            </a:r>
            <a:r>
              <a:rPr lang="en-US" altLang="ko-KR" sz="1100" dirty="0" smtClean="0">
                <a:solidFill>
                  <a:schemeClr val="tx1"/>
                </a:solidFill>
              </a:rPr>
              <a:t> INT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);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169715" y="2833886"/>
            <a:ext cx="34325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b="1" dirty="0" smtClean="0">
                <a:latin typeface="+mn-ea"/>
              </a:rPr>
              <a:t>도서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ko-KR" altLang="en-US" sz="1000" u="sng" dirty="0">
                <a:latin typeface="+mn-ea"/>
              </a:rPr>
              <a:t>도서번호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도서이름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출판사이름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도서단가</a:t>
            </a:r>
            <a:r>
              <a:rPr lang="en-US" altLang="ko-KR" sz="1000" dirty="0" smtClean="0">
                <a:latin typeface="+mn-ea"/>
              </a:rPr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308398" y="4346054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 b="1" dirty="0" smtClean="0">
                <a:latin typeface="+mn-ea"/>
              </a:rPr>
              <a:t>주문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u="sng" dirty="0">
                <a:latin typeface="+mn-ea"/>
              </a:rPr>
              <a:t>주문번호</a:t>
            </a:r>
            <a:r>
              <a:rPr lang="en-US" altLang="ko-KR" sz="1000" dirty="0" smtClean="0">
                <a:latin typeface="+mn-ea"/>
              </a:rPr>
              <a:t>,</a:t>
            </a:r>
            <a:r>
              <a:rPr lang="ko-KR" altLang="en-US" sz="1000" dirty="0" smtClean="0">
                <a:latin typeface="+mn-ea"/>
              </a:rPr>
              <a:t>고</a:t>
            </a:r>
            <a:r>
              <a:rPr lang="ko-KR" altLang="en-US" sz="1000" dirty="0">
                <a:latin typeface="+mn-ea"/>
              </a:rPr>
              <a:t>객</a:t>
            </a:r>
            <a:r>
              <a:rPr lang="ko-KR" altLang="en-US" sz="1000" dirty="0" smtClean="0">
                <a:latin typeface="+mn-ea"/>
              </a:rPr>
              <a:t>번호</a:t>
            </a:r>
            <a:r>
              <a:rPr lang="en-US" altLang="ko-KR" sz="1000" dirty="0">
                <a:latin typeface="+mn-ea"/>
              </a:rPr>
              <a:t>(FK</a:t>
            </a:r>
            <a:r>
              <a:rPr lang="en-US" altLang="ko-KR" sz="1000" dirty="0" smtClean="0">
                <a:latin typeface="+mn-ea"/>
              </a:rPr>
              <a:t>),</a:t>
            </a:r>
            <a:r>
              <a:rPr lang="ko-KR" altLang="en-US" sz="1000" dirty="0" smtClean="0">
                <a:latin typeface="+mn-ea"/>
              </a:rPr>
              <a:t>도서번호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en-US" altLang="ko-KR" sz="1000" dirty="0">
                <a:latin typeface="+mn-ea"/>
              </a:rPr>
              <a:t>FK),</a:t>
            </a:r>
            <a:r>
              <a:rPr lang="ko-KR" altLang="en-US" sz="1000" dirty="0">
                <a:latin typeface="+mn-ea"/>
              </a:rPr>
              <a:t>주문일자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주문금액</a:t>
            </a:r>
            <a:r>
              <a:rPr lang="en-US" altLang="ko-KR" sz="1000" dirty="0">
                <a:latin typeface="+mn-ea"/>
              </a:rPr>
              <a:t>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4076328" y="2833886"/>
            <a:ext cx="24449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latin typeface="+mn-ea"/>
              </a:rPr>
              <a:t>고객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u="sng" dirty="0">
                <a:latin typeface="+mn-ea"/>
              </a:rPr>
              <a:t>고객번호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고객이름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주소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전화번호</a:t>
            </a:r>
            <a:r>
              <a:rPr lang="en-US" altLang="ko-KR" sz="1000" dirty="0">
                <a:latin typeface="+mn-ea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290" y="2197560"/>
            <a:ext cx="1338216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tx1"/>
                </a:solidFill>
              </a:rPr>
              <a:t>DBMS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5983" y="638132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물리적 모델링의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2.4 </a:t>
            </a:r>
            <a:r>
              <a:rPr lang="ko-KR" altLang="en-US" dirty="0" smtClean="0"/>
              <a:t>물리적 모델링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물리적 모델링 시 트랜잭션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저장 공간 설계 측면에서 고려할 사항</a:t>
            </a:r>
            <a:endParaRPr lang="en-US" altLang="ko-KR" dirty="0" smtClean="0"/>
          </a:p>
          <a:p>
            <a:endParaRPr lang="en-US" altLang="ko-KR" sz="500" dirty="0" smtClean="0"/>
          </a:p>
          <a:p>
            <a:pPr marL="542925" lvl="1" indent="-276225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smtClean="0"/>
              <a:t>응답시간을 최소화</a:t>
            </a:r>
            <a:endParaRPr lang="en-US" altLang="ko-KR" sz="1400" dirty="0" smtClean="0"/>
          </a:p>
          <a:p>
            <a:pPr marL="542925" lvl="1" indent="-276225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smtClean="0"/>
              <a:t>얼마나 많은 트랜잭션을 동시에 발생시킬 수 있는지 검토</a:t>
            </a:r>
            <a:endParaRPr lang="en-US" altLang="ko-KR" sz="1400" dirty="0" smtClean="0"/>
          </a:p>
          <a:p>
            <a:pPr marL="542925" lvl="1" indent="-276225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smtClean="0"/>
              <a:t>데이터가 저장될 공간을 효율적으로 배치</a:t>
            </a:r>
            <a:endParaRPr lang="en-US" altLang="ko-KR" sz="1400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ER </a:t>
            </a:r>
            <a:r>
              <a:rPr lang="ko-KR" altLang="en-US" dirty="0" smtClean="0"/>
              <a:t>모델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개체와 개체 타입</a:t>
            </a:r>
            <a:endParaRPr lang="en-US" altLang="ko-KR" dirty="0" smtClean="0"/>
          </a:p>
          <a:p>
            <a:r>
              <a:rPr lang="ko-KR" altLang="en-US" dirty="0" smtClean="0"/>
              <a:t>속성</a:t>
            </a:r>
            <a:endParaRPr lang="en-US" altLang="ko-KR" dirty="0" smtClean="0"/>
          </a:p>
          <a:p>
            <a:r>
              <a:rPr lang="ko-KR" altLang="en-US" dirty="0" smtClean="0"/>
              <a:t>관계와 관계 타입</a:t>
            </a:r>
            <a:endParaRPr lang="en-US" altLang="ko-KR" dirty="0" smtClean="0"/>
          </a:p>
          <a:p>
            <a:r>
              <a:rPr lang="ko-KR" altLang="en-US" dirty="0" smtClean="0"/>
              <a:t>약한 개체 타입과 </a:t>
            </a:r>
            <a:r>
              <a:rPr lang="ko-KR" altLang="en-US" dirty="0" err="1" smtClean="0"/>
              <a:t>식별자</a:t>
            </a:r>
            <a:endParaRPr lang="en-US" altLang="ko-KR" dirty="0" smtClean="0"/>
          </a:p>
          <a:p>
            <a:r>
              <a:rPr lang="en-US" altLang="ko-KR" dirty="0" smtClean="0"/>
              <a:t>IE </a:t>
            </a:r>
            <a:r>
              <a:rPr lang="ko-KR" altLang="en-US" dirty="0" smtClean="0"/>
              <a:t>표기법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ER </a:t>
            </a:r>
            <a:r>
              <a:rPr lang="ko-KR" altLang="en-US" dirty="0" smtClean="0"/>
              <a:t>모델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ko-KR" dirty="0" smtClean="0"/>
              <a:t>ER(Entity Relationship) </a:t>
            </a:r>
            <a:r>
              <a:rPr lang="ko-KR" altLang="en-US" smtClean="0"/>
              <a:t>모델 </a:t>
            </a:r>
            <a:r>
              <a:rPr lang="en-US" altLang="ko-KR" smtClean="0"/>
              <a:t>: </a:t>
            </a:r>
            <a:r>
              <a:rPr lang="ko-KR" altLang="en-US" b="0" smtClean="0"/>
              <a:t>세상의 </a:t>
            </a:r>
            <a:r>
              <a:rPr lang="ko-KR" altLang="en-US" b="0" dirty="0" smtClean="0"/>
              <a:t>사물을 개체</a:t>
            </a:r>
            <a:r>
              <a:rPr lang="en-US" altLang="ko-KR" b="0" dirty="0" smtClean="0"/>
              <a:t>(entity)</a:t>
            </a:r>
            <a:r>
              <a:rPr lang="ko-KR" altLang="en-US" b="0" dirty="0" smtClean="0"/>
              <a:t>와 개체 간의 관계</a:t>
            </a:r>
            <a:r>
              <a:rPr lang="en-US" altLang="ko-KR" b="0" dirty="0" smtClean="0"/>
              <a:t>(relationship)</a:t>
            </a:r>
            <a:r>
              <a:rPr lang="ko-KR" altLang="en-US" b="0" dirty="0" smtClean="0"/>
              <a:t>로 표현함</a:t>
            </a:r>
            <a:endParaRPr lang="en-US" altLang="ko-KR" b="0" dirty="0" smtClean="0"/>
          </a:p>
          <a:p>
            <a:pPr algn="just"/>
            <a:r>
              <a:rPr lang="ko-KR" altLang="en-US" dirty="0" smtClean="0"/>
              <a:t>개체 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b="0" dirty="0" smtClean="0"/>
              <a:t>독립적인 의미를 지니고 있는 </a:t>
            </a:r>
            <a:r>
              <a:rPr lang="ko-KR" altLang="en-US" b="0" dirty="0" err="1" smtClean="0"/>
              <a:t>유무형의</a:t>
            </a:r>
            <a:r>
              <a:rPr lang="ko-KR" altLang="en-US" b="0" dirty="0" smtClean="0"/>
              <a:t> 사람 또는 사물</a:t>
            </a:r>
            <a:r>
              <a:rPr lang="en-US" altLang="ko-KR" b="0" dirty="0" smtClean="0"/>
              <a:t>. </a:t>
            </a:r>
            <a:r>
              <a:rPr lang="ko-KR" altLang="en-US" b="0" dirty="0" smtClean="0"/>
              <a:t>개체의 특성을 나타내는 속성</a:t>
            </a:r>
            <a:r>
              <a:rPr lang="en-US" altLang="ko-KR" b="0" dirty="0" smtClean="0"/>
              <a:t>(attribute)</a:t>
            </a:r>
            <a:r>
              <a:rPr lang="ko-KR" altLang="en-US" b="0" dirty="0" smtClean="0"/>
              <a:t>에 의해 식별됨</a:t>
            </a:r>
            <a:r>
              <a:rPr lang="en-US" altLang="ko-KR" b="0" dirty="0" smtClean="0"/>
              <a:t>.</a:t>
            </a:r>
            <a:r>
              <a:rPr lang="ko-KR" altLang="en-US" b="0" dirty="0" smtClean="0"/>
              <a:t> 개체끼리 서로 관계를 가짐</a:t>
            </a:r>
            <a:r>
              <a:rPr lang="en-US" altLang="ko-KR" b="0" dirty="0" smtClean="0"/>
              <a:t>.</a:t>
            </a:r>
            <a:endParaRPr lang="ko-KR" altLang="en-US" b="0" dirty="0"/>
          </a:p>
        </p:txBody>
      </p:sp>
      <p:sp>
        <p:nvSpPr>
          <p:cNvPr id="5" name="TextBox 4"/>
          <p:cNvSpPr txBox="1"/>
          <p:nvPr/>
        </p:nvSpPr>
        <p:spPr>
          <a:xfrm>
            <a:off x="683568" y="6012943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6-8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모델의 기본 개념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99" y="2890683"/>
            <a:ext cx="3211240" cy="31531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ER </a:t>
            </a:r>
            <a:r>
              <a:rPr lang="ko-KR" altLang="en-US" dirty="0" smtClean="0"/>
              <a:t>모델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ER </a:t>
            </a:r>
            <a:r>
              <a:rPr lang="ko-KR" altLang="en-US" dirty="0"/>
              <a:t>다이어그램 </a:t>
            </a:r>
            <a:r>
              <a:rPr lang="en-US" altLang="ko-KR" dirty="0" smtClean="0"/>
              <a:t>: </a:t>
            </a:r>
            <a:r>
              <a:rPr lang="en-US" altLang="ko-KR" b="0" dirty="0" smtClean="0"/>
              <a:t>ER </a:t>
            </a:r>
            <a:r>
              <a:rPr lang="ko-KR" altLang="en-US" b="0" dirty="0" smtClean="0"/>
              <a:t>모델은 개체와 개체 간의 관계를 표준화된 그림으로 나타냄</a:t>
            </a:r>
            <a:endParaRPr lang="ko-KR" altLang="en-US" b="0" dirty="0"/>
          </a:p>
        </p:txBody>
      </p:sp>
      <p:sp>
        <p:nvSpPr>
          <p:cNvPr id="4" name="직사각형 3"/>
          <p:cNvSpPr/>
          <p:nvPr/>
        </p:nvSpPr>
        <p:spPr>
          <a:xfrm>
            <a:off x="2483436" y="2684077"/>
            <a:ext cx="1140456" cy="62684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직원</a:t>
            </a:r>
            <a:endParaRPr lang="ko-KR" altLang="en-US" sz="1400" dirty="0"/>
          </a:p>
        </p:txBody>
      </p:sp>
      <p:sp>
        <p:nvSpPr>
          <p:cNvPr id="5" name="다이아몬드 4"/>
          <p:cNvSpPr/>
          <p:nvPr/>
        </p:nvSpPr>
        <p:spPr>
          <a:xfrm>
            <a:off x="4505232" y="2621393"/>
            <a:ext cx="1487552" cy="752215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작업</a:t>
            </a:r>
            <a:endParaRPr lang="ko-KR" altLang="en-US" sz="1400" dirty="0"/>
          </a:p>
        </p:txBody>
      </p:sp>
      <p:sp>
        <p:nvSpPr>
          <p:cNvPr id="6" name="직사각형 5"/>
          <p:cNvSpPr/>
          <p:nvPr/>
        </p:nvSpPr>
        <p:spPr>
          <a:xfrm>
            <a:off x="6747751" y="2684077"/>
            <a:ext cx="1140456" cy="62684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프로젝트</a:t>
            </a:r>
            <a:endParaRPr lang="ko-KR" altLang="en-US" sz="1400" dirty="0"/>
          </a:p>
        </p:txBody>
      </p:sp>
      <p:sp>
        <p:nvSpPr>
          <p:cNvPr id="7" name="타원 6"/>
          <p:cNvSpPr/>
          <p:nvPr/>
        </p:nvSpPr>
        <p:spPr>
          <a:xfrm>
            <a:off x="1486364" y="4393346"/>
            <a:ext cx="768219" cy="46744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직원번호</a:t>
            </a:r>
            <a:endParaRPr lang="ko-KR" altLang="en-US" sz="1200" dirty="0"/>
          </a:p>
        </p:txBody>
      </p:sp>
      <p:cxnSp>
        <p:nvCxnSpPr>
          <p:cNvPr id="8" name="직선 연결선 7"/>
          <p:cNvCxnSpPr>
            <a:stCxn id="4" idx="2"/>
            <a:endCxn id="7" idx="0"/>
          </p:cNvCxnSpPr>
          <p:nvPr/>
        </p:nvCxnSpPr>
        <p:spPr>
          <a:xfrm flipH="1">
            <a:off x="1870474" y="3310923"/>
            <a:ext cx="1183190" cy="108242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>
            <a:stCxn id="4" idx="2"/>
            <a:endCxn id="20" idx="0"/>
          </p:cNvCxnSpPr>
          <p:nvPr/>
        </p:nvCxnSpPr>
        <p:spPr>
          <a:xfrm flipH="1">
            <a:off x="2774046" y="3310923"/>
            <a:ext cx="279618" cy="108242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>
            <a:stCxn id="4" idx="2"/>
            <a:endCxn id="21" idx="0"/>
          </p:cNvCxnSpPr>
          <p:nvPr/>
        </p:nvCxnSpPr>
        <p:spPr>
          <a:xfrm>
            <a:off x="3053664" y="3310923"/>
            <a:ext cx="616562" cy="107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stCxn id="4" idx="2"/>
            <a:endCxn id="22" idx="0"/>
          </p:cNvCxnSpPr>
          <p:nvPr/>
        </p:nvCxnSpPr>
        <p:spPr>
          <a:xfrm>
            <a:off x="3053664" y="3310923"/>
            <a:ext cx="1537864" cy="109079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6" idx="2"/>
            <a:endCxn id="23" idx="0"/>
          </p:cNvCxnSpPr>
          <p:nvPr/>
        </p:nvCxnSpPr>
        <p:spPr>
          <a:xfrm flipH="1">
            <a:off x="6583418" y="3310923"/>
            <a:ext cx="734561" cy="107503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6" idx="2"/>
            <a:endCxn id="24" idx="0"/>
          </p:cNvCxnSpPr>
          <p:nvPr/>
        </p:nvCxnSpPr>
        <p:spPr>
          <a:xfrm>
            <a:off x="7317979" y="3310923"/>
            <a:ext cx="670059" cy="106763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4" idx="3"/>
            <a:endCxn id="5" idx="1"/>
          </p:cNvCxnSpPr>
          <p:nvPr/>
        </p:nvCxnSpPr>
        <p:spPr>
          <a:xfrm>
            <a:off x="3623892" y="2997500"/>
            <a:ext cx="8813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15" name="직선 연결선 14"/>
          <p:cNvCxnSpPr>
            <a:stCxn id="5" idx="3"/>
            <a:endCxn id="6" idx="1"/>
          </p:cNvCxnSpPr>
          <p:nvPr/>
        </p:nvCxnSpPr>
        <p:spPr>
          <a:xfrm flipV="1">
            <a:off x="5992784" y="2997500"/>
            <a:ext cx="754967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16" name="TextBox 15"/>
          <p:cNvSpPr txBox="1"/>
          <p:nvPr/>
        </p:nvSpPr>
        <p:spPr>
          <a:xfrm>
            <a:off x="3772648" y="2621393"/>
            <a:ext cx="298480" cy="3385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/>
              <a:t>1</a:t>
            </a:r>
            <a:endParaRPr lang="ko-KR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6301486" y="2621393"/>
            <a:ext cx="341760" cy="3385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/>
              <a:t>N</a:t>
            </a:r>
            <a:endParaRPr lang="ko-KR" alt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611560" y="2761940"/>
            <a:ext cx="1119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개체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-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관계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1560" y="43738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속성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2389936" y="4393346"/>
            <a:ext cx="768219" cy="46744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이름</a:t>
            </a:r>
            <a:endParaRPr lang="ko-KR" altLang="en-US" sz="1200" dirty="0"/>
          </a:p>
        </p:txBody>
      </p:sp>
      <p:sp>
        <p:nvSpPr>
          <p:cNvPr id="21" name="타원 20"/>
          <p:cNvSpPr/>
          <p:nvPr/>
        </p:nvSpPr>
        <p:spPr>
          <a:xfrm>
            <a:off x="3286116" y="4384972"/>
            <a:ext cx="768219" cy="46744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직위</a:t>
            </a:r>
            <a:endParaRPr lang="ko-KR" altLang="en-US" sz="1200" dirty="0"/>
          </a:p>
        </p:txBody>
      </p:sp>
      <p:sp>
        <p:nvSpPr>
          <p:cNvPr id="22" name="타원 21"/>
          <p:cNvSpPr/>
          <p:nvPr/>
        </p:nvSpPr>
        <p:spPr>
          <a:xfrm>
            <a:off x="4207418" y="4401720"/>
            <a:ext cx="768219" cy="46744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전화번호</a:t>
            </a:r>
            <a:endParaRPr lang="ko-KR" altLang="en-US" sz="1200" dirty="0"/>
          </a:p>
        </p:txBody>
      </p:sp>
      <p:sp>
        <p:nvSpPr>
          <p:cNvPr id="23" name="타원 22"/>
          <p:cNvSpPr/>
          <p:nvPr/>
        </p:nvSpPr>
        <p:spPr>
          <a:xfrm>
            <a:off x="6199308" y="4385954"/>
            <a:ext cx="768219" cy="46744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과제번호</a:t>
            </a:r>
            <a:endParaRPr lang="ko-KR" altLang="en-US" sz="1200" dirty="0"/>
          </a:p>
        </p:txBody>
      </p:sp>
      <p:sp>
        <p:nvSpPr>
          <p:cNvPr id="24" name="타원 23"/>
          <p:cNvSpPr/>
          <p:nvPr/>
        </p:nvSpPr>
        <p:spPr>
          <a:xfrm>
            <a:off x="7603928" y="4378562"/>
            <a:ext cx="768219" cy="46744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예산</a:t>
            </a:r>
            <a:endParaRPr lang="ko-KR" alt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611560" y="51571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6-9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개체와 개체 타입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개체</a:t>
            </a:r>
            <a:r>
              <a:rPr lang="en-US" altLang="ko-KR" dirty="0" smtClean="0"/>
              <a:t>(</a:t>
            </a:r>
            <a:r>
              <a:rPr lang="en-US" altLang="ko-KR" smtClean="0"/>
              <a:t>entity)</a:t>
            </a:r>
          </a:p>
          <a:p>
            <a:pPr lvl="1"/>
            <a:r>
              <a:rPr lang="ko-KR" altLang="en-US" b="0" smtClean="0"/>
              <a:t>사람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사물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장소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개념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사건과 같이 </a:t>
            </a:r>
            <a:r>
              <a:rPr lang="ko-KR" altLang="en-US" b="0" dirty="0" err="1" smtClean="0"/>
              <a:t>유무형의</a:t>
            </a:r>
            <a:r>
              <a:rPr lang="ko-KR" altLang="en-US" b="0" dirty="0" smtClean="0"/>
              <a:t> 정보를 가지고 있는 독립적인 실체</a:t>
            </a:r>
            <a:endParaRPr lang="en-US" altLang="ko-KR" b="0" dirty="0" smtClean="0"/>
          </a:p>
          <a:p>
            <a:pPr lvl="1"/>
            <a:r>
              <a:rPr lang="ko-KR" altLang="en-US" dirty="0" smtClean="0"/>
              <a:t>비슷한 속성의 개체 타입</a:t>
            </a:r>
            <a:r>
              <a:rPr lang="en-US" altLang="ko-KR" dirty="0" smtClean="0"/>
              <a:t>(entity type)</a:t>
            </a:r>
            <a:r>
              <a:rPr lang="ko-KR" altLang="en-US" dirty="0" smtClean="0"/>
              <a:t>을 구성하며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개체 집합</a:t>
            </a:r>
            <a:r>
              <a:rPr lang="en-US" altLang="ko-KR" dirty="0" smtClean="0"/>
              <a:t>(entity set)</a:t>
            </a:r>
            <a:r>
              <a:rPr lang="ko-KR" altLang="en-US" dirty="0" smtClean="0"/>
              <a:t>으로 묶임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813043" y="3421828"/>
            <a:ext cx="2273142" cy="2052228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795669" y="2638345"/>
            <a:ext cx="2307890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도</a:t>
            </a:r>
            <a:r>
              <a:rPr lang="ko-KR" altLang="en-US" sz="1400" dirty="0"/>
              <a:t>서</a:t>
            </a:r>
          </a:p>
        </p:txBody>
      </p:sp>
      <p:cxnSp>
        <p:nvCxnSpPr>
          <p:cNvPr id="6" name="직선 화살표 연결선 5"/>
          <p:cNvCxnSpPr>
            <a:endCxn id="9" idx="1"/>
          </p:cNvCxnSpPr>
          <p:nvPr/>
        </p:nvCxnSpPr>
        <p:spPr>
          <a:xfrm flipV="1">
            <a:off x="3838568" y="4391944"/>
            <a:ext cx="1384408" cy="3771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/>
          <p:cNvCxnSpPr>
            <a:endCxn id="9" idx="1"/>
          </p:cNvCxnSpPr>
          <p:nvPr/>
        </p:nvCxnSpPr>
        <p:spPr>
          <a:xfrm>
            <a:off x="3365588" y="3947544"/>
            <a:ext cx="1857388" cy="44440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>
            <a:endCxn id="9" idx="1"/>
          </p:cNvCxnSpPr>
          <p:nvPr/>
        </p:nvCxnSpPr>
        <p:spPr>
          <a:xfrm flipV="1">
            <a:off x="3294150" y="4391944"/>
            <a:ext cx="1928826" cy="412857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222976" y="423805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개체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(entity)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cxnSp>
        <p:nvCxnSpPr>
          <p:cNvPr id="10" name="직선 화살표 연결선 9"/>
          <p:cNvCxnSpPr>
            <a:endCxn id="11" idx="1"/>
          </p:cNvCxnSpPr>
          <p:nvPr/>
        </p:nvCxnSpPr>
        <p:spPr>
          <a:xfrm flipV="1">
            <a:off x="4124320" y="5301789"/>
            <a:ext cx="1082890" cy="6042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07210" y="5147900"/>
            <a:ext cx="2008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개체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집합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(entity set)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cxnSp>
        <p:nvCxnSpPr>
          <p:cNvPr id="12" name="직선 화살표 연결선 11"/>
          <p:cNvCxnSpPr>
            <a:stCxn id="5" idx="3"/>
            <a:endCxn id="13" idx="1"/>
          </p:cNvCxnSpPr>
          <p:nvPr/>
        </p:nvCxnSpPr>
        <p:spPr>
          <a:xfrm flipV="1">
            <a:off x="4103559" y="2773915"/>
            <a:ext cx="1118547" cy="8446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22106" y="2620026"/>
            <a:ext cx="2143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개체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타입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(entity type)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grpSp>
        <p:nvGrpSpPr>
          <p:cNvPr id="15" name="Group 4"/>
          <p:cNvGrpSpPr>
            <a:grpSpLocks noChangeAspect="1"/>
          </p:cNvGrpSpPr>
          <p:nvPr/>
        </p:nvGrpSpPr>
        <p:grpSpPr bwMode="auto">
          <a:xfrm>
            <a:off x="2046288" y="3758828"/>
            <a:ext cx="1841500" cy="1606550"/>
            <a:chOff x="1121" y="2140"/>
            <a:chExt cx="1160" cy="1012"/>
          </a:xfrm>
        </p:grpSpPr>
        <p:sp>
          <p:nvSpPr>
            <p:cNvPr id="1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121" y="2140"/>
              <a:ext cx="1160" cy="1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auto">
            <a:xfrm>
              <a:off x="1125" y="2144"/>
              <a:ext cx="1152" cy="1004"/>
            </a:xfrm>
            <a:custGeom>
              <a:avLst/>
              <a:gdLst/>
              <a:ahLst/>
              <a:cxnLst>
                <a:cxn ang="0">
                  <a:pos x="1056" y="538"/>
                </a:cxn>
                <a:cxn ang="0">
                  <a:pos x="1080" y="506"/>
                </a:cxn>
                <a:cxn ang="0">
                  <a:pos x="1084" y="124"/>
                </a:cxn>
                <a:cxn ang="0">
                  <a:pos x="102" y="180"/>
                </a:cxn>
                <a:cxn ang="0">
                  <a:pos x="90" y="186"/>
                </a:cxn>
                <a:cxn ang="0">
                  <a:pos x="66" y="210"/>
                </a:cxn>
                <a:cxn ang="0">
                  <a:pos x="56" y="254"/>
                </a:cxn>
                <a:cxn ang="0">
                  <a:pos x="56" y="274"/>
                </a:cxn>
                <a:cxn ang="0">
                  <a:pos x="60" y="322"/>
                </a:cxn>
                <a:cxn ang="0">
                  <a:pos x="76" y="374"/>
                </a:cxn>
                <a:cxn ang="0">
                  <a:pos x="68" y="374"/>
                </a:cxn>
                <a:cxn ang="0">
                  <a:pos x="54" y="378"/>
                </a:cxn>
                <a:cxn ang="0">
                  <a:pos x="30" y="398"/>
                </a:cxn>
                <a:cxn ang="0">
                  <a:pos x="18" y="428"/>
                </a:cxn>
                <a:cxn ang="0">
                  <a:pos x="14" y="468"/>
                </a:cxn>
                <a:cxn ang="0">
                  <a:pos x="22" y="528"/>
                </a:cxn>
                <a:cxn ang="0">
                  <a:pos x="6" y="550"/>
                </a:cxn>
                <a:cxn ang="0">
                  <a:pos x="0" y="572"/>
                </a:cxn>
                <a:cxn ang="0">
                  <a:pos x="0" y="576"/>
                </a:cxn>
                <a:cxn ang="0">
                  <a:pos x="0" y="674"/>
                </a:cxn>
                <a:cxn ang="0">
                  <a:pos x="0" y="678"/>
                </a:cxn>
                <a:cxn ang="0">
                  <a:pos x="16" y="714"/>
                </a:cxn>
                <a:cxn ang="0">
                  <a:pos x="28" y="726"/>
                </a:cxn>
                <a:cxn ang="0">
                  <a:pos x="32" y="728"/>
                </a:cxn>
                <a:cxn ang="0">
                  <a:pos x="416" y="994"/>
                </a:cxn>
                <a:cxn ang="0">
                  <a:pos x="450" y="1004"/>
                </a:cxn>
                <a:cxn ang="0">
                  <a:pos x="464" y="1002"/>
                </a:cxn>
                <a:cxn ang="0">
                  <a:pos x="1062" y="778"/>
                </a:cxn>
                <a:cxn ang="0">
                  <a:pos x="1086" y="752"/>
                </a:cxn>
                <a:cxn ang="0">
                  <a:pos x="1090" y="726"/>
                </a:cxn>
                <a:cxn ang="0">
                  <a:pos x="1090" y="714"/>
                </a:cxn>
                <a:cxn ang="0">
                  <a:pos x="1076" y="692"/>
                </a:cxn>
                <a:cxn ang="0">
                  <a:pos x="1076" y="658"/>
                </a:cxn>
                <a:cxn ang="0">
                  <a:pos x="1098" y="632"/>
                </a:cxn>
                <a:cxn ang="0">
                  <a:pos x="1100" y="612"/>
                </a:cxn>
                <a:cxn ang="0">
                  <a:pos x="1096" y="594"/>
                </a:cxn>
                <a:cxn ang="0">
                  <a:pos x="1106" y="572"/>
                </a:cxn>
                <a:cxn ang="0">
                  <a:pos x="1108" y="546"/>
                </a:cxn>
                <a:cxn ang="0">
                  <a:pos x="1102" y="528"/>
                </a:cxn>
                <a:cxn ang="0">
                  <a:pos x="1120" y="524"/>
                </a:cxn>
                <a:cxn ang="0">
                  <a:pos x="1140" y="512"/>
                </a:cxn>
                <a:cxn ang="0">
                  <a:pos x="1150" y="492"/>
                </a:cxn>
                <a:cxn ang="0">
                  <a:pos x="1152" y="470"/>
                </a:cxn>
                <a:cxn ang="0">
                  <a:pos x="1146" y="450"/>
                </a:cxn>
                <a:cxn ang="0">
                  <a:pos x="1134" y="436"/>
                </a:cxn>
                <a:cxn ang="0">
                  <a:pos x="1142" y="418"/>
                </a:cxn>
                <a:cxn ang="0">
                  <a:pos x="1152" y="390"/>
                </a:cxn>
                <a:cxn ang="0">
                  <a:pos x="1152" y="384"/>
                </a:cxn>
                <a:cxn ang="0">
                  <a:pos x="1148" y="364"/>
                </a:cxn>
                <a:cxn ang="0">
                  <a:pos x="1136" y="350"/>
                </a:cxn>
                <a:cxn ang="0">
                  <a:pos x="1114" y="316"/>
                </a:cxn>
                <a:cxn ang="0">
                  <a:pos x="1132" y="300"/>
                </a:cxn>
                <a:cxn ang="0">
                  <a:pos x="1140" y="268"/>
                </a:cxn>
                <a:cxn ang="0">
                  <a:pos x="1136" y="248"/>
                </a:cxn>
                <a:cxn ang="0">
                  <a:pos x="1124" y="234"/>
                </a:cxn>
                <a:cxn ang="0">
                  <a:pos x="1130" y="176"/>
                </a:cxn>
                <a:cxn ang="0">
                  <a:pos x="1138" y="150"/>
                </a:cxn>
                <a:cxn ang="0">
                  <a:pos x="1138" y="142"/>
                </a:cxn>
                <a:cxn ang="0">
                  <a:pos x="1130" y="114"/>
                </a:cxn>
                <a:cxn ang="0">
                  <a:pos x="1106" y="98"/>
                </a:cxn>
                <a:cxn ang="0">
                  <a:pos x="708" y="2"/>
                </a:cxn>
                <a:cxn ang="0">
                  <a:pos x="690" y="0"/>
                </a:cxn>
              </a:cxnLst>
              <a:rect l="0" t="0" r="r" b="b"/>
              <a:pathLst>
                <a:path w="1152" h="1004">
                  <a:moveTo>
                    <a:pt x="1056" y="538"/>
                  </a:moveTo>
                  <a:lnTo>
                    <a:pt x="1056" y="538"/>
                  </a:lnTo>
                  <a:lnTo>
                    <a:pt x="1056" y="538"/>
                  </a:lnTo>
                  <a:close/>
                  <a:moveTo>
                    <a:pt x="1080" y="506"/>
                  </a:moveTo>
                  <a:lnTo>
                    <a:pt x="1080" y="506"/>
                  </a:lnTo>
                  <a:lnTo>
                    <a:pt x="1080" y="506"/>
                  </a:lnTo>
                  <a:close/>
                  <a:moveTo>
                    <a:pt x="1084" y="124"/>
                  </a:moveTo>
                  <a:lnTo>
                    <a:pt x="1084" y="124"/>
                  </a:lnTo>
                  <a:lnTo>
                    <a:pt x="1084" y="124"/>
                  </a:lnTo>
                  <a:close/>
                  <a:moveTo>
                    <a:pt x="678" y="2"/>
                  </a:moveTo>
                  <a:lnTo>
                    <a:pt x="678" y="2"/>
                  </a:lnTo>
                  <a:lnTo>
                    <a:pt x="102" y="180"/>
                  </a:lnTo>
                  <a:lnTo>
                    <a:pt x="100" y="180"/>
                  </a:lnTo>
                  <a:lnTo>
                    <a:pt x="100" y="180"/>
                  </a:lnTo>
                  <a:lnTo>
                    <a:pt x="90" y="186"/>
                  </a:lnTo>
                  <a:lnTo>
                    <a:pt x="80" y="192"/>
                  </a:lnTo>
                  <a:lnTo>
                    <a:pt x="74" y="200"/>
                  </a:lnTo>
                  <a:lnTo>
                    <a:pt x="66" y="210"/>
                  </a:lnTo>
                  <a:lnTo>
                    <a:pt x="62" y="224"/>
                  </a:lnTo>
                  <a:lnTo>
                    <a:pt x="58" y="238"/>
                  </a:lnTo>
                  <a:lnTo>
                    <a:pt x="56" y="254"/>
                  </a:lnTo>
                  <a:lnTo>
                    <a:pt x="56" y="272"/>
                  </a:lnTo>
                  <a:lnTo>
                    <a:pt x="56" y="272"/>
                  </a:lnTo>
                  <a:lnTo>
                    <a:pt x="56" y="274"/>
                  </a:lnTo>
                  <a:lnTo>
                    <a:pt x="56" y="274"/>
                  </a:lnTo>
                  <a:lnTo>
                    <a:pt x="56" y="296"/>
                  </a:lnTo>
                  <a:lnTo>
                    <a:pt x="60" y="322"/>
                  </a:lnTo>
                  <a:lnTo>
                    <a:pt x="66" y="348"/>
                  </a:lnTo>
                  <a:lnTo>
                    <a:pt x="70" y="362"/>
                  </a:lnTo>
                  <a:lnTo>
                    <a:pt x="76" y="374"/>
                  </a:lnTo>
                  <a:lnTo>
                    <a:pt x="76" y="374"/>
                  </a:lnTo>
                  <a:lnTo>
                    <a:pt x="64" y="376"/>
                  </a:lnTo>
                  <a:lnTo>
                    <a:pt x="68" y="374"/>
                  </a:lnTo>
                  <a:lnTo>
                    <a:pt x="68" y="374"/>
                  </a:lnTo>
                  <a:lnTo>
                    <a:pt x="60" y="376"/>
                  </a:lnTo>
                  <a:lnTo>
                    <a:pt x="54" y="378"/>
                  </a:lnTo>
                  <a:lnTo>
                    <a:pt x="46" y="382"/>
                  </a:lnTo>
                  <a:lnTo>
                    <a:pt x="40" y="386"/>
                  </a:lnTo>
                  <a:lnTo>
                    <a:pt x="30" y="398"/>
                  </a:lnTo>
                  <a:lnTo>
                    <a:pt x="22" y="414"/>
                  </a:lnTo>
                  <a:lnTo>
                    <a:pt x="22" y="414"/>
                  </a:lnTo>
                  <a:lnTo>
                    <a:pt x="18" y="428"/>
                  </a:lnTo>
                  <a:lnTo>
                    <a:pt x="16" y="442"/>
                  </a:lnTo>
                  <a:lnTo>
                    <a:pt x="14" y="468"/>
                  </a:lnTo>
                  <a:lnTo>
                    <a:pt x="14" y="468"/>
                  </a:lnTo>
                  <a:lnTo>
                    <a:pt x="16" y="502"/>
                  </a:lnTo>
                  <a:lnTo>
                    <a:pt x="20" y="516"/>
                  </a:lnTo>
                  <a:lnTo>
                    <a:pt x="22" y="528"/>
                  </a:lnTo>
                  <a:lnTo>
                    <a:pt x="22" y="528"/>
                  </a:lnTo>
                  <a:lnTo>
                    <a:pt x="12" y="538"/>
                  </a:lnTo>
                  <a:lnTo>
                    <a:pt x="6" y="550"/>
                  </a:lnTo>
                  <a:lnTo>
                    <a:pt x="2" y="560"/>
                  </a:lnTo>
                  <a:lnTo>
                    <a:pt x="0" y="572"/>
                  </a:lnTo>
                  <a:lnTo>
                    <a:pt x="0" y="572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0" y="582"/>
                  </a:lnTo>
                  <a:lnTo>
                    <a:pt x="0" y="674"/>
                  </a:lnTo>
                  <a:lnTo>
                    <a:pt x="0" y="670"/>
                  </a:lnTo>
                  <a:lnTo>
                    <a:pt x="0" y="670"/>
                  </a:lnTo>
                  <a:lnTo>
                    <a:pt x="0" y="678"/>
                  </a:lnTo>
                  <a:lnTo>
                    <a:pt x="0" y="686"/>
                  </a:lnTo>
                  <a:lnTo>
                    <a:pt x="6" y="702"/>
                  </a:lnTo>
                  <a:lnTo>
                    <a:pt x="16" y="714"/>
                  </a:lnTo>
                  <a:lnTo>
                    <a:pt x="22" y="720"/>
                  </a:lnTo>
                  <a:lnTo>
                    <a:pt x="28" y="726"/>
                  </a:lnTo>
                  <a:lnTo>
                    <a:pt x="28" y="726"/>
                  </a:lnTo>
                  <a:lnTo>
                    <a:pt x="28" y="726"/>
                  </a:lnTo>
                  <a:lnTo>
                    <a:pt x="28" y="726"/>
                  </a:lnTo>
                  <a:lnTo>
                    <a:pt x="32" y="728"/>
                  </a:lnTo>
                  <a:lnTo>
                    <a:pt x="418" y="994"/>
                  </a:lnTo>
                  <a:lnTo>
                    <a:pt x="416" y="994"/>
                  </a:lnTo>
                  <a:lnTo>
                    <a:pt x="416" y="994"/>
                  </a:lnTo>
                  <a:lnTo>
                    <a:pt x="426" y="1000"/>
                  </a:lnTo>
                  <a:lnTo>
                    <a:pt x="438" y="1004"/>
                  </a:lnTo>
                  <a:lnTo>
                    <a:pt x="450" y="1004"/>
                  </a:lnTo>
                  <a:lnTo>
                    <a:pt x="462" y="1002"/>
                  </a:lnTo>
                  <a:lnTo>
                    <a:pt x="464" y="1002"/>
                  </a:lnTo>
                  <a:lnTo>
                    <a:pt x="464" y="1002"/>
                  </a:lnTo>
                  <a:lnTo>
                    <a:pt x="464" y="1002"/>
                  </a:lnTo>
                  <a:lnTo>
                    <a:pt x="1062" y="778"/>
                  </a:lnTo>
                  <a:lnTo>
                    <a:pt x="1062" y="778"/>
                  </a:lnTo>
                  <a:lnTo>
                    <a:pt x="1072" y="772"/>
                  </a:lnTo>
                  <a:lnTo>
                    <a:pt x="1082" y="762"/>
                  </a:lnTo>
                  <a:lnTo>
                    <a:pt x="1086" y="752"/>
                  </a:lnTo>
                  <a:lnTo>
                    <a:pt x="1090" y="740"/>
                  </a:lnTo>
                  <a:lnTo>
                    <a:pt x="1090" y="740"/>
                  </a:lnTo>
                  <a:lnTo>
                    <a:pt x="1090" y="726"/>
                  </a:lnTo>
                  <a:lnTo>
                    <a:pt x="1090" y="724"/>
                  </a:lnTo>
                  <a:lnTo>
                    <a:pt x="1090" y="724"/>
                  </a:lnTo>
                  <a:lnTo>
                    <a:pt x="1090" y="714"/>
                  </a:lnTo>
                  <a:lnTo>
                    <a:pt x="1086" y="706"/>
                  </a:lnTo>
                  <a:lnTo>
                    <a:pt x="1082" y="698"/>
                  </a:lnTo>
                  <a:lnTo>
                    <a:pt x="1076" y="692"/>
                  </a:lnTo>
                  <a:lnTo>
                    <a:pt x="1076" y="692"/>
                  </a:lnTo>
                  <a:lnTo>
                    <a:pt x="1076" y="658"/>
                  </a:lnTo>
                  <a:lnTo>
                    <a:pt x="1076" y="658"/>
                  </a:lnTo>
                  <a:lnTo>
                    <a:pt x="1086" y="652"/>
                  </a:lnTo>
                  <a:lnTo>
                    <a:pt x="1094" y="642"/>
                  </a:lnTo>
                  <a:lnTo>
                    <a:pt x="1098" y="632"/>
                  </a:lnTo>
                  <a:lnTo>
                    <a:pt x="1100" y="620"/>
                  </a:lnTo>
                  <a:lnTo>
                    <a:pt x="1100" y="612"/>
                  </a:lnTo>
                  <a:lnTo>
                    <a:pt x="1100" y="612"/>
                  </a:lnTo>
                  <a:lnTo>
                    <a:pt x="1098" y="602"/>
                  </a:lnTo>
                  <a:lnTo>
                    <a:pt x="1096" y="594"/>
                  </a:lnTo>
                  <a:lnTo>
                    <a:pt x="1096" y="594"/>
                  </a:lnTo>
                  <a:lnTo>
                    <a:pt x="1100" y="588"/>
                  </a:lnTo>
                  <a:lnTo>
                    <a:pt x="1104" y="580"/>
                  </a:lnTo>
                  <a:lnTo>
                    <a:pt x="1106" y="572"/>
                  </a:lnTo>
                  <a:lnTo>
                    <a:pt x="1108" y="564"/>
                  </a:lnTo>
                  <a:lnTo>
                    <a:pt x="1108" y="546"/>
                  </a:lnTo>
                  <a:lnTo>
                    <a:pt x="1108" y="546"/>
                  </a:lnTo>
                  <a:lnTo>
                    <a:pt x="1106" y="536"/>
                  </a:lnTo>
                  <a:lnTo>
                    <a:pt x="1102" y="528"/>
                  </a:lnTo>
                  <a:lnTo>
                    <a:pt x="1102" y="528"/>
                  </a:lnTo>
                  <a:lnTo>
                    <a:pt x="1112" y="526"/>
                  </a:lnTo>
                  <a:lnTo>
                    <a:pt x="1112" y="526"/>
                  </a:lnTo>
                  <a:lnTo>
                    <a:pt x="1120" y="524"/>
                  </a:lnTo>
                  <a:lnTo>
                    <a:pt x="1128" y="522"/>
                  </a:lnTo>
                  <a:lnTo>
                    <a:pt x="1134" y="518"/>
                  </a:lnTo>
                  <a:lnTo>
                    <a:pt x="1140" y="512"/>
                  </a:lnTo>
                  <a:lnTo>
                    <a:pt x="1144" y="506"/>
                  </a:lnTo>
                  <a:lnTo>
                    <a:pt x="1148" y="498"/>
                  </a:lnTo>
                  <a:lnTo>
                    <a:pt x="1150" y="492"/>
                  </a:lnTo>
                  <a:lnTo>
                    <a:pt x="1150" y="484"/>
                  </a:lnTo>
                  <a:lnTo>
                    <a:pt x="1150" y="484"/>
                  </a:lnTo>
                  <a:lnTo>
                    <a:pt x="1152" y="470"/>
                  </a:lnTo>
                  <a:lnTo>
                    <a:pt x="1152" y="470"/>
                  </a:lnTo>
                  <a:lnTo>
                    <a:pt x="1150" y="460"/>
                  </a:lnTo>
                  <a:lnTo>
                    <a:pt x="1146" y="450"/>
                  </a:lnTo>
                  <a:lnTo>
                    <a:pt x="1140" y="442"/>
                  </a:lnTo>
                  <a:lnTo>
                    <a:pt x="1134" y="436"/>
                  </a:lnTo>
                  <a:lnTo>
                    <a:pt x="1134" y="436"/>
                  </a:lnTo>
                  <a:lnTo>
                    <a:pt x="1134" y="424"/>
                  </a:lnTo>
                  <a:lnTo>
                    <a:pt x="1134" y="424"/>
                  </a:lnTo>
                  <a:lnTo>
                    <a:pt x="1142" y="418"/>
                  </a:lnTo>
                  <a:lnTo>
                    <a:pt x="1146" y="410"/>
                  </a:lnTo>
                  <a:lnTo>
                    <a:pt x="1150" y="400"/>
                  </a:lnTo>
                  <a:lnTo>
                    <a:pt x="1152" y="390"/>
                  </a:lnTo>
                  <a:lnTo>
                    <a:pt x="1152" y="390"/>
                  </a:lnTo>
                  <a:lnTo>
                    <a:pt x="1152" y="390"/>
                  </a:lnTo>
                  <a:lnTo>
                    <a:pt x="1152" y="384"/>
                  </a:lnTo>
                  <a:lnTo>
                    <a:pt x="1152" y="384"/>
                  </a:lnTo>
                  <a:lnTo>
                    <a:pt x="1152" y="374"/>
                  </a:lnTo>
                  <a:lnTo>
                    <a:pt x="1148" y="364"/>
                  </a:lnTo>
                  <a:lnTo>
                    <a:pt x="1144" y="356"/>
                  </a:lnTo>
                  <a:lnTo>
                    <a:pt x="1136" y="350"/>
                  </a:lnTo>
                  <a:lnTo>
                    <a:pt x="1136" y="350"/>
                  </a:lnTo>
                  <a:lnTo>
                    <a:pt x="1104" y="322"/>
                  </a:lnTo>
                  <a:lnTo>
                    <a:pt x="1104" y="322"/>
                  </a:lnTo>
                  <a:lnTo>
                    <a:pt x="1114" y="316"/>
                  </a:lnTo>
                  <a:lnTo>
                    <a:pt x="1114" y="316"/>
                  </a:lnTo>
                  <a:lnTo>
                    <a:pt x="1124" y="310"/>
                  </a:lnTo>
                  <a:lnTo>
                    <a:pt x="1132" y="300"/>
                  </a:lnTo>
                  <a:lnTo>
                    <a:pt x="1138" y="290"/>
                  </a:lnTo>
                  <a:lnTo>
                    <a:pt x="1140" y="276"/>
                  </a:lnTo>
                  <a:lnTo>
                    <a:pt x="1140" y="268"/>
                  </a:lnTo>
                  <a:lnTo>
                    <a:pt x="1140" y="268"/>
                  </a:lnTo>
                  <a:lnTo>
                    <a:pt x="1138" y="258"/>
                  </a:lnTo>
                  <a:lnTo>
                    <a:pt x="1136" y="248"/>
                  </a:lnTo>
                  <a:lnTo>
                    <a:pt x="1130" y="240"/>
                  </a:lnTo>
                  <a:lnTo>
                    <a:pt x="1124" y="234"/>
                  </a:lnTo>
                  <a:lnTo>
                    <a:pt x="1124" y="234"/>
                  </a:lnTo>
                  <a:lnTo>
                    <a:pt x="1124" y="184"/>
                  </a:lnTo>
                  <a:lnTo>
                    <a:pt x="1124" y="184"/>
                  </a:lnTo>
                  <a:lnTo>
                    <a:pt x="1130" y="176"/>
                  </a:lnTo>
                  <a:lnTo>
                    <a:pt x="1134" y="168"/>
                  </a:lnTo>
                  <a:lnTo>
                    <a:pt x="1138" y="160"/>
                  </a:lnTo>
                  <a:lnTo>
                    <a:pt x="1138" y="150"/>
                  </a:lnTo>
                  <a:lnTo>
                    <a:pt x="1138" y="150"/>
                  </a:lnTo>
                  <a:lnTo>
                    <a:pt x="1138" y="142"/>
                  </a:lnTo>
                  <a:lnTo>
                    <a:pt x="1138" y="142"/>
                  </a:lnTo>
                  <a:lnTo>
                    <a:pt x="1138" y="134"/>
                  </a:lnTo>
                  <a:lnTo>
                    <a:pt x="1136" y="126"/>
                  </a:lnTo>
                  <a:lnTo>
                    <a:pt x="1130" y="114"/>
                  </a:lnTo>
                  <a:lnTo>
                    <a:pt x="1118" y="104"/>
                  </a:lnTo>
                  <a:lnTo>
                    <a:pt x="1112" y="100"/>
                  </a:lnTo>
                  <a:lnTo>
                    <a:pt x="1106" y="98"/>
                  </a:lnTo>
                  <a:lnTo>
                    <a:pt x="1106" y="98"/>
                  </a:lnTo>
                  <a:lnTo>
                    <a:pt x="708" y="2"/>
                  </a:lnTo>
                  <a:lnTo>
                    <a:pt x="708" y="2"/>
                  </a:lnTo>
                  <a:lnTo>
                    <a:pt x="708" y="2"/>
                  </a:lnTo>
                  <a:lnTo>
                    <a:pt x="698" y="0"/>
                  </a:lnTo>
                  <a:lnTo>
                    <a:pt x="690" y="0"/>
                  </a:lnTo>
                  <a:lnTo>
                    <a:pt x="678" y="2"/>
                  </a:lnTo>
                  <a:lnTo>
                    <a:pt x="678" y="2"/>
                  </a:lnTo>
                  <a:close/>
                </a:path>
              </a:pathLst>
            </a:custGeom>
            <a:solidFill>
              <a:srgbClr val="8DD4E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1149" y="2168"/>
              <a:ext cx="1104" cy="956"/>
            </a:xfrm>
            <a:custGeom>
              <a:avLst/>
              <a:gdLst/>
              <a:ahLst/>
              <a:cxnLst>
                <a:cxn ang="0">
                  <a:pos x="84" y="180"/>
                </a:cxn>
                <a:cxn ang="0">
                  <a:pos x="62" y="202"/>
                </a:cxn>
                <a:cxn ang="0">
                  <a:pos x="56" y="248"/>
                </a:cxn>
                <a:cxn ang="0">
                  <a:pos x="64" y="316"/>
                </a:cxn>
                <a:cxn ang="0">
                  <a:pos x="90" y="354"/>
                </a:cxn>
                <a:cxn ang="0">
                  <a:pos x="98" y="356"/>
                </a:cxn>
                <a:cxn ang="0">
                  <a:pos x="114" y="362"/>
                </a:cxn>
                <a:cxn ang="0">
                  <a:pos x="46" y="374"/>
                </a:cxn>
                <a:cxn ang="0">
                  <a:pos x="20" y="398"/>
                </a:cxn>
                <a:cxn ang="0">
                  <a:pos x="14" y="444"/>
                </a:cxn>
                <a:cxn ang="0">
                  <a:pos x="22" y="500"/>
                </a:cxn>
                <a:cxn ang="0">
                  <a:pos x="32" y="516"/>
                </a:cxn>
                <a:cxn ang="0">
                  <a:pos x="12" y="524"/>
                </a:cxn>
                <a:cxn ang="0">
                  <a:pos x="0" y="548"/>
                </a:cxn>
                <a:cxn ang="0">
                  <a:pos x="0" y="550"/>
                </a:cxn>
                <a:cxn ang="0">
                  <a:pos x="0" y="648"/>
                </a:cxn>
                <a:cxn ang="0">
                  <a:pos x="16" y="682"/>
                </a:cxn>
                <a:cxn ang="0">
                  <a:pos x="34" y="692"/>
                </a:cxn>
                <a:cxn ang="0">
                  <a:pos x="416" y="956"/>
                </a:cxn>
                <a:cxn ang="0">
                  <a:pos x="1028" y="732"/>
                </a:cxn>
                <a:cxn ang="0">
                  <a:pos x="1040" y="720"/>
                </a:cxn>
                <a:cxn ang="0">
                  <a:pos x="1042" y="700"/>
                </a:cxn>
                <a:cxn ang="0">
                  <a:pos x="1036" y="686"/>
                </a:cxn>
                <a:cxn ang="0">
                  <a:pos x="1028" y="680"/>
                </a:cxn>
                <a:cxn ang="0">
                  <a:pos x="1038" y="616"/>
                </a:cxn>
                <a:cxn ang="0">
                  <a:pos x="1052" y="596"/>
                </a:cxn>
                <a:cxn ang="0">
                  <a:pos x="1048" y="576"/>
                </a:cxn>
                <a:cxn ang="0">
                  <a:pos x="1028" y="564"/>
                </a:cxn>
                <a:cxn ang="0">
                  <a:pos x="1050" y="558"/>
                </a:cxn>
                <a:cxn ang="0">
                  <a:pos x="1060" y="522"/>
                </a:cxn>
                <a:cxn ang="0">
                  <a:pos x="1052" y="506"/>
                </a:cxn>
                <a:cxn ang="0">
                  <a:pos x="1046" y="504"/>
                </a:cxn>
                <a:cxn ang="0">
                  <a:pos x="1086" y="478"/>
                </a:cxn>
                <a:cxn ang="0">
                  <a:pos x="1102" y="460"/>
                </a:cxn>
                <a:cxn ang="0">
                  <a:pos x="1102" y="440"/>
                </a:cxn>
                <a:cxn ang="0">
                  <a:pos x="1094" y="430"/>
                </a:cxn>
                <a:cxn ang="0">
                  <a:pos x="1086" y="386"/>
                </a:cxn>
                <a:cxn ang="0">
                  <a:pos x="1098" y="378"/>
                </a:cxn>
                <a:cxn ang="0">
                  <a:pos x="1104" y="366"/>
                </a:cxn>
                <a:cxn ang="0">
                  <a:pos x="1098" y="344"/>
                </a:cxn>
                <a:cxn ang="0">
                  <a:pos x="1080" y="270"/>
                </a:cxn>
                <a:cxn ang="0">
                  <a:pos x="1092" y="258"/>
                </a:cxn>
                <a:cxn ang="0">
                  <a:pos x="1092" y="238"/>
                </a:cxn>
                <a:cxn ang="0">
                  <a:pos x="1082" y="226"/>
                </a:cxn>
                <a:cxn ang="0">
                  <a:pos x="1076" y="146"/>
                </a:cxn>
                <a:cxn ang="0">
                  <a:pos x="1088" y="138"/>
                </a:cxn>
                <a:cxn ang="0">
                  <a:pos x="1090" y="118"/>
                </a:cxn>
                <a:cxn ang="0">
                  <a:pos x="1082" y="100"/>
                </a:cxn>
                <a:cxn ang="0">
                  <a:pos x="678" y="0"/>
                </a:cxn>
                <a:cxn ang="0">
                  <a:pos x="660" y="2"/>
                </a:cxn>
              </a:cxnLst>
              <a:rect l="0" t="0" r="r" b="b"/>
              <a:pathLst>
                <a:path w="1104" h="956">
                  <a:moveTo>
                    <a:pt x="660" y="2"/>
                  </a:moveTo>
                  <a:lnTo>
                    <a:pt x="660" y="2"/>
                  </a:lnTo>
                  <a:lnTo>
                    <a:pt x="84" y="180"/>
                  </a:lnTo>
                  <a:lnTo>
                    <a:pt x="84" y="180"/>
                  </a:lnTo>
                  <a:lnTo>
                    <a:pt x="78" y="182"/>
                  </a:lnTo>
                  <a:lnTo>
                    <a:pt x="72" y="188"/>
                  </a:lnTo>
                  <a:lnTo>
                    <a:pt x="66" y="194"/>
                  </a:lnTo>
                  <a:lnTo>
                    <a:pt x="62" y="202"/>
                  </a:lnTo>
                  <a:lnTo>
                    <a:pt x="60" y="210"/>
                  </a:lnTo>
                  <a:lnTo>
                    <a:pt x="58" y="222"/>
                  </a:lnTo>
                  <a:lnTo>
                    <a:pt x="56" y="248"/>
                  </a:lnTo>
                  <a:lnTo>
                    <a:pt x="56" y="248"/>
                  </a:lnTo>
                  <a:lnTo>
                    <a:pt x="56" y="266"/>
                  </a:lnTo>
                  <a:lnTo>
                    <a:pt x="58" y="282"/>
                  </a:lnTo>
                  <a:lnTo>
                    <a:pt x="60" y="300"/>
                  </a:lnTo>
                  <a:lnTo>
                    <a:pt x="64" y="316"/>
                  </a:lnTo>
                  <a:lnTo>
                    <a:pt x="70" y="332"/>
                  </a:lnTo>
                  <a:lnTo>
                    <a:pt x="80" y="346"/>
                  </a:lnTo>
                  <a:lnTo>
                    <a:pt x="84" y="350"/>
                  </a:lnTo>
                  <a:lnTo>
                    <a:pt x="90" y="354"/>
                  </a:lnTo>
                  <a:lnTo>
                    <a:pt x="90" y="354"/>
                  </a:lnTo>
                  <a:lnTo>
                    <a:pt x="90" y="352"/>
                  </a:lnTo>
                  <a:lnTo>
                    <a:pt x="90" y="352"/>
                  </a:lnTo>
                  <a:lnTo>
                    <a:pt x="98" y="356"/>
                  </a:lnTo>
                  <a:lnTo>
                    <a:pt x="98" y="356"/>
                  </a:lnTo>
                  <a:lnTo>
                    <a:pt x="114" y="362"/>
                  </a:lnTo>
                  <a:lnTo>
                    <a:pt x="114" y="362"/>
                  </a:lnTo>
                  <a:lnTo>
                    <a:pt x="114" y="362"/>
                  </a:lnTo>
                  <a:lnTo>
                    <a:pt x="114" y="362"/>
                  </a:lnTo>
                  <a:lnTo>
                    <a:pt x="44" y="374"/>
                  </a:lnTo>
                  <a:lnTo>
                    <a:pt x="46" y="374"/>
                  </a:lnTo>
                  <a:lnTo>
                    <a:pt x="46" y="374"/>
                  </a:lnTo>
                  <a:lnTo>
                    <a:pt x="40" y="376"/>
                  </a:lnTo>
                  <a:lnTo>
                    <a:pt x="34" y="378"/>
                  </a:lnTo>
                  <a:lnTo>
                    <a:pt x="26" y="386"/>
                  </a:lnTo>
                  <a:lnTo>
                    <a:pt x="20" y="398"/>
                  </a:lnTo>
                  <a:lnTo>
                    <a:pt x="20" y="398"/>
                  </a:lnTo>
                  <a:lnTo>
                    <a:pt x="18" y="410"/>
                  </a:lnTo>
                  <a:lnTo>
                    <a:pt x="16" y="422"/>
                  </a:lnTo>
                  <a:lnTo>
                    <a:pt x="14" y="444"/>
                  </a:lnTo>
                  <a:lnTo>
                    <a:pt x="14" y="444"/>
                  </a:lnTo>
                  <a:lnTo>
                    <a:pt x="16" y="460"/>
                  </a:lnTo>
                  <a:lnTo>
                    <a:pt x="18" y="480"/>
                  </a:lnTo>
                  <a:lnTo>
                    <a:pt x="22" y="500"/>
                  </a:lnTo>
                  <a:lnTo>
                    <a:pt x="26" y="508"/>
                  </a:lnTo>
                  <a:lnTo>
                    <a:pt x="30" y="516"/>
                  </a:lnTo>
                  <a:lnTo>
                    <a:pt x="30" y="516"/>
                  </a:lnTo>
                  <a:lnTo>
                    <a:pt x="32" y="516"/>
                  </a:lnTo>
                  <a:lnTo>
                    <a:pt x="32" y="516"/>
                  </a:lnTo>
                  <a:lnTo>
                    <a:pt x="24" y="518"/>
                  </a:lnTo>
                  <a:lnTo>
                    <a:pt x="24" y="518"/>
                  </a:lnTo>
                  <a:lnTo>
                    <a:pt x="12" y="524"/>
                  </a:lnTo>
                  <a:lnTo>
                    <a:pt x="6" y="532"/>
                  </a:lnTo>
                  <a:lnTo>
                    <a:pt x="2" y="540"/>
                  </a:lnTo>
                  <a:lnTo>
                    <a:pt x="0" y="548"/>
                  </a:lnTo>
                  <a:lnTo>
                    <a:pt x="0" y="548"/>
                  </a:lnTo>
                  <a:lnTo>
                    <a:pt x="0" y="550"/>
                  </a:lnTo>
                  <a:lnTo>
                    <a:pt x="0" y="550"/>
                  </a:lnTo>
                  <a:lnTo>
                    <a:pt x="0" y="550"/>
                  </a:lnTo>
                  <a:lnTo>
                    <a:pt x="0" y="550"/>
                  </a:lnTo>
                  <a:lnTo>
                    <a:pt x="0" y="558"/>
                  </a:lnTo>
                  <a:lnTo>
                    <a:pt x="0" y="650"/>
                  </a:lnTo>
                  <a:lnTo>
                    <a:pt x="0" y="648"/>
                  </a:lnTo>
                  <a:lnTo>
                    <a:pt x="0" y="648"/>
                  </a:lnTo>
                  <a:lnTo>
                    <a:pt x="0" y="656"/>
                  </a:lnTo>
                  <a:lnTo>
                    <a:pt x="2" y="666"/>
                  </a:lnTo>
                  <a:lnTo>
                    <a:pt x="8" y="674"/>
                  </a:lnTo>
                  <a:lnTo>
                    <a:pt x="16" y="682"/>
                  </a:lnTo>
                  <a:lnTo>
                    <a:pt x="16" y="682"/>
                  </a:lnTo>
                  <a:lnTo>
                    <a:pt x="16" y="680"/>
                  </a:lnTo>
                  <a:lnTo>
                    <a:pt x="16" y="680"/>
                  </a:lnTo>
                  <a:lnTo>
                    <a:pt x="34" y="692"/>
                  </a:lnTo>
                  <a:lnTo>
                    <a:pt x="406" y="952"/>
                  </a:lnTo>
                  <a:lnTo>
                    <a:pt x="406" y="952"/>
                  </a:lnTo>
                  <a:lnTo>
                    <a:pt x="410" y="954"/>
                  </a:lnTo>
                  <a:lnTo>
                    <a:pt x="416" y="956"/>
                  </a:lnTo>
                  <a:lnTo>
                    <a:pt x="424" y="956"/>
                  </a:lnTo>
                  <a:lnTo>
                    <a:pt x="432" y="954"/>
                  </a:lnTo>
                  <a:lnTo>
                    <a:pt x="432" y="954"/>
                  </a:lnTo>
                  <a:lnTo>
                    <a:pt x="1028" y="732"/>
                  </a:lnTo>
                  <a:lnTo>
                    <a:pt x="1028" y="732"/>
                  </a:lnTo>
                  <a:lnTo>
                    <a:pt x="1034" y="728"/>
                  </a:lnTo>
                  <a:lnTo>
                    <a:pt x="1038" y="724"/>
                  </a:lnTo>
                  <a:lnTo>
                    <a:pt x="1040" y="720"/>
                  </a:lnTo>
                  <a:lnTo>
                    <a:pt x="1042" y="714"/>
                  </a:lnTo>
                  <a:lnTo>
                    <a:pt x="1042" y="714"/>
                  </a:lnTo>
                  <a:lnTo>
                    <a:pt x="1042" y="702"/>
                  </a:lnTo>
                  <a:lnTo>
                    <a:pt x="1042" y="700"/>
                  </a:lnTo>
                  <a:lnTo>
                    <a:pt x="1042" y="700"/>
                  </a:lnTo>
                  <a:lnTo>
                    <a:pt x="1042" y="694"/>
                  </a:lnTo>
                  <a:lnTo>
                    <a:pt x="1040" y="690"/>
                  </a:lnTo>
                  <a:lnTo>
                    <a:pt x="1036" y="686"/>
                  </a:lnTo>
                  <a:lnTo>
                    <a:pt x="1032" y="682"/>
                  </a:lnTo>
                  <a:lnTo>
                    <a:pt x="1032" y="682"/>
                  </a:lnTo>
                  <a:lnTo>
                    <a:pt x="1028" y="680"/>
                  </a:lnTo>
                  <a:lnTo>
                    <a:pt x="1028" y="680"/>
                  </a:lnTo>
                  <a:lnTo>
                    <a:pt x="1028" y="620"/>
                  </a:lnTo>
                  <a:lnTo>
                    <a:pt x="1028" y="620"/>
                  </a:lnTo>
                  <a:lnTo>
                    <a:pt x="1038" y="616"/>
                  </a:lnTo>
                  <a:lnTo>
                    <a:pt x="1038" y="616"/>
                  </a:lnTo>
                  <a:lnTo>
                    <a:pt x="1044" y="612"/>
                  </a:lnTo>
                  <a:lnTo>
                    <a:pt x="1048" y="608"/>
                  </a:lnTo>
                  <a:lnTo>
                    <a:pt x="1050" y="602"/>
                  </a:lnTo>
                  <a:lnTo>
                    <a:pt x="1052" y="596"/>
                  </a:lnTo>
                  <a:lnTo>
                    <a:pt x="1052" y="588"/>
                  </a:lnTo>
                  <a:lnTo>
                    <a:pt x="1052" y="588"/>
                  </a:lnTo>
                  <a:lnTo>
                    <a:pt x="1050" y="582"/>
                  </a:lnTo>
                  <a:lnTo>
                    <a:pt x="1048" y="576"/>
                  </a:lnTo>
                  <a:lnTo>
                    <a:pt x="1044" y="572"/>
                  </a:lnTo>
                  <a:lnTo>
                    <a:pt x="1040" y="570"/>
                  </a:lnTo>
                  <a:lnTo>
                    <a:pt x="1040" y="570"/>
                  </a:lnTo>
                  <a:lnTo>
                    <a:pt x="1028" y="564"/>
                  </a:lnTo>
                  <a:lnTo>
                    <a:pt x="1028" y="564"/>
                  </a:lnTo>
                  <a:lnTo>
                    <a:pt x="1044" y="560"/>
                  </a:lnTo>
                  <a:lnTo>
                    <a:pt x="1044" y="560"/>
                  </a:lnTo>
                  <a:lnTo>
                    <a:pt x="1050" y="558"/>
                  </a:lnTo>
                  <a:lnTo>
                    <a:pt x="1056" y="552"/>
                  </a:lnTo>
                  <a:lnTo>
                    <a:pt x="1058" y="548"/>
                  </a:lnTo>
                  <a:lnTo>
                    <a:pt x="1060" y="540"/>
                  </a:lnTo>
                  <a:lnTo>
                    <a:pt x="1060" y="522"/>
                  </a:lnTo>
                  <a:lnTo>
                    <a:pt x="1060" y="522"/>
                  </a:lnTo>
                  <a:lnTo>
                    <a:pt x="1058" y="516"/>
                  </a:lnTo>
                  <a:lnTo>
                    <a:pt x="1056" y="510"/>
                  </a:lnTo>
                  <a:lnTo>
                    <a:pt x="1052" y="506"/>
                  </a:lnTo>
                  <a:lnTo>
                    <a:pt x="1046" y="504"/>
                  </a:lnTo>
                  <a:lnTo>
                    <a:pt x="1046" y="504"/>
                  </a:lnTo>
                  <a:lnTo>
                    <a:pt x="1046" y="504"/>
                  </a:lnTo>
                  <a:lnTo>
                    <a:pt x="1046" y="504"/>
                  </a:lnTo>
                  <a:lnTo>
                    <a:pt x="1046" y="484"/>
                  </a:lnTo>
                  <a:lnTo>
                    <a:pt x="1046" y="484"/>
                  </a:lnTo>
                  <a:lnTo>
                    <a:pt x="1086" y="478"/>
                  </a:lnTo>
                  <a:lnTo>
                    <a:pt x="1086" y="478"/>
                  </a:lnTo>
                  <a:lnTo>
                    <a:pt x="1092" y="476"/>
                  </a:lnTo>
                  <a:lnTo>
                    <a:pt x="1098" y="472"/>
                  </a:lnTo>
                  <a:lnTo>
                    <a:pt x="1102" y="466"/>
                  </a:lnTo>
                  <a:lnTo>
                    <a:pt x="1102" y="460"/>
                  </a:lnTo>
                  <a:lnTo>
                    <a:pt x="1102" y="460"/>
                  </a:lnTo>
                  <a:lnTo>
                    <a:pt x="1104" y="446"/>
                  </a:lnTo>
                  <a:lnTo>
                    <a:pt x="1104" y="446"/>
                  </a:lnTo>
                  <a:lnTo>
                    <a:pt x="1102" y="440"/>
                  </a:lnTo>
                  <a:lnTo>
                    <a:pt x="1100" y="436"/>
                  </a:lnTo>
                  <a:lnTo>
                    <a:pt x="1098" y="432"/>
                  </a:lnTo>
                  <a:lnTo>
                    <a:pt x="1094" y="430"/>
                  </a:lnTo>
                  <a:lnTo>
                    <a:pt x="1094" y="430"/>
                  </a:lnTo>
                  <a:lnTo>
                    <a:pt x="1086" y="424"/>
                  </a:lnTo>
                  <a:lnTo>
                    <a:pt x="1086" y="424"/>
                  </a:lnTo>
                  <a:lnTo>
                    <a:pt x="1086" y="386"/>
                  </a:lnTo>
                  <a:lnTo>
                    <a:pt x="1086" y="386"/>
                  </a:lnTo>
                  <a:lnTo>
                    <a:pt x="1086" y="386"/>
                  </a:lnTo>
                  <a:lnTo>
                    <a:pt x="1086" y="386"/>
                  </a:lnTo>
                  <a:lnTo>
                    <a:pt x="1094" y="384"/>
                  </a:lnTo>
                  <a:lnTo>
                    <a:pt x="1098" y="378"/>
                  </a:lnTo>
                  <a:lnTo>
                    <a:pt x="1102" y="372"/>
                  </a:lnTo>
                  <a:lnTo>
                    <a:pt x="1104" y="366"/>
                  </a:lnTo>
                  <a:lnTo>
                    <a:pt x="1104" y="366"/>
                  </a:lnTo>
                  <a:lnTo>
                    <a:pt x="1104" y="366"/>
                  </a:lnTo>
                  <a:lnTo>
                    <a:pt x="1104" y="360"/>
                  </a:lnTo>
                  <a:lnTo>
                    <a:pt x="1104" y="360"/>
                  </a:lnTo>
                  <a:lnTo>
                    <a:pt x="1102" y="350"/>
                  </a:lnTo>
                  <a:lnTo>
                    <a:pt x="1098" y="344"/>
                  </a:lnTo>
                  <a:lnTo>
                    <a:pt x="1098" y="344"/>
                  </a:lnTo>
                  <a:lnTo>
                    <a:pt x="1034" y="290"/>
                  </a:lnTo>
                  <a:lnTo>
                    <a:pt x="1034" y="290"/>
                  </a:lnTo>
                  <a:lnTo>
                    <a:pt x="1080" y="270"/>
                  </a:lnTo>
                  <a:lnTo>
                    <a:pt x="1080" y="270"/>
                  </a:lnTo>
                  <a:lnTo>
                    <a:pt x="1084" y="268"/>
                  </a:lnTo>
                  <a:lnTo>
                    <a:pt x="1088" y="264"/>
                  </a:lnTo>
                  <a:lnTo>
                    <a:pt x="1092" y="258"/>
                  </a:lnTo>
                  <a:lnTo>
                    <a:pt x="1092" y="252"/>
                  </a:lnTo>
                  <a:lnTo>
                    <a:pt x="1092" y="244"/>
                  </a:lnTo>
                  <a:lnTo>
                    <a:pt x="1092" y="244"/>
                  </a:lnTo>
                  <a:lnTo>
                    <a:pt x="1092" y="238"/>
                  </a:lnTo>
                  <a:lnTo>
                    <a:pt x="1090" y="234"/>
                  </a:lnTo>
                  <a:lnTo>
                    <a:pt x="1086" y="230"/>
                  </a:lnTo>
                  <a:lnTo>
                    <a:pt x="1082" y="226"/>
                  </a:lnTo>
                  <a:lnTo>
                    <a:pt x="1082" y="226"/>
                  </a:lnTo>
                  <a:lnTo>
                    <a:pt x="1076" y="222"/>
                  </a:lnTo>
                  <a:lnTo>
                    <a:pt x="1076" y="222"/>
                  </a:lnTo>
                  <a:lnTo>
                    <a:pt x="1076" y="146"/>
                  </a:lnTo>
                  <a:lnTo>
                    <a:pt x="1076" y="146"/>
                  </a:lnTo>
                  <a:lnTo>
                    <a:pt x="1078" y="146"/>
                  </a:lnTo>
                  <a:lnTo>
                    <a:pt x="1078" y="146"/>
                  </a:lnTo>
                  <a:lnTo>
                    <a:pt x="1084" y="142"/>
                  </a:lnTo>
                  <a:lnTo>
                    <a:pt x="1088" y="138"/>
                  </a:lnTo>
                  <a:lnTo>
                    <a:pt x="1090" y="132"/>
                  </a:lnTo>
                  <a:lnTo>
                    <a:pt x="1090" y="126"/>
                  </a:lnTo>
                  <a:lnTo>
                    <a:pt x="1090" y="126"/>
                  </a:lnTo>
                  <a:lnTo>
                    <a:pt x="1090" y="118"/>
                  </a:lnTo>
                  <a:lnTo>
                    <a:pt x="1090" y="118"/>
                  </a:lnTo>
                  <a:lnTo>
                    <a:pt x="1090" y="110"/>
                  </a:lnTo>
                  <a:lnTo>
                    <a:pt x="1086" y="104"/>
                  </a:lnTo>
                  <a:lnTo>
                    <a:pt x="1082" y="100"/>
                  </a:lnTo>
                  <a:lnTo>
                    <a:pt x="1076" y="98"/>
                  </a:lnTo>
                  <a:lnTo>
                    <a:pt x="1076" y="98"/>
                  </a:lnTo>
                  <a:lnTo>
                    <a:pt x="680" y="2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68" y="0"/>
                  </a:lnTo>
                  <a:lnTo>
                    <a:pt x="660" y="2"/>
                  </a:lnTo>
                  <a:lnTo>
                    <a:pt x="660" y="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1639" y="2302"/>
              <a:ext cx="560" cy="330"/>
            </a:xfrm>
            <a:custGeom>
              <a:avLst/>
              <a:gdLst/>
              <a:ahLst/>
              <a:cxnLst>
                <a:cxn ang="0">
                  <a:pos x="14" y="330"/>
                </a:cxn>
                <a:cxn ang="0">
                  <a:pos x="560" y="100"/>
                </a:cxn>
                <a:cxn ang="0">
                  <a:pos x="560" y="0"/>
                </a:cxn>
                <a:cxn ang="0">
                  <a:pos x="558" y="0"/>
                </a:cxn>
                <a:cxn ang="0">
                  <a:pos x="14" y="216"/>
                </a:cxn>
                <a:cxn ang="0">
                  <a:pos x="14" y="216"/>
                </a:cxn>
                <a:cxn ang="0">
                  <a:pos x="6" y="216"/>
                </a:cxn>
                <a:cxn ang="0">
                  <a:pos x="4" y="216"/>
                </a:cxn>
                <a:cxn ang="0">
                  <a:pos x="4" y="218"/>
                </a:cxn>
                <a:cxn ang="0">
                  <a:pos x="4" y="218"/>
                </a:cxn>
                <a:cxn ang="0">
                  <a:pos x="0" y="236"/>
                </a:cxn>
                <a:cxn ang="0">
                  <a:pos x="0" y="264"/>
                </a:cxn>
                <a:cxn ang="0">
                  <a:pos x="0" y="280"/>
                </a:cxn>
                <a:cxn ang="0">
                  <a:pos x="4" y="296"/>
                </a:cxn>
                <a:cxn ang="0">
                  <a:pos x="8" y="312"/>
                </a:cxn>
                <a:cxn ang="0">
                  <a:pos x="14" y="328"/>
                </a:cxn>
                <a:cxn ang="0">
                  <a:pos x="14" y="330"/>
                </a:cxn>
              </a:cxnLst>
              <a:rect l="0" t="0" r="r" b="b"/>
              <a:pathLst>
                <a:path w="560" h="330">
                  <a:moveTo>
                    <a:pt x="14" y="330"/>
                  </a:moveTo>
                  <a:lnTo>
                    <a:pt x="560" y="100"/>
                  </a:lnTo>
                  <a:lnTo>
                    <a:pt x="560" y="0"/>
                  </a:lnTo>
                  <a:lnTo>
                    <a:pt x="558" y="0"/>
                  </a:lnTo>
                  <a:lnTo>
                    <a:pt x="14" y="216"/>
                  </a:lnTo>
                  <a:lnTo>
                    <a:pt x="14" y="216"/>
                  </a:lnTo>
                  <a:lnTo>
                    <a:pt x="6" y="216"/>
                  </a:lnTo>
                  <a:lnTo>
                    <a:pt x="4" y="216"/>
                  </a:lnTo>
                  <a:lnTo>
                    <a:pt x="4" y="218"/>
                  </a:lnTo>
                  <a:lnTo>
                    <a:pt x="4" y="218"/>
                  </a:lnTo>
                  <a:lnTo>
                    <a:pt x="0" y="236"/>
                  </a:lnTo>
                  <a:lnTo>
                    <a:pt x="0" y="264"/>
                  </a:lnTo>
                  <a:lnTo>
                    <a:pt x="0" y="280"/>
                  </a:lnTo>
                  <a:lnTo>
                    <a:pt x="4" y="296"/>
                  </a:lnTo>
                  <a:lnTo>
                    <a:pt x="8" y="312"/>
                  </a:lnTo>
                  <a:lnTo>
                    <a:pt x="14" y="328"/>
                  </a:lnTo>
                  <a:lnTo>
                    <a:pt x="14" y="330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8"/>
            <p:cNvSpPr>
              <a:spLocks/>
            </p:cNvSpPr>
            <p:nvPr/>
          </p:nvSpPr>
          <p:spPr bwMode="auto">
            <a:xfrm>
              <a:off x="1309" y="2210"/>
              <a:ext cx="906" cy="304"/>
            </a:xfrm>
            <a:custGeom>
              <a:avLst/>
              <a:gdLst/>
              <a:ahLst/>
              <a:cxnLst>
                <a:cxn ang="0">
                  <a:pos x="6" y="194"/>
                </a:cxn>
                <a:cxn ang="0">
                  <a:pos x="6" y="194"/>
                </a:cxn>
                <a:cxn ang="0">
                  <a:pos x="336" y="304"/>
                </a:cxn>
                <a:cxn ang="0">
                  <a:pos x="336" y="304"/>
                </a:cxn>
                <a:cxn ang="0">
                  <a:pos x="336" y="304"/>
                </a:cxn>
                <a:cxn ang="0">
                  <a:pos x="338" y="304"/>
                </a:cxn>
                <a:cxn ang="0">
                  <a:pos x="342" y="304"/>
                </a:cxn>
                <a:cxn ang="0">
                  <a:pos x="342" y="304"/>
                </a:cxn>
                <a:cxn ang="0">
                  <a:pos x="894" y="84"/>
                </a:cxn>
                <a:cxn ang="0">
                  <a:pos x="894" y="84"/>
                </a:cxn>
                <a:cxn ang="0">
                  <a:pos x="900" y="82"/>
                </a:cxn>
                <a:cxn ang="0">
                  <a:pos x="906" y="80"/>
                </a:cxn>
                <a:cxn ang="0">
                  <a:pos x="580" y="0"/>
                </a:cxn>
                <a:cxn ang="0">
                  <a:pos x="580" y="0"/>
                </a:cxn>
                <a:cxn ang="0">
                  <a:pos x="0" y="192"/>
                </a:cxn>
                <a:cxn ang="0">
                  <a:pos x="6" y="194"/>
                </a:cxn>
              </a:cxnLst>
              <a:rect l="0" t="0" r="r" b="b"/>
              <a:pathLst>
                <a:path w="906" h="304">
                  <a:moveTo>
                    <a:pt x="6" y="194"/>
                  </a:moveTo>
                  <a:lnTo>
                    <a:pt x="6" y="194"/>
                  </a:lnTo>
                  <a:lnTo>
                    <a:pt x="336" y="304"/>
                  </a:lnTo>
                  <a:lnTo>
                    <a:pt x="336" y="304"/>
                  </a:lnTo>
                  <a:lnTo>
                    <a:pt x="336" y="304"/>
                  </a:lnTo>
                  <a:lnTo>
                    <a:pt x="338" y="304"/>
                  </a:lnTo>
                  <a:lnTo>
                    <a:pt x="342" y="304"/>
                  </a:lnTo>
                  <a:lnTo>
                    <a:pt x="342" y="304"/>
                  </a:lnTo>
                  <a:lnTo>
                    <a:pt x="894" y="84"/>
                  </a:lnTo>
                  <a:lnTo>
                    <a:pt x="894" y="84"/>
                  </a:lnTo>
                  <a:lnTo>
                    <a:pt x="900" y="82"/>
                  </a:lnTo>
                  <a:lnTo>
                    <a:pt x="906" y="80"/>
                  </a:lnTo>
                  <a:lnTo>
                    <a:pt x="580" y="0"/>
                  </a:lnTo>
                  <a:lnTo>
                    <a:pt x="580" y="0"/>
                  </a:lnTo>
                  <a:lnTo>
                    <a:pt x="0" y="192"/>
                  </a:lnTo>
                  <a:lnTo>
                    <a:pt x="6" y="194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Freeform 9"/>
            <p:cNvSpPr>
              <a:spLocks/>
            </p:cNvSpPr>
            <p:nvPr/>
          </p:nvSpPr>
          <p:spPr bwMode="auto">
            <a:xfrm>
              <a:off x="1311" y="2534"/>
              <a:ext cx="84" cy="164"/>
            </a:xfrm>
            <a:custGeom>
              <a:avLst/>
              <a:gdLst/>
              <a:ahLst/>
              <a:cxnLst>
                <a:cxn ang="0">
                  <a:pos x="66" y="98"/>
                </a:cxn>
                <a:cxn ang="0">
                  <a:pos x="66" y="98"/>
                </a:cxn>
                <a:cxn ang="0">
                  <a:pos x="64" y="98"/>
                </a:cxn>
                <a:cxn ang="0">
                  <a:pos x="64" y="98"/>
                </a:cxn>
                <a:cxn ang="0">
                  <a:pos x="20" y="8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82" y="164"/>
                </a:cxn>
                <a:cxn ang="0">
                  <a:pos x="84" y="102"/>
                </a:cxn>
                <a:cxn ang="0">
                  <a:pos x="76" y="104"/>
                </a:cxn>
                <a:cxn ang="0">
                  <a:pos x="76" y="104"/>
                </a:cxn>
                <a:cxn ang="0">
                  <a:pos x="72" y="102"/>
                </a:cxn>
                <a:cxn ang="0">
                  <a:pos x="68" y="102"/>
                </a:cxn>
                <a:cxn ang="0">
                  <a:pos x="66" y="98"/>
                </a:cxn>
                <a:cxn ang="0">
                  <a:pos x="66" y="98"/>
                </a:cxn>
              </a:cxnLst>
              <a:rect l="0" t="0" r="r" b="b"/>
              <a:pathLst>
                <a:path w="84" h="164">
                  <a:moveTo>
                    <a:pt x="66" y="98"/>
                  </a:moveTo>
                  <a:lnTo>
                    <a:pt x="66" y="98"/>
                  </a:lnTo>
                  <a:lnTo>
                    <a:pt x="64" y="98"/>
                  </a:lnTo>
                  <a:lnTo>
                    <a:pt x="64" y="98"/>
                  </a:lnTo>
                  <a:lnTo>
                    <a:pt x="20" y="8"/>
                  </a:lnTo>
                  <a:lnTo>
                    <a:pt x="0" y="0"/>
                  </a:lnTo>
                  <a:lnTo>
                    <a:pt x="2" y="4"/>
                  </a:lnTo>
                  <a:lnTo>
                    <a:pt x="82" y="164"/>
                  </a:lnTo>
                  <a:lnTo>
                    <a:pt x="84" y="102"/>
                  </a:lnTo>
                  <a:lnTo>
                    <a:pt x="76" y="104"/>
                  </a:lnTo>
                  <a:lnTo>
                    <a:pt x="76" y="104"/>
                  </a:lnTo>
                  <a:lnTo>
                    <a:pt x="72" y="102"/>
                  </a:lnTo>
                  <a:lnTo>
                    <a:pt x="68" y="102"/>
                  </a:lnTo>
                  <a:lnTo>
                    <a:pt x="66" y="98"/>
                  </a:lnTo>
                  <a:lnTo>
                    <a:pt x="66" y="98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Freeform 10"/>
            <p:cNvSpPr>
              <a:spLocks/>
            </p:cNvSpPr>
            <p:nvPr/>
          </p:nvSpPr>
          <p:spPr bwMode="auto">
            <a:xfrm>
              <a:off x="1901" y="2460"/>
              <a:ext cx="324" cy="106"/>
            </a:xfrm>
            <a:custGeom>
              <a:avLst/>
              <a:gdLst/>
              <a:ahLst/>
              <a:cxnLst>
                <a:cxn ang="0">
                  <a:pos x="244" y="0"/>
                </a:cxn>
                <a:cxn ang="0">
                  <a:pos x="242" y="0"/>
                </a:cxn>
                <a:cxn ang="0">
                  <a:pos x="0" y="102"/>
                </a:cxn>
                <a:cxn ang="0">
                  <a:pos x="0" y="106"/>
                </a:cxn>
                <a:cxn ang="0">
                  <a:pos x="324" y="68"/>
                </a:cxn>
                <a:cxn ang="0">
                  <a:pos x="244" y="0"/>
                </a:cxn>
              </a:cxnLst>
              <a:rect l="0" t="0" r="r" b="b"/>
              <a:pathLst>
                <a:path w="324" h="106">
                  <a:moveTo>
                    <a:pt x="244" y="0"/>
                  </a:moveTo>
                  <a:lnTo>
                    <a:pt x="242" y="0"/>
                  </a:lnTo>
                  <a:lnTo>
                    <a:pt x="0" y="102"/>
                  </a:lnTo>
                  <a:lnTo>
                    <a:pt x="0" y="106"/>
                  </a:lnTo>
                  <a:lnTo>
                    <a:pt x="324" y="68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64442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Freeform 11"/>
            <p:cNvSpPr>
              <a:spLocks/>
            </p:cNvSpPr>
            <p:nvPr/>
          </p:nvSpPr>
          <p:spPr bwMode="auto">
            <a:xfrm>
              <a:off x="1347" y="2548"/>
              <a:ext cx="154" cy="78"/>
            </a:xfrm>
            <a:custGeom>
              <a:avLst/>
              <a:gdLst/>
              <a:ahLst/>
              <a:cxnLst>
                <a:cxn ang="0">
                  <a:pos x="154" y="6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38" y="76"/>
                </a:cxn>
                <a:cxn ang="0">
                  <a:pos x="38" y="76"/>
                </a:cxn>
                <a:cxn ang="0">
                  <a:pos x="38" y="76"/>
                </a:cxn>
                <a:cxn ang="0">
                  <a:pos x="38" y="76"/>
                </a:cxn>
                <a:cxn ang="0">
                  <a:pos x="38" y="76"/>
                </a:cxn>
                <a:cxn ang="0">
                  <a:pos x="40" y="78"/>
                </a:cxn>
                <a:cxn ang="0">
                  <a:pos x="154" y="64"/>
                </a:cxn>
                <a:cxn ang="0">
                  <a:pos x="154" y="60"/>
                </a:cxn>
              </a:cxnLst>
              <a:rect l="0" t="0" r="r" b="b"/>
              <a:pathLst>
                <a:path w="154" h="78">
                  <a:moveTo>
                    <a:pt x="154" y="6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40" y="78"/>
                  </a:lnTo>
                  <a:lnTo>
                    <a:pt x="154" y="64"/>
                  </a:lnTo>
                  <a:lnTo>
                    <a:pt x="154" y="60"/>
                  </a:lnTo>
                  <a:close/>
                </a:path>
              </a:pathLst>
            </a:custGeom>
            <a:solidFill>
              <a:srgbClr val="64442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12"/>
            <p:cNvSpPr>
              <a:spLocks/>
            </p:cNvSpPr>
            <p:nvPr/>
          </p:nvSpPr>
          <p:spPr bwMode="auto">
            <a:xfrm>
              <a:off x="1231" y="2194"/>
              <a:ext cx="652" cy="322"/>
            </a:xfrm>
            <a:custGeom>
              <a:avLst/>
              <a:gdLst/>
              <a:ahLst/>
              <a:cxnLst>
                <a:cxn ang="0">
                  <a:pos x="18" y="302"/>
                </a:cxn>
                <a:cxn ang="0">
                  <a:pos x="18" y="302"/>
                </a:cxn>
                <a:cxn ang="0">
                  <a:pos x="66" y="322"/>
                </a:cxn>
                <a:cxn ang="0">
                  <a:pos x="92" y="312"/>
                </a:cxn>
                <a:cxn ang="0">
                  <a:pos x="28" y="288"/>
                </a:cxn>
                <a:cxn ang="0">
                  <a:pos x="28" y="288"/>
                </a:cxn>
                <a:cxn ang="0">
                  <a:pos x="24" y="282"/>
                </a:cxn>
                <a:cxn ang="0">
                  <a:pos x="20" y="272"/>
                </a:cxn>
                <a:cxn ang="0">
                  <a:pos x="16" y="260"/>
                </a:cxn>
                <a:cxn ang="0">
                  <a:pos x="14" y="246"/>
                </a:cxn>
                <a:cxn ang="0">
                  <a:pos x="14" y="218"/>
                </a:cxn>
                <a:cxn ang="0">
                  <a:pos x="16" y="206"/>
                </a:cxn>
                <a:cxn ang="0">
                  <a:pos x="18" y="196"/>
                </a:cxn>
                <a:cxn ang="0">
                  <a:pos x="18" y="196"/>
                </a:cxn>
                <a:cxn ang="0">
                  <a:pos x="20" y="192"/>
                </a:cxn>
                <a:cxn ang="0">
                  <a:pos x="22" y="190"/>
                </a:cxn>
                <a:cxn ang="0">
                  <a:pos x="26" y="190"/>
                </a:cxn>
                <a:cxn ang="0">
                  <a:pos x="26" y="190"/>
                </a:cxn>
                <a:cxn ang="0">
                  <a:pos x="72" y="206"/>
                </a:cxn>
                <a:cxn ang="0">
                  <a:pos x="72" y="206"/>
                </a:cxn>
                <a:cxn ang="0">
                  <a:pos x="652" y="14"/>
                </a:cxn>
                <a:cxn ang="0">
                  <a:pos x="592" y="0"/>
                </a:cxn>
                <a:cxn ang="0">
                  <a:pos x="592" y="0"/>
                </a:cxn>
                <a:cxn ang="0">
                  <a:pos x="586" y="0"/>
                </a:cxn>
                <a:cxn ang="0">
                  <a:pos x="586" y="0"/>
                </a:cxn>
                <a:cxn ang="0">
                  <a:pos x="10" y="178"/>
                </a:cxn>
                <a:cxn ang="0">
                  <a:pos x="10" y="178"/>
                </a:cxn>
                <a:cxn ang="0">
                  <a:pos x="8" y="180"/>
                </a:cxn>
                <a:cxn ang="0">
                  <a:pos x="4" y="188"/>
                </a:cxn>
                <a:cxn ang="0">
                  <a:pos x="0" y="200"/>
                </a:cxn>
                <a:cxn ang="0">
                  <a:pos x="0" y="220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2" y="252"/>
                </a:cxn>
                <a:cxn ang="0">
                  <a:pos x="6" y="276"/>
                </a:cxn>
                <a:cxn ang="0">
                  <a:pos x="12" y="294"/>
                </a:cxn>
                <a:cxn ang="0">
                  <a:pos x="14" y="300"/>
                </a:cxn>
                <a:cxn ang="0">
                  <a:pos x="18" y="302"/>
                </a:cxn>
                <a:cxn ang="0">
                  <a:pos x="18" y="302"/>
                </a:cxn>
              </a:cxnLst>
              <a:rect l="0" t="0" r="r" b="b"/>
              <a:pathLst>
                <a:path w="652" h="322">
                  <a:moveTo>
                    <a:pt x="18" y="302"/>
                  </a:moveTo>
                  <a:lnTo>
                    <a:pt x="18" y="302"/>
                  </a:lnTo>
                  <a:lnTo>
                    <a:pt x="66" y="322"/>
                  </a:lnTo>
                  <a:lnTo>
                    <a:pt x="92" y="312"/>
                  </a:lnTo>
                  <a:lnTo>
                    <a:pt x="28" y="288"/>
                  </a:lnTo>
                  <a:lnTo>
                    <a:pt x="28" y="288"/>
                  </a:lnTo>
                  <a:lnTo>
                    <a:pt x="24" y="282"/>
                  </a:lnTo>
                  <a:lnTo>
                    <a:pt x="20" y="272"/>
                  </a:lnTo>
                  <a:lnTo>
                    <a:pt x="16" y="260"/>
                  </a:lnTo>
                  <a:lnTo>
                    <a:pt x="14" y="246"/>
                  </a:lnTo>
                  <a:lnTo>
                    <a:pt x="14" y="218"/>
                  </a:lnTo>
                  <a:lnTo>
                    <a:pt x="16" y="206"/>
                  </a:lnTo>
                  <a:lnTo>
                    <a:pt x="18" y="196"/>
                  </a:lnTo>
                  <a:lnTo>
                    <a:pt x="18" y="196"/>
                  </a:lnTo>
                  <a:lnTo>
                    <a:pt x="20" y="192"/>
                  </a:lnTo>
                  <a:lnTo>
                    <a:pt x="22" y="190"/>
                  </a:lnTo>
                  <a:lnTo>
                    <a:pt x="26" y="190"/>
                  </a:lnTo>
                  <a:lnTo>
                    <a:pt x="26" y="190"/>
                  </a:lnTo>
                  <a:lnTo>
                    <a:pt x="72" y="206"/>
                  </a:lnTo>
                  <a:lnTo>
                    <a:pt x="72" y="206"/>
                  </a:lnTo>
                  <a:lnTo>
                    <a:pt x="652" y="14"/>
                  </a:lnTo>
                  <a:lnTo>
                    <a:pt x="592" y="0"/>
                  </a:lnTo>
                  <a:lnTo>
                    <a:pt x="592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10" y="178"/>
                  </a:lnTo>
                  <a:lnTo>
                    <a:pt x="10" y="178"/>
                  </a:lnTo>
                  <a:lnTo>
                    <a:pt x="8" y="180"/>
                  </a:lnTo>
                  <a:lnTo>
                    <a:pt x="4" y="188"/>
                  </a:lnTo>
                  <a:lnTo>
                    <a:pt x="0" y="200"/>
                  </a:lnTo>
                  <a:lnTo>
                    <a:pt x="0" y="22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2" y="252"/>
                  </a:lnTo>
                  <a:lnTo>
                    <a:pt x="6" y="276"/>
                  </a:lnTo>
                  <a:lnTo>
                    <a:pt x="12" y="294"/>
                  </a:lnTo>
                  <a:lnTo>
                    <a:pt x="14" y="300"/>
                  </a:lnTo>
                  <a:lnTo>
                    <a:pt x="18" y="302"/>
                  </a:lnTo>
                  <a:lnTo>
                    <a:pt x="18" y="302"/>
                  </a:lnTo>
                  <a:close/>
                </a:path>
              </a:pathLst>
            </a:custGeom>
            <a:solidFill>
              <a:srgbClr val="D96C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13"/>
            <p:cNvSpPr>
              <a:spLocks/>
            </p:cNvSpPr>
            <p:nvPr/>
          </p:nvSpPr>
          <p:spPr bwMode="auto">
            <a:xfrm>
              <a:off x="1397" y="2542"/>
              <a:ext cx="812" cy="160"/>
            </a:xfrm>
            <a:custGeom>
              <a:avLst/>
              <a:gdLst/>
              <a:ahLst/>
              <a:cxnLst>
                <a:cxn ang="0">
                  <a:pos x="812" y="0"/>
                </a:cxn>
                <a:cxn ang="0">
                  <a:pos x="810" y="0"/>
                </a:cxn>
                <a:cxn ang="0">
                  <a:pos x="452" y="42"/>
                </a:cxn>
                <a:cxn ang="0">
                  <a:pos x="452" y="42"/>
                </a:cxn>
                <a:cxn ang="0">
                  <a:pos x="262" y="122"/>
                </a:cxn>
                <a:cxn ang="0">
                  <a:pos x="262" y="122"/>
                </a:cxn>
                <a:cxn ang="0">
                  <a:pos x="256" y="124"/>
                </a:cxn>
                <a:cxn ang="0">
                  <a:pos x="252" y="124"/>
                </a:cxn>
                <a:cxn ang="0">
                  <a:pos x="248" y="122"/>
                </a:cxn>
                <a:cxn ang="0">
                  <a:pos x="136" y="78"/>
                </a:cxn>
                <a:cxn ang="0">
                  <a:pos x="2" y="94"/>
                </a:cxn>
                <a:cxn ang="0">
                  <a:pos x="0" y="160"/>
                </a:cxn>
                <a:cxn ang="0">
                  <a:pos x="812" y="58"/>
                </a:cxn>
                <a:cxn ang="0">
                  <a:pos x="812" y="0"/>
                </a:cxn>
              </a:cxnLst>
              <a:rect l="0" t="0" r="r" b="b"/>
              <a:pathLst>
                <a:path w="812" h="160">
                  <a:moveTo>
                    <a:pt x="812" y="0"/>
                  </a:moveTo>
                  <a:lnTo>
                    <a:pt x="810" y="0"/>
                  </a:lnTo>
                  <a:lnTo>
                    <a:pt x="452" y="42"/>
                  </a:lnTo>
                  <a:lnTo>
                    <a:pt x="452" y="42"/>
                  </a:lnTo>
                  <a:lnTo>
                    <a:pt x="262" y="122"/>
                  </a:lnTo>
                  <a:lnTo>
                    <a:pt x="262" y="122"/>
                  </a:lnTo>
                  <a:lnTo>
                    <a:pt x="256" y="124"/>
                  </a:lnTo>
                  <a:lnTo>
                    <a:pt x="252" y="124"/>
                  </a:lnTo>
                  <a:lnTo>
                    <a:pt x="248" y="122"/>
                  </a:lnTo>
                  <a:lnTo>
                    <a:pt x="136" y="78"/>
                  </a:lnTo>
                  <a:lnTo>
                    <a:pt x="2" y="94"/>
                  </a:lnTo>
                  <a:lnTo>
                    <a:pt x="0" y="160"/>
                  </a:lnTo>
                  <a:lnTo>
                    <a:pt x="812" y="58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14"/>
            <p:cNvSpPr>
              <a:spLocks/>
            </p:cNvSpPr>
            <p:nvPr/>
          </p:nvSpPr>
          <p:spPr bwMode="auto">
            <a:xfrm>
              <a:off x="1451" y="2732"/>
              <a:ext cx="720" cy="224"/>
            </a:xfrm>
            <a:custGeom>
              <a:avLst/>
              <a:gdLst/>
              <a:ahLst/>
              <a:cxnLst>
                <a:cxn ang="0">
                  <a:pos x="662" y="0"/>
                </a:cxn>
                <a:cxn ang="0">
                  <a:pos x="0" y="156"/>
                </a:cxn>
                <a:cxn ang="0">
                  <a:pos x="126" y="224"/>
                </a:cxn>
                <a:cxn ang="0">
                  <a:pos x="126" y="224"/>
                </a:cxn>
                <a:cxn ang="0">
                  <a:pos x="130" y="224"/>
                </a:cxn>
                <a:cxn ang="0">
                  <a:pos x="132" y="224"/>
                </a:cxn>
                <a:cxn ang="0">
                  <a:pos x="136" y="224"/>
                </a:cxn>
                <a:cxn ang="0">
                  <a:pos x="136" y="224"/>
                </a:cxn>
                <a:cxn ang="0">
                  <a:pos x="714" y="28"/>
                </a:cxn>
                <a:cxn ang="0">
                  <a:pos x="720" y="26"/>
                </a:cxn>
                <a:cxn ang="0">
                  <a:pos x="662" y="0"/>
                </a:cxn>
                <a:cxn ang="0">
                  <a:pos x="662" y="0"/>
                </a:cxn>
              </a:cxnLst>
              <a:rect l="0" t="0" r="r" b="b"/>
              <a:pathLst>
                <a:path w="720" h="224">
                  <a:moveTo>
                    <a:pt x="662" y="0"/>
                  </a:moveTo>
                  <a:lnTo>
                    <a:pt x="0" y="156"/>
                  </a:lnTo>
                  <a:lnTo>
                    <a:pt x="126" y="224"/>
                  </a:lnTo>
                  <a:lnTo>
                    <a:pt x="126" y="224"/>
                  </a:lnTo>
                  <a:lnTo>
                    <a:pt x="130" y="224"/>
                  </a:lnTo>
                  <a:lnTo>
                    <a:pt x="132" y="224"/>
                  </a:lnTo>
                  <a:lnTo>
                    <a:pt x="136" y="224"/>
                  </a:lnTo>
                  <a:lnTo>
                    <a:pt x="136" y="224"/>
                  </a:lnTo>
                  <a:lnTo>
                    <a:pt x="714" y="28"/>
                  </a:lnTo>
                  <a:lnTo>
                    <a:pt x="720" y="26"/>
                  </a:lnTo>
                  <a:lnTo>
                    <a:pt x="662" y="0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rgbClr val="B3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15"/>
            <p:cNvSpPr>
              <a:spLocks/>
            </p:cNvSpPr>
            <p:nvPr/>
          </p:nvSpPr>
          <p:spPr bwMode="auto">
            <a:xfrm>
              <a:off x="1243" y="2690"/>
              <a:ext cx="940" cy="194"/>
            </a:xfrm>
            <a:custGeom>
              <a:avLst/>
              <a:gdLst/>
              <a:ahLst/>
              <a:cxnLst>
                <a:cxn ang="0">
                  <a:pos x="930" y="0"/>
                </a:cxn>
                <a:cxn ang="0">
                  <a:pos x="928" y="0"/>
                </a:cxn>
                <a:cxn ang="0">
                  <a:pos x="182" y="174"/>
                </a:cxn>
                <a:cxn ang="0">
                  <a:pos x="182" y="174"/>
                </a:cxn>
                <a:cxn ang="0">
                  <a:pos x="180" y="174"/>
                </a:cxn>
                <a:cxn ang="0">
                  <a:pos x="20" y="18"/>
                </a:cxn>
                <a:cxn ang="0">
                  <a:pos x="18" y="20"/>
                </a:cxn>
                <a:cxn ang="0">
                  <a:pos x="0" y="20"/>
                </a:cxn>
                <a:cxn ang="0">
                  <a:pos x="176" y="192"/>
                </a:cxn>
                <a:cxn ang="0">
                  <a:pos x="176" y="192"/>
                </a:cxn>
                <a:cxn ang="0">
                  <a:pos x="178" y="194"/>
                </a:cxn>
                <a:cxn ang="0">
                  <a:pos x="178" y="194"/>
                </a:cxn>
                <a:cxn ang="0">
                  <a:pos x="938" y="14"/>
                </a:cxn>
                <a:cxn ang="0">
                  <a:pos x="940" y="14"/>
                </a:cxn>
                <a:cxn ang="0">
                  <a:pos x="940" y="4"/>
                </a:cxn>
                <a:cxn ang="0">
                  <a:pos x="930" y="0"/>
                </a:cxn>
                <a:cxn ang="0">
                  <a:pos x="930" y="0"/>
                </a:cxn>
              </a:cxnLst>
              <a:rect l="0" t="0" r="r" b="b"/>
              <a:pathLst>
                <a:path w="940" h="194">
                  <a:moveTo>
                    <a:pt x="930" y="0"/>
                  </a:moveTo>
                  <a:lnTo>
                    <a:pt x="928" y="0"/>
                  </a:lnTo>
                  <a:lnTo>
                    <a:pt x="182" y="174"/>
                  </a:lnTo>
                  <a:lnTo>
                    <a:pt x="182" y="174"/>
                  </a:lnTo>
                  <a:lnTo>
                    <a:pt x="180" y="174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0" y="20"/>
                  </a:lnTo>
                  <a:lnTo>
                    <a:pt x="176" y="192"/>
                  </a:lnTo>
                  <a:lnTo>
                    <a:pt x="176" y="192"/>
                  </a:lnTo>
                  <a:lnTo>
                    <a:pt x="178" y="194"/>
                  </a:lnTo>
                  <a:lnTo>
                    <a:pt x="178" y="194"/>
                  </a:lnTo>
                  <a:lnTo>
                    <a:pt x="938" y="14"/>
                  </a:lnTo>
                  <a:lnTo>
                    <a:pt x="940" y="14"/>
                  </a:lnTo>
                  <a:lnTo>
                    <a:pt x="940" y="4"/>
                  </a:lnTo>
                  <a:lnTo>
                    <a:pt x="930" y="0"/>
                  </a:lnTo>
                  <a:lnTo>
                    <a:pt x="930" y="0"/>
                  </a:lnTo>
                  <a:close/>
                </a:path>
              </a:pathLst>
            </a:custGeom>
            <a:solidFill>
              <a:srgbClr val="91C74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16"/>
            <p:cNvSpPr>
              <a:spLocks/>
            </p:cNvSpPr>
            <p:nvPr/>
          </p:nvSpPr>
          <p:spPr bwMode="auto">
            <a:xfrm>
              <a:off x="1193" y="2728"/>
              <a:ext cx="376" cy="338"/>
            </a:xfrm>
            <a:custGeom>
              <a:avLst/>
              <a:gdLst/>
              <a:ahLst/>
              <a:cxnLst>
                <a:cxn ang="0">
                  <a:pos x="230" y="168"/>
                </a:cxn>
                <a:cxn ang="0">
                  <a:pos x="230" y="168"/>
                </a:cxn>
                <a:cxn ang="0">
                  <a:pos x="222" y="166"/>
                </a:cxn>
                <a:cxn ang="0">
                  <a:pos x="216" y="164"/>
                </a:cxn>
                <a:cxn ang="0">
                  <a:pos x="216" y="164"/>
                </a:cxn>
                <a:cxn ang="0">
                  <a:pos x="144" y="92"/>
                </a:cxn>
                <a:cxn ang="0">
                  <a:pos x="144" y="92"/>
                </a:cxn>
                <a:cxn ang="0">
                  <a:pos x="4" y="2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0" y="84"/>
                </a:cxn>
                <a:cxn ang="0">
                  <a:pos x="2" y="86"/>
                </a:cxn>
                <a:cxn ang="0">
                  <a:pos x="376" y="338"/>
                </a:cxn>
                <a:cxn ang="0">
                  <a:pos x="374" y="334"/>
                </a:cxn>
                <a:cxn ang="0">
                  <a:pos x="374" y="334"/>
                </a:cxn>
                <a:cxn ang="0">
                  <a:pos x="372" y="316"/>
                </a:cxn>
                <a:cxn ang="0">
                  <a:pos x="370" y="292"/>
                </a:cxn>
                <a:cxn ang="0">
                  <a:pos x="370" y="264"/>
                </a:cxn>
                <a:cxn ang="0">
                  <a:pos x="376" y="230"/>
                </a:cxn>
                <a:cxn ang="0">
                  <a:pos x="376" y="228"/>
                </a:cxn>
                <a:cxn ang="0">
                  <a:pos x="252" y="162"/>
                </a:cxn>
                <a:cxn ang="0">
                  <a:pos x="230" y="168"/>
                </a:cxn>
              </a:cxnLst>
              <a:rect l="0" t="0" r="r" b="b"/>
              <a:pathLst>
                <a:path w="376" h="338">
                  <a:moveTo>
                    <a:pt x="230" y="168"/>
                  </a:moveTo>
                  <a:lnTo>
                    <a:pt x="230" y="168"/>
                  </a:lnTo>
                  <a:lnTo>
                    <a:pt x="222" y="166"/>
                  </a:lnTo>
                  <a:lnTo>
                    <a:pt x="216" y="164"/>
                  </a:lnTo>
                  <a:lnTo>
                    <a:pt x="216" y="164"/>
                  </a:lnTo>
                  <a:lnTo>
                    <a:pt x="144" y="92"/>
                  </a:lnTo>
                  <a:lnTo>
                    <a:pt x="144" y="9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4"/>
                  </a:lnTo>
                  <a:lnTo>
                    <a:pt x="2" y="86"/>
                  </a:lnTo>
                  <a:lnTo>
                    <a:pt x="376" y="338"/>
                  </a:lnTo>
                  <a:lnTo>
                    <a:pt x="374" y="334"/>
                  </a:lnTo>
                  <a:lnTo>
                    <a:pt x="374" y="334"/>
                  </a:lnTo>
                  <a:lnTo>
                    <a:pt x="372" y="316"/>
                  </a:lnTo>
                  <a:lnTo>
                    <a:pt x="370" y="292"/>
                  </a:lnTo>
                  <a:lnTo>
                    <a:pt x="370" y="264"/>
                  </a:lnTo>
                  <a:lnTo>
                    <a:pt x="376" y="230"/>
                  </a:lnTo>
                  <a:lnTo>
                    <a:pt x="376" y="228"/>
                  </a:lnTo>
                  <a:lnTo>
                    <a:pt x="252" y="162"/>
                  </a:lnTo>
                  <a:lnTo>
                    <a:pt x="230" y="168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17"/>
            <p:cNvSpPr>
              <a:spLocks/>
            </p:cNvSpPr>
            <p:nvPr/>
          </p:nvSpPr>
          <p:spPr bwMode="auto">
            <a:xfrm>
              <a:off x="1567" y="2768"/>
              <a:ext cx="584" cy="300"/>
            </a:xfrm>
            <a:custGeom>
              <a:avLst/>
              <a:gdLst/>
              <a:ahLst/>
              <a:cxnLst>
                <a:cxn ang="0">
                  <a:pos x="6" y="298"/>
                </a:cxn>
                <a:cxn ang="0">
                  <a:pos x="6" y="300"/>
                </a:cxn>
                <a:cxn ang="0">
                  <a:pos x="582" y="92"/>
                </a:cxn>
                <a:cxn ang="0">
                  <a:pos x="584" y="6"/>
                </a:cxn>
                <a:cxn ang="0">
                  <a:pos x="584" y="0"/>
                </a:cxn>
                <a:cxn ang="0">
                  <a:pos x="582" y="2"/>
                </a:cxn>
                <a:cxn ang="0">
                  <a:pos x="582" y="2"/>
                </a:cxn>
                <a:cxn ang="0">
                  <a:pos x="22" y="192"/>
                </a:cxn>
                <a:cxn ang="0">
                  <a:pos x="22" y="192"/>
                </a:cxn>
                <a:cxn ang="0">
                  <a:pos x="18" y="192"/>
                </a:cxn>
                <a:cxn ang="0">
                  <a:pos x="14" y="192"/>
                </a:cxn>
                <a:cxn ang="0">
                  <a:pos x="8" y="192"/>
                </a:cxn>
                <a:cxn ang="0">
                  <a:pos x="6" y="190"/>
                </a:cxn>
                <a:cxn ang="0">
                  <a:pos x="6" y="192"/>
                </a:cxn>
                <a:cxn ang="0">
                  <a:pos x="6" y="192"/>
                </a:cxn>
                <a:cxn ang="0">
                  <a:pos x="2" y="212"/>
                </a:cxn>
                <a:cxn ang="0">
                  <a:pos x="0" y="230"/>
                </a:cxn>
                <a:cxn ang="0">
                  <a:pos x="0" y="260"/>
                </a:cxn>
                <a:cxn ang="0">
                  <a:pos x="4" y="284"/>
                </a:cxn>
                <a:cxn ang="0">
                  <a:pos x="6" y="298"/>
                </a:cxn>
                <a:cxn ang="0">
                  <a:pos x="6" y="298"/>
                </a:cxn>
              </a:cxnLst>
              <a:rect l="0" t="0" r="r" b="b"/>
              <a:pathLst>
                <a:path w="584" h="300">
                  <a:moveTo>
                    <a:pt x="6" y="298"/>
                  </a:moveTo>
                  <a:lnTo>
                    <a:pt x="6" y="300"/>
                  </a:lnTo>
                  <a:lnTo>
                    <a:pt x="582" y="92"/>
                  </a:lnTo>
                  <a:lnTo>
                    <a:pt x="584" y="6"/>
                  </a:lnTo>
                  <a:lnTo>
                    <a:pt x="584" y="0"/>
                  </a:lnTo>
                  <a:lnTo>
                    <a:pt x="582" y="2"/>
                  </a:lnTo>
                  <a:lnTo>
                    <a:pt x="582" y="2"/>
                  </a:lnTo>
                  <a:lnTo>
                    <a:pt x="22" y="192"/>
                  </a:lnTo>
                  <a:lnTo>
                    <a:pt x="22" y="192"/>
                  </a:lnTo>
                  <a:lnTo>
                    <a:pt x="18" y="192"/>
                  </a:lnTo>
                  <a:lnTo>
                    <a:pt x="14" y="192"/>
                  </a:lnTo>
                  <a:lnTo>
                    <a:pt x="8" y="192"/>
                  </a:lnTo>
                  <a:lnTo>
                    <a:pt x="6" y="190"/>
                  </a:lnTo>
                  <a:lnTo>
                    <a:pt x="6" y="192"/>
                  </a:lnTo>
                  <a:lnTo>
                    <a:pt x="6" y="192"/>
                  </a:lnTo>
                  <a:lnTo>
                    <a:pt x="2" y="212"/>
                  </a:lnTo>
                  <a:lnTo>
                    <a:pt x="0" y="230"/>
                  </a:lnTo>
                  <a:lnTo>
                    <a:pt x="0" y="260"/>
                  </a:lnTo>
                  <a:lnTo>
                    <a:pt x="4" y="284"/>
                  </a:lnTo>
                  <a:lnTo>
                    <a:pt x="6" y="298"/>
                  </a:lnTo>
                  <a:lnTo>
                    <a:pt x="6" y="298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8"/>
            <p:cNvSpPr>
              <a:spLocks/>
            </p:cNvSpPr>
            <p:nvPr/>
          </p:nvSpPr>
          <p:spPr bwMode="auto">
            <a:xfrm>
              <a:off x="1289" y="2526"/>
              <a:ext cx="938" cy="200"/>
            </a:xfrm>
            <a:custGeom>
              <a:avLst/>
              <a:gdLst/>
              <a:ahLst/>
              <a:cxnLst>
                <a:cxn ang="0">
                  <a:pos x="922" y="82"/>
                </a:cxn>
                <a:cxn ang="0">
                  <a:pos x="920" y="78"/>
                </a:cxn>
                <a:cxn ang="0">
                  <a:pos x="918" y="78"/>
                </a:cxn>
                <a:cxn ang="0">
                  <a:pos x="104" y="180"/>
                </a:cxn>
                <a:cxn ang="0">
                  <a:pos x="104" y="180"/>
                </a:cxn>
                <a:cxn ang="0">
                  <a:pos x="102" y="180"/>
                </a:cxn>
                <a:cxn ang="0">
                  <a:pos x="102" y="180"/>
                </a:cxn>
                <a:cxn ang="0">
                  <a:pos x="16" y="6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98" y="200"/>
                </a:cxn>
                <a:cxn ang="0">
                  <a:pos x="938" y="96"/>
                </a:cxn>
                <a:cxn ang="0">
                  <a:pos x="938" y="92"/>
                </a:cxn>
                <a:cxn ang="0">
                  <a:pos x="922" y="82"/>
                </a:cxn>
              </a:cxnLst>
              <a:rect l="0" t="0" r="r" b="b"/>
              <a:pathLst>
                <a:path w="938" h="200">
                  <a:moveTo>
                    <a:pt x="922" y="82"/>
                  </a:moveTo>
                  <a:lnTo>
                    <a:pt x="920" y="78"/>
                  </a:lnTo>
                  <a:lnTo>
                    <a:pt x="918" y="78"/>
                  </a:lnTo>
                  <a:lnTo>
                    <a:pt x="104" y="180"/>
                  </a:lnTo>
                  <a:lnTo>
                    <a:pt x="104" y="180"/>
                  </a:lnTo>
                  <a:lnTo>
                    <a:pt x="102" y="180"/>
                  </a:lnTo>
                  <a:lnTo>
                    <a:pt x="102" y="180"/>
                  </a:lnTo>
                  <a:lnTo>
                    <a:pt x="16" y="6"/>
                  </a:lnTo>
                  <a:lnTo>
                    <a:pt x="0" y="0"/>
                  </a:lnTo>
                  <a:lnTo>
                    <a:pt x="2" y="4"/>
                  </a:lnTo>
                  <a:lnTo>
                    <a:pt x="98" y="200"/>
                  </a:lnTo>
                  <a:lnTo>
                    <a:pt x="938" y="96"/>
                  </a:lnTo>
                  <a:lnTo>
                    <a:pt x="938" y="92"/>
                  </a:lnTo>
                  <a:lnTo>
                    <a:pt x="922" y="82"/>
                  </a:lnTo>
                  <a:close/>
                </a:path>
              </a:pathLst>
            </a:custGeom>
            <a:solidFill>
              <a:srgbClr val="64442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9"/>
            <p:cNvSpPr>
              <a:spLocks/>
            </p:cNvSpPr>
            <p:nvPr/>
          </p:nvSpPr>
          <p:spPr bwMode="auto">
            <a:xfrm>
              <a:off x="1423" y="2640"/>
              <a:ext cx="746" cy="220"/>
            </a:xfrm>
            <a:custGeom>
              <a:avLst/>
              <a:gdLst/>
              <a:ahLst/>
              <a:cxnLst>
                <a:cxn ang="0">
                  <a:pos x="4" y="220"/>
                </a:cxn>
                <a:cxn ang="0">
                  <a:pos x="746" y="46"/>
                </a:cxn>
                <a:cxn ang="0">
                  <a:pos x="746" y="0"/>
                </a:cxn>
                <a:cxn ang="0">
                  <a:pos x="744" y="2"/>
                </a:cxn>
                <a:cxn ang="0">
                  <a:pos x="530" y="28"/>
                </a:cxn>
                <a:cxn ang="0">
                  <a:pos x="530" y="28"/>
                </a:cxn>
                <a:cxn ang="0">
                  <a:pos x="4" y="144"/>
                </a:cxn>
                <a:cxn ang="0">
                  <a:pos x="4" y="146"/>
                </a:cxn>
                <a:cxn ang="0">
                  <a:pos x="4" y="146"/>
                </a:cxn>
                <a:cxn ang="0">
                  <a:pos x="2" y="152"/>
                </a:cxn>
                <a:cxn ang="0">
                  <a:pos x="0" y="168"/>
                </a:cxn>
                <a:cxn ang="0">
                  <a:pos x="0" y="192"/>
                </a:cxn>
                <a:cxn ang="0">
                  <a:pos x="0" y="204"/>
                </a:cxn>
                <a:cxn ang="0">
                  <a:pos x="4" y="218"/>
                </a:cxn>
                <a:cxn ang="0">
                  <a:pos x="4" y="220"/>
                </a:cxn>
              </a:cxnLst>
              <a:rect l="0" t="0" r="r" b="b"/>
              <a:pathLst>
                <a:path w="746" h="220">
                  <a:moveTo>
                    <a:pt x="4" y="220"/>
                  </a:moveTo>
                  <a:lnTo>
                    <a:pt x="746" y="46"/>
                  </a:lnTo>
                  <a:lnTo>
                    <a:pt x="746" y="0"/>
                  </a:lnTo>
                  <a:lnTo>
                    <a:pt x="744" y="2"/>
                  </a:lnTo>
                  <a:lnTo>
                    <a:pt x="530" y="28"/>
                  </a:lnTo>
                  <a:lnTo>
                    <a:pt x="530" y="28"/>
                  </a:lnTo>
                  <a:lnTo>
                    <a:pt x="4" y="144"/>
                  </a:lnTo>
                  <a:lnTo>
                    <a:pt x="4" y="146"/>
                  </a:lnTo>
                  <a:lnTo>
                    <a:pt x="4" y="146"/>
                  </a:lnTo>
                  <a:lnTo>
                    <a:pt x="2" y="152"/>
                  </a:lnTo>
                  <a:lnTo>
                    <a:pt x="0" y="168"/>
                  </a:lnTo>
                  <a:lnTo>
                    <a:pt x="0" y="192"/>
                  </a:lnTo>
                  <a:lnTo>
                    <a:pt x="0" y="204"/>
                  </a:lnTo>
                  <a:lnTo>
                    <a:pt x="4" y="218"/>
                  </a:lnTo>
                  <a:lnTo>
                    <a:pt x="4" y="220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20"/>
            <p:cNvSpPr>
              <a:spLocks/>
            </p:cNvSpPr>
            <p:nvPr/>
          </p:nvSpPr>
          <p:spPr bwMode="auto">
            <a:xfrm>
              <a:off x="1175" y="2702"/>
              <a:ext cx="990" cy="396"/>
            </a:xfrm>
            <a:custGeom>
              <a:avLst/>
              <a:gdLst/>
              <a:ahLst/>
              <a:cxnLst>
                <a:cxn ang="0">
                  <a:pos x="978" y="164"/>
                </a:cxn>
                <a:cxn ang="0">
                  <a:pos x="976" y="162"/>
                </a:cxn>
                <a:cxn ang="0">
                  <a:pos x="974" y="162"/>
                </a:cxn>
                <a:cxn ang="0">
                  <a:pos x="398" y="372"/>
                </a:cxn>
                <a:cxn ang="0">
                  <a:pos x="398" y="372"/>
                </a:cxn>
                <a:cxn ang="0">
                  <a:pos x="396" y="372"/>
                </a:cxn>
                <a:cxn ang="0">
                  <a:pos x="18" y="116"/>
                </a:cxn>
                <a:cxn ang="0">
                  <a:pos x="18" y="116"/>
                </a:cxn>
                <a:cxn ang="0">
                  <a:pos x="16" y="114"/>
                </a:cxn>
                <a:cxn ang="0">
                  <a:pos x="14" y="110"/>
                </a:cxn>
                <a:cxn ang="0">
                  <a:pos x="14" y="108"/>
                </a:cxn>
                <a:cxn ang="0">
                  <a:pos x="14" y="28"/>
                </a:cxn>
                <a:cxn ang="0">
                  <a:pos x="14" y="28"/>
                </a:cxn>
                <a:cxn ang="0">
                  <a:pos x="14" y="26"/>
                </a:cxn>
                <a:cxn ang="0">
                  <a:pos x="16" y="24"/>
                </a:cxn>
                <a:cxn ang="0">
                  <a:pos x="16" y="24"/>
                </a:cxn>
                <a:cxn ang="0">
                  <a:pos x="20" y="24"/>
                </a:cxn>
                <a:cxn ang="0">
                  <a:pos x="20" y="24"/>
                </a:cxn>
                <a:cxn ang="0">
                  <a:pos x="134" y="94"/>
                </a:cxn>
                <a:cxn ang="0">
                  <a:pos x="136" y="92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4" y="10"/>
                </a:cxn>
                <a:cxn ang="0">
                  <a:pos x="4" y="10"/>
                </a:cxn>
                <a:cxn ang="0">
                  <a:pos x="2" y="12"/>
                </a:cxn>
                <a:cxn ang="0">
                  <a:pos x="0" y="16"/>
                </a:cxn>
                <a:cxn ang="0">
                  <a:pos x="0" y="116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2"/>
                </a:cxn>
                <a:cxn ang="0">
                  <a:pos x="4" y="126"/>
                </a:cxn>
                <a:cxn ang="0">
                  <a:pos x="396" y="396"/>
                </a:cxn>
                <a:cxn ang="0">
                  <a:pos x="396" y="396"/>
                </a:cxn>
                <a:cxn ang="0">
                  <a:pos x="398" y="396"/>
                </a:cxn>
                <a:cxn ang="0">
                  <a:pos x="398" y="396"/>
                </a:cxn>
                <a:cxn ang="0">
                  <a:pos x="988" y="174"/>
                </a:cxn>
                <a:cxn ang="0">
                  <a:pos x="990" y="174"/>
                </a:cxn>
                <a:cxn ang="0">
                  <a:pos x="990" y="170"/>
                </a:cxn>
                <a:cxn ang="0">
                  <a:pos x="990" y="170"/>
                </a:cxn>
                <a:cxn ang="0">
                  <a:pos x="978" y="164"/>
                </a:cxn>
              </a:cxnLst>
              <a:rect l="0" t="0" r="r" b="b"/>
              <a:pathLst>
                <a:path w="990" h="396">
                  <a:moveTo>
                    <a:pt x="978" y="164"/>
                  </a:moveTo>
                  <a:lnTo>
                    <a:pt x="976" y="162"/>
                  </a:lnTo>
                  <a:lnTo>
                    <a:pt x="974" y="162"/>
                  </a:lnTo>
                  <a:lnTo>
                    <a:pt x="398" y="372"/>
                  </a:lnTo>
                  <a:lnTo>
                    <a:pt x="398" y="372"/>
                  </a:lnTo>
                  <a:lnTo>
                    <a:pt x="396" y="372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6" y="114"/>
                  </a:lnTo>
                  <a:lnTo>
                    <a:pt x="14" y="110"/>
                  </a:lnTo>
                  <a:lnTo>
                    <a:pt x="14" y="108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26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134" y="94"/>
                  </a:lnTo>
                  <a:lnTo>
                    <a:pt x="136" y="92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16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0" y="122"/>
                  </a:lnTo>
                  <a:lnTo>
                    <a:pt x="4" y="126"/>
                  </a:lnTo>
                  <a:lnTo>
                    <a:pt x="396" y="396"/>
                  </a:lnTo>
                  <a:lnTo>
                    <a:pt x="396" y="396"/>
                  </a:lnTo>
                  <a:lnTo>
                    <a:pt x="398" y="396"/>
                  </a:lnTo>
                  <a:lnTo>
                    <a:pt x="398" y="396"/>
                  </a:lnTo>
                  <a:lnTo>
                    <a:pt x="988" y="174"/>
                  </a:lnTo>
                  <a:lnTo>
                    <a:pt x="990" y="174"/>
                  </a:lnTo>
                  <a:lnTo>
                    <a:pt x="990" y="170"/>
                  </a:lnTo>
                  <a:lnTo>
                    <a:pt x="990" y="170"/>
                  </a:lnTo>
                  <a:lnTo>
                    <a:pt x="978" y="164"/>
                  </a:lnTo>
                  <a:close/>
                </a:path>
              </a:pathLst>
            </a:custGeom>
            <a:solidFill>
              <a:srgbClr val="B3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21"/>
            <p:cNvSpPr>
              <a:spLocks/>
            </p:cNvSpPr>
            <p:nvPr/>
          </p:nvSpPr>
          <p:spPr bwMode="auto">
            <a:xfrm>
              <a:off x="1207" y="2588"/>
              <a:ext cx="216" cy="268"/>
            </a:xfrm>
            <a:custGeom>
              <a:avLst/>
              <a:gdLst/>
              <a:ahLst/>
              <a:cxnLst>
                <a:cxn ang="0">
                  <a:pos x="216" y="198"/>
                </a:cxn>
                <a:cxn ang="0">
                  <a:pos x="214" y="198"/>
                </a:cxn>
                <a:cxn ang="0">
                  <a:pos x="214" y="198"/>
                </a:cxn>
                <a:cxn ang="0">
                  <a:pos x="206" y="196"/>
                </a:cxn>
                <a:cxn ang="0">
                  <a:pos x="202" y="194"/>
                </a:cxn>
                <a:cxn ang="0">
                  <a:pos x="202" y="194"/>
                </a:cxn>
                <a:cxn ang="0">
                  <a:pos x="6" y="2"/>
                </a:cxn>
                <a:cxn ang="0">
                  <a:pos x="2" y="0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0" y="28"/>
                </a:cxn>
                <a:cxn ang="0">
                  <a:pos x="0" y="28"/>
                </a:cxn>
                <a:cxn ang="0">
                  <a:pos x="2" y="46"/>
                </a:cxn>
                <a:cxn ang="0">
                  <a:pos x="2" y="58"/>
                </a:cxn>
                <a:cxn ang="0">
                  <a:pos x="6" y="66"/>
                </a:cxn>
                <a:cxn ang="0">
                  <a:pos x="6" y="66"/>
                </a:cxn>
                <a:cxn ang="0">
                  <a:pos x="214" y="268"/>
                </a:cxn>
                <a:cxn ang="0">
                  <a:pos x="214" y="262"/>
                </a:cxn>
                <a:cxn ang="0">
                  <a:pos x="214" y="262"/>
                </a:cxn>
                <a:cxn ang="0">
                  <a:pos x="212" y="242"/>
                </a:cxn>
                <a:cxn ang="0">
                  <a:pos x="212" y="224"/>
                </a:cxn>
                <a:cxn ang="0">
                  <a:pos x="214" y="210"/>
                </a:cxn>
                <a:cxn ang="0">
                  <a:pos x="216" y="200"/>
                </a:cxn>
                <a:cxn ang="0">
                  <a:pos x="216" y="198"/>
                </a:cxn>
              </a:cxnLst>
              <a:rect l="0" t="0" r="r" b="b"/>
              <a:pathLst>
                <a:path w="216" h="268">
                  <a:moveTo>
                    <a:pt x="216" y="198"/>
                  </a:moveTo>
                  <a:lnTo>
                    <a:pt x="214" y="198"/>
                  </a:lnTo>
                  <a:lnTo>
                    <a:pt x="214" y="198"/>
                  </a:lnTo>
                  <a:lnTo>
                    <a:pt x="206" y="196"/>
                  </a:lnTo>
                  <a:lnTo>
                    <a:pt x="202" y="194"/>
                  </a:lnTo>
                  <a:lnTo>
                    <a:pt x="202" y="194"/>
                  </a:lnTo>
                  <a:lnTo>
                    <a:pt x="6" y="2"/>
                  </a:lnTo>
                  <a:lnTo>
                    <a:pt x="2" y="0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2" y="46"/>
                  </a:lnTo>
                  <a:lnTo>
                    <a:pt x="2" y="58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214" y="268"/>
                  </a:lnTo>
                  <a:lnTo>
                    <a:pt x="214" y="262"/>
                  </a:lnTo>
                  <a:lnTo>
                    <a:pt x="214" y="262"/>
                  </a:lnTo>
                  <a:lnTo>
                    <a:pt x="212" y="242"/>
                  </a:lnTo>
                  <a:lnTo>
                    <a:pt x="212" y="224"/>
                  </a:lnTo>
                  <a:lnTo>
                    <a:pt x="214" y="210"/>
                  </a:lnTo>
                  <a:lnTo>
                    <a:pt x="216" y="200"/>
                  </a:lnTo>
                  <a:lnTo>
                    <a:pt x="216" y="198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22"/>
            <p:cNvSpPr>
              <a:spLocks/>
            </p:cNvSpPr>
            <p:nvPr/>
          </p:nvSpPr>
          <p:spPr bwMode="auto">
            <a:xfrm>
              <a:off x="1189" y="2552"/>
              <a:ext cx="126" cy="154"/>
            </a:xfrm>
            <a:custGeom>
              <a:avLst/>
              <a:gdLst/>
              <a:ahLst/>
              <a:cxnLst>
                <a:cxn ang="0">
                  <a:pos x="50" y="154"/>
                </a:cxn>
                <a:cxn ang="0">
                  <a:pos x="70" y="154"/>
                </a:cxn>
                <a:cxn ang="0">
                  <a:pos x="20" y="104"/>
                </a:cxn>
                <a:cxn ang="0">
                  <a:pos x="20" y="104"/>
                </a:cxn>
                <a:cxn ang="0">
                  <a:pos x="18" y="100"/>
                </a:cxn>
                <a:cxn ang="0">
                  <a:pos x="16" y="92"/>
                </a:cxn>
                <a:cxn ang="0">
                  <a:pos x="14" y="70"/>
                </a:cxn>
                <a:cxn ang="0">
                  <a:pos x="16" y="46"/>
                </a:cxn>
                <a:cxn ang="0">
                  <a:pos x="18" y="34"/>
                </a:cxn>
                <a:cxn ang="0">
                  <a:pos x="18" y="34"/>
                </a:cxn>
                <a:cxn ang="0">
                  <a:pos x="20" y="32"/>
                </a:cxn>
                <a:cxn ang="0">
                  <a:pos x="22" y="32"/>
                </a:cxn>
                <a:cxn ang="0">
                  <a:pos x="22" y="32"/>
                </a:cxn>
                <a:cxn ang="0">
                  <a:pos x="22" y="32"/>
                </a:cxn>
                <a:cxn ang="0">
                  <a:pos x="56" y="66"/>
                </a:cxn>
                <a:cxn ang="0">
                  <a:pos x="126" y="54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4" y="24"/>
                </a:cxn>
                <a:cxn ang="0">
                  <a:pos x="2" y="38"/>
                </a:cxn>
                <a:cxn ang="0">
                  <a:pos x="2" y="38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2" y="76"/>
                </a:cxn>
                <a:cxn ang="0">
                  <a:pos x="2" y="92"/>
                </a:cxn>
                <a:cxn ang="0">
                  <a:pos x="6" y="106"/>
                </a:cxn>
                <a:cxn ang="0">
                  <a:pos x="8" y="112"/>
                </a:cxn>
                <a:cxn ang="0">
                  <a:pos x="8" y="112"/>
                </a:cxn>
                <a:cxn ang="0">
                  <a:pos x="50" y="154"/>
                </a:cxn>
                <a:cxn ang="0">
                  <a:pos x="50" y="154"/>
                </a:cxn>
              </a:cxnLst>
              <a:rect l="0" t="0" r="r" b="b"/>
              <a:pathLst>
                <a:path w="126" h="154">
                  <a:moveTo>
                    <a:pt x="50" y="154"/>
                  </a:moveTo>
                  <a:lnTo>
                    <a:pt x="70" y="154"/>
                  </a:lnTo>
                  <a:lnTo>
                    <a:pt x="20" y="104"/>
                  </a:lnTo>
                  <a:lnTo>
                    <a:pt x="20" y="104"/>
                  </a:lnTo>
                  <a:lnTo>
                    <a:pt x="18" y="100"/>
                  </a:lnTo>
                  <a:lnTo>
                    <a:pt x="16" y="92"/>
                  </a:lnTo>
                  <a:lnTo>
                    <a:pt x="14" y="70"/>
                  </a:lnTo>
                  <a:lnTo>
                    <a:pt x="16" y="46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20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56" y="66"/>
                  </a:lnTo>
                  <a:lnTo>
                    <a:pt x="126" y="54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76"/>
                  </a:lnTo>
                  <a:lnTo>
                    <a:pt x="2" y="92"/>
                  </a:lnTo>
                  <a:lnTo>
                    <a:pt x="6" y="106"/>
                  </a:lnTo>
                  <a:lnTo>
                    <a:pt x="8" y="112"/>
                  </a:lnTo>
                  <a:lnTo>
                    <a:pt x="8" y="112"/>
                  </a:lnTo>
                  <a:lnTo>
                    <a:pt x="50" y="154"/>
                  </a:lnTo>
                  <a:lnTo>
                    <a:pt x="50" y="154"/>
                  </a:lnTo>
                  <a:close/>
                </a:path>
              </a:pathLst>
            </a:custGeom>
            <a:solidFill>
              <a:srgbClr val="2B882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23"/>
            <p:cNvSpPr>
              <a:spLocks/>
            </p:cNvSpPr>
            <p:nvPr/>
          </p:nvSpPr>
          <p:spPr bwMode="auto">
            <a:xfrm>
              <a:off x="1249" y="2608"/>
              <a:ext cx="620" cy="174"/>
            </a:xfrm>
            <a:custGeom>
              <a:avLst/>
              <a:gdLst/>
              <a:ahLst/>
              <a:cxnLst>
                <a:cxn ang="0">
                  <a:pos x="582" y="76"/>
                </a:cxn>
                <a:cxn ang="0">
                  <a:pos x="582" y="76"/>
                </a:cxn>
                <a:cxn ang="0">
                  <a:pos x="140" y="130"/>
                </a:cxn>
                <a:cxn ang="0">
                  <a:pos x="140" y="130"/>
                </a:cxn>
                <a:cxn ang="0">
                  <a:pos x="134" y="130"/>
                </a:cxn>
                <a:cxn ang="0">
                  <a:pos x="130" y="128"/>
                </a:cxn>
                <a:cxn ang="0">
                  <a:pos x="128" y="124"/>
                </a:cxn>
                <a:cxn ang="0">
                  <a:pos x="68" y="0"/>
                </a:cxn>
                <a:cxn ang="0">
                  <a:pos x="66" y="2"/>
                </a:cxn>
                <a:cxn ang="0">
                  <a:pos x="0" y="12"/>
                </a:cxn>
                <a:cxn ang="0">
                  <a:pos x="164" y="172"/>
                </a:cxn>
                <a:cxn ang="0">
                  <a:pos x="164" y="172"/>
                </a:cxn>
                <a:cxn ang="0">
                  <a:pos x="166" y="172"/>
                </a:cxn>
                <a:cxn ang="0">
                  <a:pos x="170" y="174"/>
                </a:cxn>
                <a:cxn ang="0">
                  <a:pos x="170" y="174"/>
                </a:cxn>
                <a:cxn ang="0">
                  <a:pos x="620" y="74"/>
                </a:cxn>
                <a:cxn ang="0">
                  <a:pos x="620" y="70"/>
                </a:cxn>
                <a:cxn ang="0">
                  <a:pos x="582" y="76"/>
                </a:cxn>
              </a:cxnLst>
              <a:rect l="0" t="0" r="r" b="b"/>
              <a:pathLst>
                <a:path w="620" h="174">
                  <a:moveTo>
                    <a:pt x="582" y="76"/>
                  </a:moveTo>
                  <a:lnTo>
                    <a:pt x="582" y="76"/>
                  </a:lnTo>
                  <a:lnTo>
                    <a:pt x="140" y="130"/>
                  </a:lnTo>
                  <a:lnTo>
                    <a:pt x="140" y="130"/>
                  </a:lnTo>
                  <a:lnTo>
                    <a:pt x="134" y="130"/>
                  </a:lnTo>
                  <a:lnTo>
                    <a:pt x="130" y="128"/>
                  </a:lnTo>
                  <a:lnTo>
                    <a:pt x="128" y="124"/>
                  </a:lnTo>
                  <a:lnTo>
                    <a:pt x="68" y="0"/>
                  </a:lnTo>
                  <a:lnTo>
                    <a:pt x="66" y="2"/>
                  </a:lnTo>
                  <a:lnTo>
                    <a:pt x="0" y="12"/>
                  </a:lnTo>
                  <a:lnTo>
                    <a:pt x="164" y="172"/>
                  </a:lnTo>
                  <a:lnTo>
                    <a:pt x="164" y="172"/>
                  </a:lnTo>
                  <a:lnTo>
                    <a:pt x="166" y="172"/>
                  </a:lnTo>
                  <a:lnTo>
                    <a:pt x="170" y="174"/>
                  </a:lnTo>
                  <a:lnTo>
                    <a:pt x="170" y="174"/>
                  </a:lnTo>
                  <a:lnTo>
                    <a:pt x="620" y="74"/>
                  </a:lnTo>
                  <a:lnTo>
                    <a:pt x="620" y="70"/>
                  </a:lnTo>
                  <a:lnTo>
                    <a:pt x="582" y="76"/>
                  </a:lnTo>
                  <a:close/>
                </a:path>
              </a:pathLst>
            </a:custGeom>
            <a:solidFill>
              <a:srgbClr val="91C74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24"/>
            <p:cNvSpPr>
              <a:spLocks/>
            </p:cNvSpPr>
            <p:nvPr/>
          </p:nvSpPr>
          <p:spPr bwMode="auto">
            <a:xfrm>
              <a:off x="1345" y="2214"/>
              <a:ext cx="842" cy="284"/>
            </a:xfrm>
            <a:custGeom>
              <a:avLst/>
              <a:gdLst/>
              <a:ahLst/>
              <a:cxnLst>
                <a:cxn ang="0">
                  <a:pos x="296" y="284"/>
                </a:cxn>
                <a:cxn ang="0">
                  <a:pos x="296" y="284"/>
                </a:cxn>
                <a:cxn ang="0">
                  <a:pos x="298" y="284"/>
                </a:cxn>
                <a:cxn ang="0">
                  <a:pos x="304" y="284"/>
                </a:cxn>
                <a:cxn ang="0">
                  <a:pos x="304" y="284"/>
                </a:cxn>
                <a:cxn ang="0">
                  <a:pos x="842" y="70"/>
                </a:cxn>
                <a:cxn ang="0">
                  <a:pos x="556" y="0"/>
                </a:cxn>
                <a:cxn ang="0">
                  <a:pos x="0" y="184"/>
                </a:cxn>
                <a:cxn ang="0">
                  <a:pos x="0" y="184"/>
                </a:cxn>
                <a:cxn ang="0">
                  <a:pos x="296" y="284"/>
                </a:cxn>
                <a:cxn ang="0">
                  <a:pos x="296" y="284"/>
                </a:cxn>
              </a:cxnLst>
              <a:rect l="0" t="0" r="r" b="b"/>
              <a:pathLst>
                <a:path w="842" h="284">
                  <a:moveTo>
                    <a:pt x="296" y="284"/>
                  </a:moveTo>
                  <a:lnTo>
                    <a:pt x="296" y="284"/>
                  </a:lnTo>
                  <a:lnTo>
                    <a:pt x="298" y="284"/>
                  </a:lnTo>
                  <a:lnTo>
                    <a:pt x="304" y="284"/>
                  </a:lnTo>
                  <a:lnTo>
                    <a:pt x="304" y="284"/>
                  </a:lnTo>
                  <a:lnTo>
                    <a:pt x="842" y="70"/>
                  </a:lnTo>
                  <a:lnTo>
                    <a:pt x="556" y="0"/>
                  </a:lnTo>
                  <a:lnTo>
                    <a:pt x="0" y="184"/>
                  </a:lnTo>
                  <a:lnTo>
                    <a:pt x="0" y="184"/>
                  </a:lnTo>
                  <a:lnTo>
                    <a:pt x="296" y="284"/>
                  </a:lnTo>
                  <a:lnTo>
                    <a:pt x="296" y="284"/>
                  </a:lnTo>
                  <a:close/>
                </a:path>
              </a:pathLst>
            </a:custGeom>
            <a:solidFill>
              <a:srgbClr val="8BD3E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25"/>
            <p:cNvSpPr>
              <a:spLocks/>
            </p:cNvSpPr>
            <p:nvPr/>
          </p:nvSpPr>
          <p:spPr bwMode="auto">
            <a:xfrm>
              <a:off x="1639" y="2314"/>
              <a:ext cx="558" cy="318"/>
            </a:xfrm>
            <a:custGeom>
              <a:avLst/>
              <a:gdLst/>
              <a:ahLst/>
              <a:cxnLst>
                <a:cxn ang="0">
                  <a:pos x="556" y="0"/>
                </a:cxn>
                <a:cxn ang="0">
                  <a:pos x="12" y="216"/>
                </a:cxn>
                <a:cxn ang="0">
                  <a:pos x="12" y="216"/>
                </a:cxn>
                <a:cxn ang="0">
                  <a:pos x="4" y="216"/>
                </a:cxn>
                <a:cxn ang="0">
                  <a:pos x="2" y="216"/>
                </a:cxn>
                <a:cxn ang="0">
                  <a:pos x="2" y="218"/>
                </a:cxn>
                <a:cxn ang="0">
                  <a:pos x="2" y="218"/>
                </a:cxn>
                <a:cxn ang="0">
                  <a:pos x="0" y="226"/>
                </a:cxn>
                <a:cxn ang="0">
                  <a:pos x="0" y="226"/>
                </a:cxn>
                <a:cxn ang="0">
                  <a:pos x="0" y="246"/>
                </a:cxn>
                <a:cxn ang="0">
                  <a:pos x="0" y="270"/>
                </a:cxn>
                <a:cxn ang="0">
                  <a:pos x="6" y="294"/>
                </a:cxn>
                <a:cxn ang="0">
                  <a:pos x="8" y="304"/>
                </a:cxn>
                <a:cxn ang="0">
                  <a:pos x="14" y="316"/>
                </a:cxn>
                <a:cxn ang="0">
                  <a:pos x="14" y="318"/>
                </a:cxn>
                <a:cxn ang="0">
                  <a:pos x="558" y="88"/>
                </a:cxn>
                <a:cxn ang="0">
                  <a:pos x="558" y="0"/>
                </a:cxn>
                <a:cxn ang="0">
                  <a:pos x="556" y="0"/>
                </a:cxn>
              </a:cxnLst>
              <a:rect l="0" t="0" r="r" b="b"/>
              <a:pathLst>
                <a:path w="558" h="318">
                  <a:moveTo>
                    <a:pt x="556" y="0"/>
                  </a:moveTo>
                  <a:lnTo>
                    <a:pt x="12" y="216"/>
                  </a:lnTo>
                  <a:lnTo>
                    <a:pt x="12" y="216"/>
                  </a:lnTo>
                  <a:lnTo>
                    <a:pt x="4" y="216"/>
                  </a:lnTo>
                  <a:lnTo>
                    <a:pt x="2" y="216"/>
                  </a:lnTo>
                  <a:lnTo>
                    <a:pt x="2" y="218"/>
                  </a:lnTo>
                  <a:lnTo>
                    <a:pt x="2" y="218"/>
                  </a:lnTo>
                  <a:lnTo>
                    <a:pt x="0" y="226"/>
                  </a:lnTo>
                  <a:lnTo>
                    <a:pt x="0" y="226"/>
                  </a:lnTo>
                  <a:lnTo>
                    <a:pt x="0" y="246"/>
                  </a:lnTo>
                  <a:lnTo>
                    <a:pt x="0" y="270"/>
                  </a:lnTo>
                  <a:lnTo>
                    <a:pt x="6" y="294"/>
                  </a:lnTo>
                  <a:lnTo>
                    <a:pt x="8" y="304"/>
                  </a:lnTo>
                  <a:lnTo>
                    <a:pt x="14" y="316"/>
                  </a:lnTo>
                  <a:lnTo>
                    <a:pt x="14" y="318"/>
                  </a:lnTo>
                  <a:lnTo>
                    <a:pt x="558" y="88"/>
                  </a:lnTo>
                  <a:lnTo>
                    <a:pt x="558" y="0"/>
                  </a:lnTo>
                  <a:lnTo>
                    <a:pt x="55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Freeform 26"/>
            <p:cNvSpPr>
              <a:spLocks/>
            </p:cNvSpPr>
            <p:nvPr/>
          </p:nvSpPr>
          <p:spPr bwMode="auto">
            <a:xfrm>
              <a:off x="1397" y="2554"/>
              <a:ext cx="812" cy="148"/>
            </a:xfrm>
            <a:custGeom>
              <a:avLst/>
              <a:gdLst/>
              <a:ahLst/>
              <a:cxnLst>
                <a:cxn ang="0">
                  <a:pos x="812" y="0"/>
                </a:cxn>
                <a:cxn ang="0">
                  <a:pos x="810" y="0"/>
                </a:cxn>
                <a:cxn ang="0">
                  <a:pos x="2" y="94"/>
                </a:cxn>
                <a:cxn ang="0">
                  <a:pos x="0" y="148"/>
                </a:cxn>
                <a:cxn ang="0">
                  <a:pos x="812" y="46"/>
                </a:cxn>
                <a:cxn ang="0">
                  <a:pos x="812" y="0"/>
                </a:cxn>
              </a:cxnLst>
              <a:rect l="0" t="0" r="r" b="b"/>
              <a:pathLst>
                <a:path w="812" h="148">
                  <a:moveTo>
                    <a:pt x="812" y="0"/>
                  </a:moveTo>
                  <a:lnTo>
                    <a:pt x="810" y="0"/>
                  </a:lnTo>
                  <a:lnTo>
                    <a:pt x="2" y="94"/>
                  </a:lnTo>
                  <a:lnTo>
                    <a:pt x="0" y="148"/>
                  </a:lnTo>
                  <a:lnTo>
                    <a:pt x="812" y="46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Freeform 27"/>
            <p:cNvSpPr>
              <a:spLocks/>
            </p:cNvSpPr>
            <p:nvPr/>
          </p:nvSpPr>
          <p:spPr bwMode="auto">
            <a:xfrm>
              <a:off x="1303" y="2406"/>
              <a:ext cx="914" cy="246"/>
            </a:xfrm>
            <a:custGeom>
              <a:avLst/>
              <a:gdLst/>
              <a:ahLst/>
              <a:cxnLst>
                <a:cxn ang="0">
                  <a:pos x="896" y="0"/>
                </a:cxn>
                <a:cxn ang="0">
                  <a:pos x="350" y="230"/>
                </a:cxn>
                <a:cxn ang="0">
                  <a:pos x="348" y="230"/>
                </a:cxn>
                <a:cxn ang="0">
                  <a:pos x="348" y="230"/>
                </a:cxn>
                <a:cxn ang="0">
                  <a:pos x="26" y="104"/>
                </a:cxn>
                <a:cxn ang="0">
                  <a:pos x="0" y="112"/>
                </a:cxn>
                <a:cxn ang="0">
                  <a:pos x="346" y="246"/>
                </a:cxn>
                <a:cxn ang="0">
                  <a:pos x="346" y="246"/>
                </a:cxn>
                <a:cxn ang="0">
                  <a:pos x="352" y="246"/>
                </a:cxn>
                <a:cxn ang="0">
                  <a:pos x="352" y="246"/>
                </a:cxn>
                <a:cxn ang="0">
                  <a:pos x="914" y="10"/>
                </a:cxn>
                <a:cxn ang="0">
                  <a:pos x="898" y="0"/>
                </a:cxn>
                <a:cxn ang="0">
                  <a:pos x="896" y="0"/>
                </a:cxn>
              </a:cxnLst>
              <a:rect l="0" t="0" r="r" b="b"/>
              <a:pathLst>
                <a:path w="914" h="246">
                  <a:moveTo>
                    <a:pt x="896" y="0"/>
                  </a:moveTo>
                  <a:lnTo>
                    <a:pt x="350" y="230"/>
                  </a:lnTo>
                  <a:lnTo>
                    <a:pt x="348" y="230"/>
                  </a:lnTo>
                  <a:lnTo>
                    <a:pt x="348" y="230"/>
                  </a:lnTo>
                  <a:lnTo>
                    <a:pt x="26" y="104"/>
                  </a:lnTo>
                  <a:lnTo>
                    <a:pt x="0" y="112"/>
                  </a:lnTo>
                  <a:lnTo>
                    <a:pt x="346" y="246"/>
                  </a:lnTo>
                  <a:lnTo>
                    <a:pt x="346" y="246"/>
                  </a:lnTo>
                  <a:lnTo>
                    <a:pt x="352" y="246"/>
                  </a:lnTo>
                  <a:lnTo>
                    <a:pt x="352" y="246"/>
                  </a:lnTo>
                  <a:lnTo>
                    <a:pt x="914" y="10"/>
                  </a:lnTo>
                  <a:lnTo>
                    <a:pt x="898" y="0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Freeform 28"/>
            <p:cNvSpPr>
              <a:spLocks/>
            </p:cNvSpPr>
            <p:nvPr/>
          </p:nvSpPr>
          <p:spPr bwMode="auto">
            <a:xfrm>
              <a:off x="1423" y="2652"/>
              <a:ext cx="746" cy="208"/>
            </a:xfrm>
            <a:custGeom>
              <a:avLst/>
              <a:gdLst/>
              <a:ahLst/>
              <a:cxnLst>
                <a:cxn ang="0">
                  <a:pos x="4" y="206"/>
                </a:cxn>
                <a:cxn ang="0">
                  <a:pos x="4" y="208"/>
                </a:cxn>
                <a:cxn ang="0">
                  <a:pos x="746" y="34"/>
                </a:cxn>
                <a:cxn ang="0">
                  <a:pos x="746" y="0"/>
                </a:cxn>
                <a:cxn ang="0">
                  <a:pos x="744" y="0"/>
                </a:cxn>
                <a:cxn ang="0">
                  <a:pos x="530" y="28"/>
                </a:cxn>
                <a:cxn ang="0">
                  <a:pos x="530" y="2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50"/>
                </a:cxn>
                <a:cxn ang="0">
                  <a:pos x="0" y="150"/>
                </a:cxn>
                <a:cxn ang="0">
                  <a:pos x="0" y="160"/>
                </a:cxn>
                <a:cxn ang="0">
                  <a:pos x="0" y="174"/>
                </a:cxn>
                <a:cxn ang="0">
                  <a:pos x="0" y="190"/>
                </a:cxn>
                <a:cxn ang="0">
                  <a:pos x="4" y="206"/>
                </a:cxn>
                <a:cxn ang="0">
                  <a:pos x="4" y="206"/>
                </a:cxn>
              </a:cxnLst>
              <a:rect l="0" t="0" r="r" b="b"/>
              <a:pathLst>
                <a:path w="746" h="208">
                  <a:moveTo>
                    <a:pt x="4" y="206"/>
                  </a:moveTo>
                  <a:lnTo>
                    <a:pt x="4" y="208"/>
                  </a:lnTo>
                  <a:lnTo>
                    <a:pt x="746" y="34"/>
                  </a:lnTo>
                  <a:lnTo>
                    <a:pt x="746" y="0"/>
                  </a:lnTo>
                  <a:lnTo>
                    <a:pt x="744" y="0"/>
                  </a:lnTo>
                  <a:lnTo>
                    <a:pt x="530" y="28"/>
                  </a:lnTo>
                  <a:lnTo>
                    <a:pt x="530" y="2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0" y="160"/>
                  </a:lnTo>
                  <a:lnTo>
                    <a:pt x="0" y="174"/>
                  </a:lnTo>
                  <a:lnTo>
                    <a:pt x="0" y="190"/>
                  </a:lnTo>
                  <a:lnTo>
                    <a:pt x="4" y="206"/>
                  </a:lnTo>
                  <a:lnTo>
                    <a:pt x="4" y="20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1" name="Freeform 29"/>
            <p:cNvSpPr>
              <a:spLocks/>
            </p:cNvSpPr>
            <p:nvPr/>
          </p:nvSpPr>
          <p:spPr bwMode="auto">
            <a:xfrm>
              <a:off x="1567" y="2784"/>
              <a:ext cx="584" cy="284"/>
            </a:xfrm>
            <a:custGeom>
              <a:avLst/>
              <a:gdLst/>
              <a:ahLst/>
              <a:cxnLst>
                <a:cxn ang="0">
                  <a:pos x="6" y="282"/>
                </a:cxn>
                <a:cxn ang="0">
                  <a:pos x="6" y="284"/>
                </a:cxn>
                <a:cxn ang="0">
                  <a:pos x="582" y="76"/>
                </a:cxn>
                <a:cxn ang="0">
                  <a:pos x="584" y="0"/>
                </a:cxn>
                <a:cxn ang="0">
                  <a:pos x="582" y="0"/>
                </a:cxn>
                <a:cxn ang="0">
                  <a:pos x="582" y="0"/>
                </a:cxn>
                <a:cxn ang="0">
                  <a:pos x="20" y="190"/>
                </a:cxn>
                <a:cxn ang="0">
                  <a:pos x="20" y="190"/>
                </a:cxn>
                <a:cxn ang="0">
                  <a:pos x="16" y="192"/>
                </a:cxn>
                <a:cxn ang="0">
                  <a:pos x="12" y="192"/>
                </a:cxn>
                <a:cxn ang="0">
                  <a:pos x="6" y="190"/>
                </a:cxn>
                <a:cxn ang="0">
                  <a:pos x="4" y="188"/>
                </a:cxn>
                <a:cxn ang="0">
                  <a:pos x="4" y="192"/>
                </a:cxn>
                <a:cxn ang="0">
                  <a:pos x="4" y="192"/>
                </a:cxn>
                <a:cxn ang="0">
                  <a:pos x="2" y="198"/>
                </a:cxn>
                <a:cxn ang="0">
                  <a:pos x="2" y="198"/>
                </a:cxn>
                <a:cxn ang="0">
                  <a:pos x="0" y="228"/>
                </a:cxn>
                <a:cxn ang="0">
                  <a:pos x="2" y="252"/>
                </a:cxn>
                <a:cxn ang="0">
                  <a:pos x="4" y="272"/>
                </a:cxn>
                <a:cxn ang="0">
                  <a:pos x="6" y="282"/>
                </a:cxn>
                <a:cxn ang="0">
                  <a:pos x="6" y="282"/>
                </a:cxn>
              </a:cxnLst>
              <a:rect l="0" t="0" r="r" b="b"/>
              <a:pathLst>
                <a:path w="584" h="284">
                  <a:moveTo>
                    <a:pt x="6" y="282"/>
                  </a:moveTo>
                  <a:lnTo>
                    <a:pt x="6" y="284"/>
                  </a:lnTo>
                  <a:lnTo>
                    <a:pt x="582" y="76"/>
                  </a:lnTo>
                  <a:lnTo>
                    <a:pt x="584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20" y="190"/>
                  </a:lnTo>
                  <a:lnTo>
                    <a:pt x="20" y="190"/>
                  </a:lnTo>
                  <a:lnTo>
                    <a:pt x="16" y="192"/>
                  </a:lnTo>
                  <a:lnTo>
                    <a:pt x="12" y="192"/>
                  </a:lnTo>
                  <a:lnTo>
                    <a:pt x="6" y="190"/>
                  </a:lnTo>
                  <a:lnTo>
                    <a:pt x="4" y="188"/>
                  </a:lnTo>
                  <a:lnTo>
                    <a:pt x="4" y="192"/>
                  </a:lnTo>
                  <a:lnTo>
                    <a:pt x="4" y="192"/>
                  </a:lnTo>
                  <a:lnTo>
                    <a:pt x="2" y="198"/>
                  </a:lnTo>
                  <a:lnTo>
                    <a:pt x="2" y="198"/>
                  </a:lnTo>
                  <a:lnTo>
                    <a:pt x="0" y="228"/>
                  </a:lnTo>
                  <a:lnTo>
                    <a:pt x="2" y="252"/>
                  </a:lnTo>
                  <a:lnTo>
                    <a:pt x="4" y="272"/>
                  </a:lnTo>
                  <a:lnTo>
                    <a:pt x="6" y="282"/>
                  </a:lnTo>
                  <a:lnTo>
                    <a:pt x="6" y="28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2" name="Freeform 30"/>
            <p:cNvSpPr>
              <a:spLocks/>
            </p:cNvSpPr>
            <p:nvPr/>
          </p:nvSpPr>
          <p:spPr bwMode="auto">
            <a:xfrm>
              <a:off x="1361" y="2554"/>
              <a:ext cx="126" cy="60"/>
            </a:xfrm>
            <a:custGeom>
              <a:avLst/>
              <a:gdLst/>
              <a:ahLst/>
              <a:cxnLst>
                <a:cxn ang="0">
                  <a:pos x="30" y="58"/>
                </a:cxn>
                <a:cxn ang="0">
                  <a:pos x="30" y="58"/>
                </a:cxn>
                <a:cxn ang="0">
                  <a:pos x="28" y="58"/>
                </a:cxn>
                <a:cxn ang="0">
                  <a:pos x="28" y="58"/>
                </a:cxn>
                <a:cxn ang="0">
                  <a:pos x="30" y="58"/>
                </a:cxn>
                <a:cxn ang="0">
                  <a:pos x="30" y="60"/>
                </a:cxn>
                <a:cxn ang="0">
                  <a:pos x="126" y="48"/>
                </a:cxn>
                <a:cxn ang="0">
                  <a:pos x="0" y="0"/>
                </a:cxn>
                <a:cxn ang="0">
                  <a:pos x="30" y="58"/>
                </a:cxn>
              </a:cxnLst>
              <a:rect l="0" t="0" r="r" b="b"/>
              <a:pathLst>
                <a:path w="126" h="60">
                  <a:moveTo>
                    <a:pt x="30" y="58"/>
                  </a:moveTo>
                  <a:lnTo>
                    <a:pt x="30" y="58"/>
                  </a:lnTo>
                  <a:lnTo>
                    <a:pt x="28" y="58"/>
                  </a:lnTo>
                  <a:lnTo>
                    <a:pt x="28" y="58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126" y="48"/>
                  </a:lnTo>
                  <a:lnTo>
                    <a:pt x="0" y="0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7A542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Freeform 31"/>
            <p:cNvSpPr>
              <a:spLocks/>
            </p:cNvSpPr>
            <p:nvPr/>
          </p:nvSpPr>
          <p:spPr bwMode="auto">
            <a:xfrm>
              <a:off x="1211" y="2712"/>
              <a:ext cx="94" cy="68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94" y="68"/>
                </a:cxn>
                <a:cxn ang="0">
                  <a:pos x="0" y="6"/>
                </a:cxn>
                <a:cxn ang="0">
                  <a:pos x="22" y="0"/>
                </a:cxn>
              </a:cxnLst>
              <a:rect l="0" t="0" r="r" b="b"/>
              <a:pathLst>
                <a:path w="94" h="68">
                  <a:moveTo>
                    <a:pt x="22" y="0"/>
                  </a:moveTo>
                  <a:lnTo>
                    <a:pt x="94" y="68"/>
                  </a:lnTo>
                  <a:lnTo>
                    <a:pt x="0" y="6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9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32"/>
            <p:cNvSpPr>
              <a:spLocks/>
            </p:cNvSpPr>
            <p:nvPr/>
          </p:nvSpPr>
          <p:spPr bwMode="auto">
            <a:xfrm>
              <a:off x="1249" y="2388"/>
              <a:ext cx="400" cy="242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0"/>
                </a:cxn>
                <a:cxn ang="0">
                  <a:pos x="2" y="4"/>
                </a:cxn>
                <a:cxn ang="0">
                  <a:pos x="2" y="12"/>
                </a:cxn>
                <a:cxn ang="0">
                  <a:pos x="0" y="32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2" y="62"/>
                </a:cxn>
                <a:cxn ang="0">
                  <a:pos x="4" y="76"/>
                </a:cxn>
                <a:cxn ang="0">
                  <a:pos x="8" y="86"/>
                </a:cxn>
                <a:cxn ang="0">
                  <a:pos x="12" y="90"/>
                </a:cxn>
                <a:cxn ang="0">
                  <a:pos x="12" y="90"/>
                </a:cxn>
                <a:cxn ang="0">
                  <a:pos x="394" y="242"/>
                </a:cxn>
                <a:cxn ang="0">
                  <a:pos x="400" y="242"/>
                </a:cxn>
                <a:cxn ang="0">
                  <a:pos x="398" y="238"/>
                </a:cxn>
                <a:cxn ang="0">
                  <a:pos x="398" y="238"/>
                </a:cxn>
                <a:cxn ang="0">
                  <a:pos x="392" y="222"/>
                </a:cxn>
                <a:cxn ang="0">
                  <a:pos x="388" y="206"/>
                </a:cxn>
                <a:cxn ang="0">
                  <a:pos x="386" y="190"/>
                </a:cxn>
                <a:cxn ang="0">
                  <a:pos x="386" y="174"/>
                </a:cxn>
                <a:cxn ang="0">
                  <a:pos x="388" y="148"/>
                </a:cxn>
                <a:cxn ang="0">
                  <a:pos x="390" y="130"/>
                </a:cxn>
                <a:cxn ang="0">
                  <a:pos x="390" y="128"/>
                </a:cxn>
                <a:cxn ang="0">
                  <a:pos x="6" y="0"/>
                </a:cxn>
                <a:cxn ang="0">
                  <a:pos x="4" y="0"/>
                </a:cxn>
              </a:cxnLst>
              <a:rect l="0" t="0" r="r" b="b"/>
              <a:pathLst>
                <a:path w="400" h="242">
                  <a:moveTo>
                    <a:pt x="4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12"/>
                  </a:lnTo>
                  <a:lnTo>
                    <a:pt x="0" y="3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62"/>
                  </a:lnTo>
                  <a:lnTo>
                    <a:pt x="4" y="76"/>
                  </a:lnTo>
                  <a:lnTo>
                    <a:pt x="8" y="86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394" y="242"/>
                  </a:lnTo>
                  <a:lnTo>
                    <a:pt x="400" y="242"/>
                  </a:lnTo>
                  <a:lnTo>
                    <a:pt x="398" y="238"/>
                  </a:lnTo>
                  <a:lnTo>
                    <a:pt x="398" y="238"/>
                  </a:lnTo>
                  <a:lnTo>
                    <a:pt x="392" y="222"/>
                  </a:lnTo>
                  <a:lnTo>
                    <a:pt x="388" y="206"/>
                  </a:lnTo>
                  <a:lnTo>
                    <a:pt x="386" y="190"/>
                  </a:lnTo>
                  <a:lnTo>
                    <a:pt x="386" y="174"/>
                  </a:lnTo>
                  <a:lnTo>
                    <a:pt x="388" y="148"/>
                  </a:lnTo>
                  <a:lnTo>
                    <a:pt x="390" y="130"/>
                  </a:lnTo>
                  <a:lnTo>
                    <a:pt x="390" y="128"/>
                  </a:lnTo>
                  <a:lnTo>
                    <a:pt x="6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Freeform 33"/>
            <p:cNvSpPr>
              <a:spLocks/>
            </p:cNvSpPr>
            <p:nvPr/>
          </p:nvSpPr>
          <p:spPr bwMode="auto">
            <a:xfrm>
              <a:off x="1273" y="2198"/>
              <a:ext cx="610" cy="194"/>
            </a:xfrm>
            <a:custGeom>
              <a:avLst/>
              <a:gdLst/>
              <a:ahLst/>
              <a:cxnLst>
                <a:cxn ang="0">
                  <a:pos x="0" y="174"/>
                </a:cxn>
                <a:cxn ang="0">
                  <a:pos x="0" y="174"/>
                </a:cxn>
                <a:cxn ang="0">
                  <a:pos x="564" y="0"/>
                </a:cxn>
                <a:cxn ang="0">
                  <a:pos x="610" y="10"/>
                </a:cxn>
                <a:cxn ang="0">
                  <a:pos x="54" y="194"/>
                </a:cxn>
                <a:cxn ang="0">
                  <a:pos x="0" y="174"/>
                </a:cxn>
              </a:cxnLst>
              <a:rect l="0" t="0" r="r" b="b"/>
              <a:pathLst>
                <a:path w="610" h="194">
                  <a:moveTo>
                    <a:pt x="0" y="174"/>
                  </a:moveTo>
                  <a:lnTo>
                    <a:pt x="0" y="174"/>
                  </a:lnTo>
                  <a:lnTo>
                    <a:pt x="564" y="0"/>
                  </a:lnTo>
                  <a:lnTo>
                    <a:pt x="610" y="10"/>
                  </a:lnTo>
                  <a:lnTo>
                    <a:pt x="54" y="194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Freeform 34"/>
            <p:cNvSpPr>
              <a:spLocks/>
            </p:cNvSpPr>
            <p:nvPr/>
          </p:nvSpPr>
          <p:spPr bwMode="auto">
            <a:xfrm>
              <a:off x="1221" y="2562"/>
              <a:ext cx="94" cy="52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76" y="0"/>
                </a:cxn>
                <a:cxn ang="0">
                  <a:pos x="94" y="44"/>
                </a:cxn>
                <a:cxn ang="0">
                  <a:pos x="40" y="52"/>
                </a:cxn>
                <a:cxn ang="0">
                  <a:pos x="0" y="14"/>
                </a:cxn>
              </a:cxnLst>
              <a:rect l="0" t="0" r="r" b="b"/>
              <a:pathLst>
                <a:path w="94" h="52">
                  <a:moveTo>
                    <a:pt x="0" y="14"/>
                  </a:moveTo>
                  <a:lnTo>
                    <a:pt x="76" y="0"/>
                  </a:lnTo>
                  <a:lnTo>
                    <a:pt x="94" y="44"/>
                  </a:lnTo>
                  <a:lnTo>
                    <a:pt x="40" y="52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33A02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Freeform 35"/>
            <p:cNvSpPr>
              <a:spLocks/>
            </p:cNvSpPr>
            <p:nvPr/>
          </p:nvSpPr>
          <p:spPr bwMode="auto">
            <a:xfrm>
              <a:off x="1263" y="2608"/>
              <a:ext cx="112" cy="118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52" y="2"/>
                </a:cxn>
                <a:cxn ang="0">
                  <a:pos x="0" y="10"/>
                </a:cxn>
                <a:cxn ang="0">
                  <a:pos x="112" y="118"/>
                </a:cxn>
                <a:cxn ang="0">
                  <a:pos x="54" y="0"/>
                </a:cxn>
              </a:cxnLst>
              <a:rect l="0" t="0" r="r" b="b"/>
              <a:pathLst>
                <a:path w="112" h="118">
                  <a:moveTo>
                    <a:pt x="54" y="0"/>
                  </a:moveTo>
                  <a:lnTo>
                    <a:pt x="52" y="2"/>
                  </a:lnTo>
                  <a:lnTo>
                    <a:pt x="0" y="10"/>
                  </a:lnTo>
                  <a:lnTo>
                    <a:pt x="112" y="118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BFE34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Freeform 36"/>
            <p:cNvSpPr>
              <a:spLocks/>
            </p:cNvSpPr>
            <p:nvPr/>
          </p:nvSpPr>
          <p:spPr bwMode="auto">
            <a:xfrm>
              <a:off x="1387" y="2690"/>
              <a:ext cx="396" cy="7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28" y="76"/>
                </a:cxn>
                <a:cxn ang="0">
                  <a:pos x="28" y="76"/>
                </a:cxn>
                <a:cxn ang="0">
                  <a:pos x="32" y="78"/>
                </a:cxn>
                <a:cxn ang="0">
                  <a:pos x="36" y="78"/>
                </a:cxn>
                <a:cxn ang="0">
                  <a:pos x="36" y="78"/>
                </a:cxn>
                <a:cxn ang="0">
                  <a:pos x="396" y="0"/>
                </a:cxn>
                <a:cxn ang="0">
                  <a:pos x="396" y="0"/>
                </a:cxn>
                <a:cxn ang="0">
                  <a:pos x="2" y="48"/>
                </a:cxn>
                <a:cxn ang="0">
                  <a:pos x="2" y="48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396" h="78">
                  <a:moveTo>
                    <a:pt x="0" y="48"/>
                  </a:moveTo>
                  <a:lnTo>
                    <a:pt x="28" y="76"/>
                  </a:lnTo>
                  <a:lnTo>
                    <a:pt x="28" y="76"/>
                  </a:lnTo>
                  <a:lnTo>
                    <a:pt x="32" y="78"/>
                  </a:lnTo>
                  <a:lnTo>
                    <a:pt x="36" y="78"/>
                  </a:lnTo>
                  <a:lnTo>
                    <a:pt x="36" y="78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BFE34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Freeform 37"/>
            <p:cNvSpPr>
              <a:spLocks/>
            </p:cNvSpPr>
            <p:nvPr/>
          </p:nvSpPr>
          <p:spPr bwMode="auto">
            <a:xfrm>
              <a:off x="1625" y="2732"/>
              <a:ext cx="528" cy="136"/>
            </a:xfrm>
            <a:custGeom>
              <a:avLst/>
              <a:gdLst/>
              <a:ahLst/>
              <a:cxnLst>
                <a:cxn ang="0">
                  <a:pos x="208" y="128"/>
                </a:cxn>
                <a:cxn ang="0">
                  <a:pos x="208" y="128"/>
                </a:cxn>
                <a:cxn ang="0">
                  <a:pos x="528" y="18"/>
                </a:cxn>
                <a:cxn ang="0">
                  <a:pos x="488" y="0"/>
                </a:cxn>
                <a:cxn ang="0">
                  <a:pos x="488" y="0"/>
                </a:cxn>
                <a:cxn ang="0">
                  <a:pos x="0" y="116"/>
                </a:cxn>
                <a:cxn ang="0">
                  <a:pos x="0" y="116"/>
                </a:cxn>
                <a:cxn ang="0">
                  <a:pos x="26" y="118"/>
                </a:cxn>
                <a:cxn ang="0">
                  <a:pos x="48" y="122"/>
                </a:cxn>
                <a:cxn ang="0">
                  <a:pos x="92" y="132"/>
                </a:cxn>
                <a:cxn ang="0">
                  <a:pos x="116" y="136"/>
                </a:cxn>
                <a:cxn ang="0">
                  <a:pos x="144" y="136"/>
                </a:cxn>
                <a:cxn ang="0">
                  <a:pos x="174" y="134"/>
                </a:cxn>
                <a:cxn ang="0">
                  <a:pos x="208" y="128"/>
                </a:cxn>
                <a:cxn ang="0">
                  <a:pos x="208" y="128"/>
                </a:cxn>
              </a:cxnLst>
              <a:rect l="0" t="0" r="r" b="b"/>
              <a:pathLst>
                <a:path w="528" h="136">
                  <a:moveTo>
                    <a:pt x="208" y="128"/>
                  </a:moveTo>
                  <a:lnTo>
                    <a:pt x="208" y="128"/>
                  </a:lnTo>
                  <a:lnTo>
                    <a:pt x="528" y="18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26" y="118"/>
                  </a:lnTo>
                  <a:lnTo>
                    <a:pt x="48" y="122"/>
                  </a:lnTo>
                  <a:lnTo>
                    <a:pt x="92" y="132"/>
                  </a:lnTo>
                  <a:lnTo>
                    <a:pt x="116" y="136"/>
                  </a:lnTo>
                  <a:lnTo>
                    <a:pt x="144" y="136"/>
                  </a:lnTo>
                  <a:lnTo>
                    <a:pt x="174" y="134"/>
                  </a:lnTo>
                  <a:lnTo>
                    <a:pt x="208" y="128"/>
                  </a:lnTo>
                  <a:lnTo>
                    <a:pt x="208" y="128"/>
                  </a:lnTo>
                  <a:close/>
                </a:path>
              </a:pathLst>
            </a:custGeom>
            <a:solidFill>
              <a:srgbClr val="D9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Freeform 38"/>
            <p:cNvSpPr>
              <a:spLocks/>
            </p:cNvSpPr>
            <p:nvPr/>
          </p:nvSpPr>
          <p:spPr bwMode="auto">
            <a:xfrm>
              <a:off x="1925" y="2460"/>
              <a:ext cx="288" cy="92"/>
            </a:xfrm>
            <a:custGeom>
              <a:avLst/>
              <a:gdLst/>
              <a:ahLst/>
              <a:cxnLst>
                <a:cxn ang="0">
                  <a:pos x="220" y="0"/>
                </a:cxn>
                <a:cxn ang="0">
                  <a:pos x="218" y="0"/>
                </a:cxn>
                <a:cxn ang="0">
                  <a:pos x="0" y="92"/>
                </a:cxn>
                <a:cxn ang="0">
                  <a:pos x="288" y="58"/>
                </a:cxn>
                <a:cxn ang="0">
                  <a:pos x="220" y="0"/>
                </a:cxn>
              </a:cxnLst>
              <a:rect l="0" t="0" r="r" b="b"/>
              <a:pathLst>
                <a:path w="288" h="92">
                  <a:moveTo>
                    <a:pt x="220" y="0"/>
                  </a:moveTo>
                  <a:lnTo>
                    <a:pt x="218" y="0"/>
                  </a:lnTo>
                  <a:lnTo>
                    <a:pt x="0" y="92"/>
                  </a:lnTo>
                  <a:lnTo>
                    <a:pt x="288" y="58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7A542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" name="Freeform 39"/>
            <p:cNvSpPr>
              <a:spLocks noEditPoints="1"/>
            </p:cNvSpPr>
            <p:nvPr/>
          </p:nvSpPr>
          <p:spPr bwMode="auto">
            <a:xfrm>
              <a:off x="1161" y="2180"/>
              <a:ext cx="1080" cy="932"/>
            </a:xfrm>
            <a:custGeom>
              <a:avLst/>
              <a:gdLst/>
              <a:ahLst/>
              <a:cxnLst>
                <a:cxn ang="0">
                  <a:pos x="488" y="488"/>
                </a:cxn>
                <a:cxn ang="0">
                  <a:pos x="1064" y="440"/>
                </a:cxn>
                <a:cxn ang="0">
                  <a:pos x="230" y="528"/>
                </a:cxn>
                <a:cxn ang="0">
                  <a:pos x="1006" y="504"/>
                </a:cxn>
                <a:cxn ang="0">
                  <a:pos x="792" y="490"/>
                </a:cxn>
                <a:cxn ang="0">
                  <a:pos x="260" y="702"/>
                </a:cxn>
                <a:cxn ang="0">
                  <a:pos x="266" y="686"/>
                </a:cxn>
                <a:cxn ang="0">
                  <a:pos x="1004" y="578"/>
                </a:cxn>
                <a:cxn ang="0">
                  <a:pos x="1004" y="578"/>
                </a:cxn>
                <a:cxn ang="0">
                  <a:pos x="408" y="848"/>
                </a:cxn>
                <a:cxn ang="0">
                  <a:pos x="988" y="592"/>
                </a:cxn>
                <a:cxn ang="0">
                  <a:pos x="402" y="866"/>
                </a:cxn>
                <a:cxn ang="0">
                  <a:pos x="176" y="642"/>
                </a:cxn>
                <a:cxn ang="0">
                  <a:pos x="284" y="712"/>
                </a:cxn>
                <a:cxn ang="0">
                  <a:pos x="16" y="640"/>
                </a:cxn>
                <a:cxn ang="0">
                  <a:pos x="18" y="534"/>
                </a:cxn>
                <a:cxn ang="0">
                  <a:pos x="32" y="544"/>
                </a:cxn>
                <a:cxn ang="0">
                  <a:pos x="28" y="636"/>
                </a:cxn>
                <a:cxn ang="0">
                  <a:pos x="992" y="688"/>
                </a:cxn>
                <a:cxn ang="0">
                  <a:pos x="252" y="598"/>
                </a:cxn>
                <a:cxn ang="0">
                  <a:pos x="708" y="500"/>
                </a:cxn>
                <a:cxn ang="0">
                  <a:pos x="258" y="618"/>
                </a:cxn>
                <a:cxn ang="0">
                  <a:pos x="48" y="436"/>
                </a:cxn>
                <a:cxn ang="0">
                  <a:pos x="32" y="410"/>
                </a:cxn>
                <a:cxn ang="0">
                  <a:pos x="52" y="402"/>
                </a:cxn>
                <a:cxn ang="0">
                  <a:pos x="44" y="472"/>
                </a:cxn>
                <a:cxn ang="0">
                  <a:pos x="34" y="464"/>
                </a:cxn>
                <a:cxn ang="0">
                  <a:pos x="76" y="202"/>
                </a:cxn>
                <a:cxn ang="0">
                  <a:pos x="142" y="218"/>
                </a:cxn>
                <a:cxn ang="0">
                  <a:pos x="84" y="220"/>
                </a:cxn>
                <a:cxn ang="0">
                  <a:pos x="136" y="334"/>
                </a:cxn>
                <a:cxn ang="0">
                  <a:pos x="72" y="238"/>
                </a:cxn>
                <a:cxn ang="0">
                  <a:pos x="156" y="222"/>
                </a:cxn>
                <a:cxn ang="0">
                  <a:pos x="494" y="450"/>
                </a:cxn>
                <a:cxn ang="0">
                  <a:pos x="488" y="340"/>
                </a:cxn>
                <a:cxn ang="0">
                  <a:pos x="142" y="226"/>
                </a:cxn>
                <a:cxn ang="0">
                  <a:pos x="484" y="448"/>
                </a:cxn>
                <a:cxn ang="0">
                  <a:pos x="90" y="240"/>
                </a:cxn>
                <a:cxn ang="0">
                  <a:pos x="190" y="372"/>
                </a:cxn>
                <a:cxn ang="0">
                  <a:pos x="224" y="444"/>
                </a:cxn>
                <a:cxn ang="0">
                  <a:pos x="214" y="452"/>
                </a:cxn>
                <a:cxn ang="0">
                  <a:pos x="230" y="510"/>
                </a:cxn>
                <a:cxn ang="0">
                  <a:pos x="490" y="458"/>
                </a:cxn>
                <a:cxn ang="0">
                  <a:pos x="492" y="472"/>
                </a:cxn>
                <a:cxn ang="0">
                  <a:pos x="1080" y="354"/>
                </a:cxn>
                <a:cxn ang="0">
                  <a:pos x="1066" y="244"/>
                </a:cxn>
                <a:cxn ang="0">
                  <a:pos x="1052" y="218"/>
                </a:cxn>
                <a:cxn ang="0">
                  <a:pos x="1066" y="100"/>
                </a:cxn>
                <a:cxn ang="0">
                  <a:pos x="76" y="178"/>
                </a:cxn>
                <a:cxn ang="0">
                  <a:pos x="56" y="258"/>
                </a:cxn>
                <a:cxn ang="0">
                  <a:pos x="120" y="360"/>
                </a:cxn>
                <a:cxn ang="0">
                  <a:pos x="14" y="432"/>
                </a:cxn>
                <a:cxn ang="0">
                  <a:pos x="14" y="518"/>
                </a:cxn>
                <a:cxn ang="0">
                  <a:pos x="0" y="642"/>
                </a:cxn>
                <a:cxn ang="0">
                  <a:pos x="406" y="932"/>
                </a:cxn>
                <a:cxn ang="0">
                  <a:pos x="1018" y="688"/>
                </a:cxn>
                <a:cxn ang="0">
                  <a:pos x="1004" y="598"/>
                </a:cxn>
                <a:cxn ang="0">
                  <a:pos x="978" y="548"/>
                </a:cxn>
                <a:cxn ang="0">
                  <a:pos x="1030" y="502"/>
                </a:cxn>
                <a:cxn ang="0">
                  <a:pos x="1078" y="448"/>
                </a:cxn>
                <a:cxn ang="0">
                  <a:pos x="1062" y="362"/>
                </a:cxn>
              </a:cxnLst>
              <a:rect l="0" t="0" r="r" b="b"/>
              <a:pathLst>
                <a:path w="1080" h="932">
                  <a:moveTo>
                    <a:pt x="1046" y="418"/>
                  </a:moveTo>
                  <a:lnTo>
                    <a:pt x="1046" y="418"/>
                  </a:lnTo>
                  <a:lnTo>
                    <a:pt x="238" y="520"/>
                  </a:lnTo>
                  <a:lnTo>
                    <a:pt x="240" y="458"/>
                  </a:lnTo>
                  <a:lnTo>
                    <a:pt x="372" y="442"/>
                  </a:lnTo>
                  <a:lnTo>
                    <a:pt x="372" y="442"/>
                  </a:lnTo>
                  <a:lnTo>
                    <a:pt x="482" y="486"/>
                  </a:lnTo>
                  <a:lnTo>
                    <a:pt x="482" y="486"/>
                  </a:lnTo>
                  <a:lnTo>
                    <a:pt x="488" y="488"/>
                  </a:lnTo>
                  <a:lnTo>
                    <a:pt x="492" y="488"/>
                  </a:lnTo>
                  <a:lnTo>
                    <a:pt x="498" y="486"/>
                  </a:lnTo>
                  <a:lnTo>
                    <a:pt x="498" y="486"/>
                  </a:lnTo>
                  <a:lnTo>
                    <a:pt x="688" y="406"/>
                  </a:lnTo>
                  <a:lnTo>
                    <a:pt x="1046" y="364"/>
                  </a:lnTo>
                  <a:lnTo>
                    <a:pt x="1046" y="418"/>
                  </a:lnTo>
                  <a:close/>
                  <a:moveTo>
                    <a:pt x="1064" y="438"/>
                  </a:moveTo>
                  <a:lnTo>
                    <a:pt x="1064" y="438"/>
                  </a:lnTo>
                  <a:lnTo>
                    <a:pt x="1064" y="440"/>
                  </a:lnTo>
                  <a:lnTo>
                    <a:pt x="1064" y="440"/>
                  </a:lnTo>
                  <a:lnTo>
                    <a:pt x="228" y="544"/>
                  </a:lnTo>
                  <a:lnTo>
                    <a:pt x="228" y="544"/>
                  </a:lnTo>
                  <a:lnTo>
                    <a:pt x="132" y="350"/>
                  </a:lnTo>
                  <a:lnTo>
                    <a:pt x="132" y="350"/>
                  </a:lnTo>
                  <a:lnTo>
                    <a:pt x="142" y="354"/>
                  </a:lnTo>
                  <a:lnTo>
                    <a:pt x="228" y="526"/>
                  </a:lnTo>
                  <a:lnTo>
                    <a:pt x="228" y="526"/>
                  </a:lnTo>
                  <a:lnTo>
                    <a:pt x="230" y="528"/>
                  </a:lnTo>
                  <a:lnTo>
                    <a:pt x="232" y="528"/>
                  </a:lnTo>
                  <a:lnTo>
                    <a:pt x="1046" y="426"/>
                  </a:lnTo>
                  <a:lnTo>
                    <a:pt x="1046" y="426"/>
                  </a:lnTo>
                  <a:lnTo>
                    <a:pt x="1050" y="430"/>
                  </a:lnTo>
                  <a:lnTo>
                    <a:pt x="1050" y="430"/>
                  </a:lnTo>
                  <a:lnTo>
                    <a:pt x="1064" y="438"/>
                  </a:lnTo>
                  <a:lnTo>
                    <a:pt x="1064" y="438"/>
                  </a:lnTo>
                  <a:close/>
                  <a:moveTo>
                    <a:pt x="1006" y="504"/>
                  </a:moveTo>
                  <a:lnTo>
                    <a:pt x="1006" y="504"/>
                  </a:lnTo>
                  <a:lnTo>
                    <a:pt x="268" y="678"/>
                  </a:lnTo>
                  <a:lnTo>
                    <a:pt x="268" y="678"/>
                  </a:lnTo>
                  <a:lnTo>
                    <a:pt x="264" y="664"/>
                  </a:lnTo>
                  <a:lnTo>
                    <a:pt x="264" y="652"/>
                  </a:lnTo>
                  <a:lnTo>
                    <a:pt x="264" y="630"/>
                  </a:lnTo>
                  <a:lnTo>
                    <a:pt x="266" y="614"/>
                  </a:lnTo>
                  <a:lnTo>
                    <a:pt x="268" y="606"/>
                  </a:lnTo>
                  <a:lnTo>
                    <a:pt x="268" y="606"/>
                  </a:lnTo>
                  <a:lnTo>
                    <a:pt x="792" y="490"/>
                  </a:lnTo>
                  <a:lnTo>
                    <a:pt x="792" y="490"/>
                  </a:lnTo>
                  <a:lnTo>
                    <a:pt x="1006" y="464"/>
                  </a:lnTo>
                  <a:lnTo>
                    <a:pt x="1006" y="464"/>
                  </a:lnTo>
                  <a:lnTo>
                    <a:pt x="1006" y="504"/>
                  </a:lnTo>
                  <a:lnTo>
                    <a:pt x="1006" y="504"/>
                  </a:lnTo>
                  <a:close/>
                  <a:moveTo>
                    <a:pt x="1020" y="522"/>
                  </a:moveTo>
                  <a:lnTo>
                    <a:pt x="1020" y="522"/>
                  </a:lnTo>
                  <a:lnTo>
                    <a:pt x="260" y="702"/>
                  </a:lnTo>
                  <a:lnTo>
                    <a:pt x="260" y="702"/>
                  </a:lnTo>
                  <a:lnTo>
                    <a:pt x="258" y="702"/>
                  </a:lnTo>
                  <a:lnTo>
                    <a:pt x="258" y="702"/>
                  </a:lnTo>
                  <a:lnTo>
                    <a:pt x="88" y="532"/>
                  </a:lnTo>
                  <a:lnTo>
                    <a:pt x="100" y="532"/>
                  </a:lnTo>
                  <a:lnTo>
                    <a:pt x="100" y="530"/>
                  </a:lnTo>
                  <a:lnTo>
                    <a:pt x="100" y="530"/>
                  </a:lnTo>
                  <a:lnTo>
                    <a:pt x="262" y="686"/>
                  </a:lnTo>
                  <a:lnTo>
                    <a:pt x="262" y="686"/>
                  </a:lnTo>
                  <a:lnTo>
                    <a:pt x="266" y="686"/>
                  </a:lnTo>
                  <a:lnTo>
                    <a:pt x="1010" y="512"/>
                  </a:lnTo>
                  <a:lnTo>
                    <a:pt x="1010" y="512"/>
                  </a:lnTo>
                  <a:lnTo>
                    <a:pt x="1012" y="512"/>
                  </a:lnTo>
                  <a:lnTo>
                    <a:pt x="1012" y="512"/>
                  </a:lnTo>
                  <a:lnTo>
                    <a:pt x="1020" y="516"/>
                  </a:lnTo>
                  <a:lnTo>
                    <a:pt x="1020" y="516"/>
                  </a:lnTo>
                  <a:lnTo>
                    <a:pt x="1020" y="522"/>
                  </a:lnTo>
                  <a:lnTo>
                    <a:pt x="1020" y="522"/>
                  </a:lnTo>
                  <a:close/>
                  <a:moveTo>
                    <a:pt x="1004" y="578"/>
                  </a:moveTo>
                  <a:lnTo>
                    <a:pt x="424" y="774"/>
                  </a:lnTo>
                  <a:lnTo>
                    <a:pt x="424" y="774"/>
                  </a:lnTo>
                  <a:lnTo>
                    <a:pt x="420" y="774"/>
                  </a:lnTo>
                  <a:lnTo>
                    <a:pt x="416" y="774"/>
                  </a:lnTo>
                  <a:lnTo>
                    <a:pt x="296" y="710"/>
                  </a:lnTo>
                  <a:lnTo>
                    <a:pt x="296" y="710"/>
                  </a:lnTo>
                  <a:lnTo>
                    <a:pt x="952" y="554"/>
                  </a:lnTo>
                  <a:lnTo>
                    <a:pt x="952" y="554"/>
                  </a:lnTo>
                  <a:lnTo>
                    <a:pt x="1004" y="578"/>
                  </a:lnTo>
                  <a:lnTo>
                    <a:pt x="1004" y="578"/>
                  </a:lnTo>
                  <a:close/>
                  <a:moveTo>
                    <a:pt x="988" y="594"/>
                  </a:moveTo>
                  <a:lnTo>
                    <a:pt x="988" y="594"/>
                  </a:lnTo>
                  <a:lnTo>
                    <a:pt x="988" y="678"/>
                  </a:lnTo>
                  <a:lnTo>
                    <a:pt x="988" y="678"/>
                  </a:lnTo>
                  <a:lnTo>
                    <a:pt x="414" y="886"/>
                  </a:lnTo>
                  <a:lnTo>
                    <a:pt x="414" y="886"/>
                  </a:lnTo>
                  <a:lnTo>
                    <a:pt x="410" y="872"/>
                  </a:lnTo>
                  <a:lnTo>
                    <a:pt x="408" y="848"/>
                  </a:lnTo>
                  <a:lnTo>
                    <a:pt x="408" y="818"/>
                  </a:lnTo>
                  <a:lnTo>
                    <a:pt x="410" y="800"/>
                  </a:lnTo>
                  <a:lnTo>
                    <a:pt x="414" y="782"/>
                  </a:lnTo>
                  <a:lnTo>
                    <a:pt x="414" y="782"/>
                  </a:lnTo>
                  <a:lnTo>
                    <a:pt x="420" y="782"/>
                  </a:lnTo>
                  <a:lnTo>
                    <a:pt x="424" y="782"/>
                  </a:lnTo>
                  <a:lnTo>
                    <a:pt x="428" y="782"/>
                  </a:lnTo>
                  <a:lnTo>
                    <a:pt x="428" y="782"/>
                  </a:lnTo>
                  <a:lnTo>
                    <a:pt x="988" y="592"/>
                  </a:lnTo>
                  <a:lnTo>
                    <a:pt x="988" y="592"/>
                  </a:lnTo>
                  <a:lnTo>
                    <a:pt x="988" y="594"/>
                  </a:lnTo>
                  <a:lnTo>
                    <a:pt x="988" y="594"/>
                  </a:lnTo>
                  <a:close/>
                  <a:moveTo>
                    <a:pt x="284" y="712"/>
                  </a:moveTo>
                  <a:lnTo>
                    <a:pt x="406" y="778"/>
                  </a:lnTo>
                  <a:lnTo>
                    <a:pt x="406" y="778"/>
                  </a:lnTo>
                  <a:lnTo>
                    <a:pt x="400" y="812"/>
                  </a:lnTo>
                  <a:lnTo>
                    <a:pt x="400" y="842"/>
                  </a:lnTo>
                  <a:lnTo>
                    <a:pt x="402" y="866"/>
                  </a:lnTo>
                  <a:lnTo>
                    <a:pt x="404" y="882"/>
                  </a:lnTo>
                  <a:lnTo>
                    <a:pt x="404" y="882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4" y="630"/>
                  </a:lnTo>
                  <a:lnTo>
                    <a:pt x="34" y="630"/>
                  </a:lnTo>
                  <a:lnTo>
                    <a:pt x="34" y="552"/>
                  </a:lnTo>
                  <a:lnTo>
                    <a:pt x="34" y="552"/>
                  </a:lnTo>
                  <a:lnTo>
                    <a:pt x="176" y="642"/>
                  </a:lnTo>
                  <a:lnTo>
                    <a:pt x="176" y="642"/>
                  </a:lnTo>
                  <a:lnTo>
                    <a:pt x="248" y="712"/>
                  </a:lnTo>
                  <a:lnTo>
                    <a:pt x="248" y="712"/>
                  </a:lnTo>
                  <a:lnTo>
                    <a:pt x="252" y="716"/>
                  </a:lnTo>
                  <a:lnTo>
                    <a:pt x="258" y="718"/>
                  </a:lnTo>
                  <a:lnTo>
                    <a:pt x="262" y="718"/>
                  </a:lnTo>
                  <a:lnTo>
                    <a:pt x="262" y="718"/>
                  </a:lnTo>
                  <a:lnTo>
                    <a:pt x="284" y="712"/>
                  </a:lnTo>
                  <a:lnTo>
                    <a:pt x="284" y="712"/>
                  </a:lnTo>
                  <a:close/>
                  <a:moveTo>
                    <a:pt x="1002" y="694"/>
                  </a:moveTo>
                  <a:lnTo>
                    <a:pt x="1002" y="694"/>
                  </a:lnTo>
                  <a:lnTo>
                    <a:pt x="412" y="916"/>
                  </a:lnTo>
                  <a:lnTo>
                    <a:pt x="412" y="916"/>
                  </a:lnTo>
                  <a:lnTo>
                    <a:pt x="410" y="916"/>
                  </a:lnTo>
                  <a:lnTo>
                    <a:pt x="20" y="646"/>
                  </a:lnTo>
                  <a:lnTo>
                    <a:pt x="20" y="646"/>
                  </a:lnTo>
                  <a:lnTo>
                    <a:pt x="16" y="642"/>
                  </a:lnTo>
                  <a:lnTo>
                    <a:pt x="16" y="640"/>
                  </a:lnTo>
                  <a:lnTo>
                    <a:pt x="16" y="640"/>
                  </a:lnTo>
                  <a:lnTo>
                    <a:pt x="16" y="640"/>
                  </a:lnTo>
                  <a:lnTo>
                    <a:pt x="16" y="640"/>
                  </a:lnTo>
                  <a:lnTo>
                    <a:pt x="16" y="638"/>
                  </a:lnTo>
                  <a:lnTo>
                    <a:pt x="16" y="638"/>
                  </a:lnTo>
                  <a:lnTo>
                    <a:pt x="16" y="538"/>
                  </a:lnTo>
                  <a:lnTo>
                    <a:pt x="16" y="538"/>
                  </a:lnTo>
                  <a:lnTo>
                    <a:pt x="18" y="534"/>
                  </a:lnTo>
                  <a:lnTo>
                    <a:pt x="18" y="534"/>
                  </a:lnTo>
                  <a:lnTo>
                    <a:pt x="18" y="534"/>
                  </a:lnTo>
                  <a:lnTo>
                    <a:pt x="56" y="524"/>
                  </a:lnTo>
                  <a:lnTo>
                    <a:pt x="56" y="524"/>
                  </a:lnTo>
                  <a:lnTo>
                    <a:pt x="148" y="616"/>
                  </a:lnTo>
                  <a:lnTo>
                    <a:pt x="36" y="544"/>
                  </a:lnTo>
                  <a:lnTo>
                    <a:pt x="36" y="544"/>
                  </a:lnTo>
                  <a:lnTo>
                    <a:pt x="36" y="544"/>
                  </a:lnTo>
                  <a:lnTo>
                    <a:pt x="36" y="544"/>
                  </a:lnTo>
                  <a:lnTo>
                    <a:pt x="32" y="544"/>
                  </a:lnTo>
                  <a:lnTo>
                    <a:pt x="30" y="544"/>
                  </a:lnTo>
                  <a:lnTo>
                    <a:pt x="30" y="544"/>
                  </a:lnTo>
                  <a:lnTo>
                    <a:pt x="28" y="546"/>
                  </a:lnTo>
                  <a:lnTo>
                    <a:pt x="26" y="550"/>
                  </a:lnTo>
                  <a:lnTo>
                    <a:pt x="26" y="550"/>
                  </a:lnTo>
                  <a:lnTo>
                    <a:pt x="26" y="630"/>
                  </a:lnTo>
                  <a:lnTo>
                    <a:pt x="26" y="630"/>
                  </a:lnTo>
                  <a:lnTo>
                    <a:pt x="26" y="634"/>
                  </a:lnTo>
                  <a:lnTo>
                    <a:pt x="28" y="636"/>
                  </a:lnTo>
                  <a:lnTo>
                    <a:pt x="30" y="638"/>
                  </a:lnTo>
                  <a:lnTo>
                    <a:pt x="30" y="638"/>
                  </a:lnTo>
                  <a:lnTo>
                    <a:pt x="408" y="894"/>
                  </a:lnTo>
                  <a:lnTo>
                    <a:pt x="408" y="894"/>
                  </a:lnTo>
                  <a:lnTo>
                    <a:pt x="412" y="896"/>
                  </a:lnTo>
                  <a:lnTo>
                    <a:pt x="990" y="686"/>
                  </a:lnTo>
                  <a:lnTo>
                    <a:pt x="990" y="686"/>
                  </a:lnTo>
                  <a:lnTo>
                    <a:pt x="992" y="688"/>
                  </a:lnTo>
                  <a:lnTo>
                    <a:pt x="992" y="688"/>
                  </a:lnTo>
                  <a:lnTo>
                    <a:pt x="1002" y="692"/>
                  </a:lnTo>
                  <a:lnTo>
                    <a:pt x="1002" y="692"/>
                  </a:lnTo>
                  <a:lnTo>
                    <a:pt x="1002" y="694"/>
                  </a:lnTo>
                  <a:lnTo>
                    <a:pt x="1002" y="694"/>
                  </a:lnTo>
                  <a:close/>
                  <a:moveTo>
                    <a:pt x="258" y="600"/>
                  </a:moveTo>
                  <a:lnTo>
                    <a:pt x="258" y="600"/>
                  </a:lnTo>
                  <a:lnTo>
                    <a:pt x="254" y="600"/>
                  </a:lnTo>
                  <a:lnTo>
                    <a:pt x="252" y="598"/>
                  </a:lnTo>
                  <a:lnTo>
                    <a:pt x="252" y="598"/>
                  </a:lnTo>
                  <a:lnTo>
                    <a:pt x="92" y="442"/>
                  </a:lnTo>
                  <a:lnTo>
                    <a:pt x="154" y="432"/>
                  </a:lnTo>
                  <a:lnTo>
                    <a:pt x="214" y="552"/>
                  </a:lnTo>
                  <a:lnTo>
                    <a:pt x="214" y="552"/>
                  </a:lnTo>
                  <a:lnTo>
                    <a:pt x="218" y="558"/>
                  </a:lnTo>
                  <a:lnTo>
                    <a:pt x="222" y="560"/>
                  </a:lnTo>
                  <a:lnTo>
                    <a:pt x="228" y="560"/>
                  </a:lnTo>
                  <a:lnTo>
                    <a:pt x="228" y="560"/>
                  </a:lnTo>
                  <a:lnTo>
                    <a:pt x="708" y="500"/>
                  </a:lnTo>
                  <a:lnTo>
                    <a:pt x="258" y="600"/>
                  </a:lnTo>
                  <a:close/>
                  <a:moveTo>
                    <a:pt x="248" y="604"/>
                  </a:moveTo>
                  <a:lnTo>
                    <a:pt x="248" y="604"/>
                  </a:lnTo>
                  <a:lnTo>
                    <a:pt x="252" y="606"/>
                  </a:lnTo>
                  <a:lnTo>
                    <a:pt x="260" y="608"/>
                  </a:lnTo>
                  <a:lnTo>
                    <a:pt x="260" y="608"/>
                  </a:lnTo>
                  <a:lnTo>
                    <a:pt x="260" y="608"/>
                  </a:lnTo>
                  <a:lnTo>
                    <a:pt x="260" y="608"/>
                  </a:lnTo>
                  <a:lnTo>
                    <a:pt x="258" y="618"/>
                  </a:lnTo>
                  <a:lnTo>
                    <a:pt x="256" y="632"/>
                  </a:lnTo>
                  <a:lnTo>
                    <a:pt x="256" y="650"/>
                  </a:lnTo>
                  <a:lnTo>
                    <a:pt x="258" y="670"/>
                  </a:lnTo>
                  <a:lnTo>
                    <a:pt x="258" y="670"/>
                  </a:lnTo>
                  <a:lnTo>
                    <a:pt x="52" y="472"/>
                  </a:lnTo>
                  <a:lnTo>
                    <a:pt x="52" y="472"/>
                  </a:lnTo>
                  <a:lnTo>
                    <a:pt x="50" y="468"/>
                  </a:lnTo>
                  <a:lnTo>
                    <a:pt x="50" y="458"/>
                  </a:lnTo>
                  <a:lnTo>
                    <a:pt x="48" y="436"/>
                  </a:lnTo>
                  <a:lnTo>
                    <a:pt x="48" y="436"/>
                  </a:lnTo>
                  <a:lnTo>
                    <a:pt x="50" y="412"/>
                  </a:lnTo>
                  <a:lnTo>
                    <a:pt x="50" y="412"/>
                  </a:lnTo>
                  <a:lnTo>
                    <a:pt x="248" y="604"/>
                  </a:lnTo>
                  <a:lnTo>
                    <a:pt x="248" y="604"/>
                  </a:lnTo>
                  <a:close/>
                  <a:moveTo>
                    <a:pt x="30" y="432"/>
                  </a:moveTo>
                  <a:lnTo>
                    <a:pt x="30" y="432"/>
                  </a:lnTo>
                  <a:lnTo>
                    <a:pt x="32" y="410"/>
                  </a:lnTo>
                  <a:lnTo>
                    <a:pt x="32" y="410"/>
                  </a:lnTo>
                  <a:lnTo>
                    <a:pt x="34" y="396"/>
                  </a:lnTo>
                  <a:lnTo>
                    <a:pt x="38" y="390"/>
                  </a:lnTo>
                  <a:lnTo>
                    <a:pt x="38" y="390"/>
                  </a:lnTo>
                  <a:lnTo>
                    <a:pt x="128" y="374"/>
                  </a:lnTo>
                  <a:lnTo>
                    <a:pt x="152" y="424"/>
                  </a:lnTo>
                  <a:lnTo>
                    <a:pt x="86" y="436"/>
                  </a:lnTo>
                  <a:lnTo>
                    <a:pt x="86" y="436"/>
                  </a:lnTo>
                  <a:lnTo>
                    <a:pt x="52" y="402"/>
                  </a:lnTo>
                  <a:lnTo>
                    <a:pt x="52" y="402"/>
                  </a:lnTo>
                  <a:lnTo>
                    <a:pt x="50" y="402"/>
                  </a:lnTo>
                  <a:lnTo>
                    <a:pt x="50" y="402"/>
                  </a:lnTo>
                  <a:lnTo>
                    <a:pt x="46" y="402"/>
                  </a:lnTo>
                  <a:lnTo>
                    <a:pt x="44" y="404"/>
                  </a:lnTo>
                  <a:lnTo>
                    <a:pt x="44" y="404"/>
                  </a:lnTo>
                  <a:lnTo>
                    <a:pt x="42" y="418"/>
                  </a:lnTo>
                  <a:lnTo>
                    <a:pt x="40" y="442"/>
                  </a:lnTo>
                  <a:lnTo>
                    <a:pt x="42" y="464"/>
                  </a:lnTo>
                  <a:lnTo>
                    <a:pt x="44" y="472"/>
                  </a:lnTo>
                  <a:lnTo>
                    <a:pt x="46" y="478"/>
                  </a:lnTo>
                  <a:lnTo>
                    <a:pt x="46" y="478"/>
                  </a:lnTo>
                  <a:lnTo>
                    <a:pt x="94" y="524"/>
                  </a:lnTo>
                  <a:lnTo>
                    <a:pt x="80" y="524"/>
                  </a:lnTo>
                  <a:lnTo>
                    <a:pt x="80" y="524"/>
                  </a:lnTo>
                  <a:lnTo>
                    <a:pt x="38" y="482"/>
                  </a:lnTo>
                  <a:lnTo>
                    <a:pt x="38" y="482"/>
                  </a:lnTo>
                  <a:lnTo>
                    <a:pt x="36" y="476"/>
                  </a:lnTo>
                  <a:lnTo>
                    <a:pt x="34" y="464"/>
                  </a:lnTo>
                  <a:lnTo>
                    <a:pt x="32" y="450"/>
                  </a:lnTo>
                  <a:lnTo>
                    <a:pt x="30" y="432"/>
                  </a:lnTo>
                  <a:lnTo>
                    <a:pt x="30" y="432"/>
                  </a:lnTo>
                  <a:close/>
                  <a:moveTo>
                    <a:pt x="72" y="238"/>
                  </a:moveTo>
                  <a:lnTo>
                    <a:pt x="72" y="238"/>
                  </a:lnTo>
                  <a:lnTo>
                    <a:pt x="72" y="234"/>
                  </a:lnTo>
                  <a:lnTo>
                    <a:pt x="72" y="234"/>
                  </a:lnTo>
                  <a:lnTo>
                    <a:pt x="72" y="214"/>
                  </a:lnTo>
                  <a:lnTo>
                    <a:pt x="76" y="202"/>
                  </a:lnTo>
                  <a:lnTo>
                    <a:pt x="78" y="196"/>
                  </a:lnTo>
                  <a:lnTo>
                    <a:pt x="80" y="194"/>
                  </a:lnTo>
                  <a:lnTo>
                    <a:pt x="80" y="194"/>
                  </a:lnTo>
                  <a:lnTo>
                    <a:pt x="656" y="16"/>
                  </a:lnTo>
                  <a:lnTo>
                    <a:pt x="656" y="16"/>
                  </a:lnTo>
                  <a:lnTo>
                    <a:pt x="662" y="16"/>
                  </a:lnTo>
                  <a:lnTo>
                    <a:pt x="662" y="16"/>
                  </a:lnTo>
                  <a:lnTo>
                    <a:pt x="714" y="30"/>
                  </a:lnTo>
                  <a:lnTo>
                    <a:pt x="142" y="218"/>
                  </a:lnTo>
                  <a:lnTo>
                    <a:pt x="142" y="218"/>
                  </a:lnTo>
                  <a:lnTo>
                    <a:pt x="96" y="202"/>
                  </a:lnTo>
                  <a:lnTo>
                    <a:pt x="96" y="202"/>
                  </a:lnTo>
                  <a:lnTo>
                    <a:pt x="92" y="202"/>
                  </a:lnTo>
                  <a:lnTo>
                    <a:pt x="90" y="202"/>
                  </a:lnTo>
                  <a:lnTo>
                    <a:pt x="88" y="206"/>
                  </a:lnTo>
                  <a:lnTo>
                    <a:pt x="86" y="210"/>
                  </a:lnTo>
                  <a:lnTo>
                    <a:pt x="86" y="210"/>
                  </a:lnTo>
                  <a:lnTo>
                    <a:pt x="84" y="220"/>
                  </a:lnTo>
                  <a:lnTo>
                    <a:pt x="82" y="232"/>
                  </a:lnTo>
                  <a:lnTo>
                    <a:pt x="84" y="260"/>
                  </a:lnTo>
                  <a:lnTo>
                    <a:pt x="86" y="276"/>
                  </a:lnTo>
                  <a:lnTo>
                    <a:pt x="88" y="288"/>
                  </a:lnTo>
                  <a:lnTo>
                    <a:pt x="92" y="298"/>
                  </a:lnTo>
                  <a:lnTo>
                    <a:pt x="98" y="304"/>
                  </a:lnTo>
                  <a:lnTo>
                    <a:pt x="98" y="304"/>
                  </a:lnTo>
                  <a:lnTo>
                    <a:pt x="156" y="326"/>
                  </a:lnTo>
                  <a:lnTo>
                    <a:pt x="136" y="334"/>
                  </a:lnTo>
                  <a:lnTo>
                    <a:pt x="136" y="334"/>
                  </a:lnTo>
                  <a:lnTo>
                    <a:pt x="88" y="316"/>
                  </a:lnTo>
                  <a:lnTo>
                    <a:pt x="88" y="316"/>
                  </a:lnTo>
                  <a:lnTo>
                    <a:pt x="86" y="312"/>
                  </a:lnTo>
                  <a:lnTo>
                    <a:pt x="84" y="308"/>
                  </a:lnTo>
                  <a:lnTo>
                    <a:pt x="78" y="292"/>
                  </a:lnTo>
                  <a:lnTo>
                    <a:pt x="74" y="268"/>
                  </a:lnTo>
                  <a:lnTo>
                    <a:pt x="72" y="238"/>
                  </a:lnTo>
                  <a:lnTo>
                    <a:pt x="72" y="238"/>
                  </a:lnTo>
                  <a:close/>
                  <a:moveTo>
                    <a:pt x="1042" y="112"/>
                  </a:moveTo>
                  <a:lnTo>
                    <a:pt x="1042" y="112"/>
                  </a:lnTo>
                  <a:lnTo>
                    <a:pt x="1042" y="112"/>
                  </a:lnTo>
                  <a:lnTo>
                    <a:pt x="490" y="332"/>
                  </a:lnTo>
                  <a:lnTo>
                    <a:pt x="490" y="332"/>
                  </a:lnTo>
                  <a:lnTo>
                    <a:pt x="486" y="332"/>
                  </a:lnTo>
                  <a:lnTo>
                    <a:pt x="484" y="332"/>
                  </a:lnTo>
                  <a:lnTo>
                    <a:pt x="484" y="332"/>
                  </a:lnTo>
                  <a:lnTo>
                    <a:pt x="156" y="222"/>
                  </a:lnTo>
                  <a:lnTo>
                    <a:pt x="728" y="32"/>
                  </a:lnTo>
                  <a:lnTo>
                    <a:pt x="728" y="32"/>
                  </a:lnTo>
                  <a:lnTo>
                    <a:pt x="1048" y="110"/>
                  </a:lnTo>
                  <a:lnTo>
                    <a:pt x="1048" y="110"/>
                  </a:lnTo>
                  <a:lnTo>
                    <a:pt x="1042" y="112"/>
                  </a:lnTo>
                  <a:lnTo>
                    <a:pt x="1042" y="112"/>
                  </a:lnTo>
                  <a:close/>
                  <a:moveTo>
                    <a:pt x="1036" y="222"/>
                  </a:moveTo>
                  <a:lnTo>
                    <a:pt x="1036" y="222"/>
                  </a:lnTo>
                  <a:lnTo>
                    <a:pt x="494" y="450"/>
                  </a:lnTo>
                  <a:lnTo>
                    <a:pt x="494" y="450"/>
                  </a:lnTo>
                  <a:lnTo>
                    <a:pt x="488" y="434"/>
                  </a:lnTo>
                  <a:lnTo>
                    <a:pt x="484" y="418"/>
                  </a:lnTo>
                  <a:lnTo>
                    <a:pt x="480" y="402"/>
                  </a:lnTo>
                  <a:lnTo>
                    <a:pt x="480" y="386"/>
                  </a:lnTo>
                  <a:lnTo>
                    <a:pt x="482" y="358"/>
                  </a:lnTo>
                  <a:lnTo>
                    <a:pt x="484" y="340"/>
                  </a:lnTo>
                  <a:lnTo>
                    <a:pt x="484" y="340"/>
                  </a:lnTo>
                  <a:lnTo>
                    <a:pt x="488" y="340"/>
                  </a:lnTo>
                  <a:lnTo>
                    <a:pt x="494" y="340"/>
                  </a:lnTo>
                  <a:lnTo>
                    <a:pt x="494" y="340"/>
                  </a:lnTo>
                  <a:lnTo>
                    <a:pt x="1036" y="124"/>
                  </a:lnTo>
                  <a:lnTo>
                    <a:pt x="1036" y="124"/>
                  </a:lnTo>
                  <a:lnTo>
                    <a:pt x="1036" y="222"/>
                  </a:lnTo>
                  <a:lnTo>
                    <a:pt x="1036" y="222"/>
                  </a:lnTo>
                  <a:close/>
                  <a:moveTo>
                    <a:pt x="142" y="226"/>
                  </a:moveTo>
                  <a:lnTo>
                    <a:pt x="142" y="226"/>
                  </a:lnTo>
                  <a:lnTo>
                    <a:pt x="142" y="226"/>
                  </a:lnTo>
                  <a:lnTo>
                    <a:pt x="142" y="226"/>
                  </a:lnTo>
                  <a:lnTo>
                    <a:pt x="476" y="338"/>
                  </a:lnTo>
                  <a:lnTo>
                    <a:pt x="476" y="338"/>
                  </a:lnTo>
                  <a:lnTo>
                    <a:pt x="474" y="354"/>
                  </a:lnTo>
                  <a:lnTo>
                    <a:pt x="472" y="382"/>
                  </a:lnTo>
                  <a:lnTo>
                    <a:pt x="472" y="398"/>
                  </a:lnTo>
                  <a:lnTo>
                    <a:pt x="474" y="414"/>
                  </a:lnTo>
                  <a:lnTo>
                    <a:pt x="478" y="430"/>
                  </a:lnTo>
                  <a:lnTo>
                    <a:pt x="484" y="448"/>
                  </a:lnTo>
                  <a:lnTo>
                    <a:pt x="484" y="448"/>
                  </a:lnTo>
                  <a:lnTo>
                    <a:pt x="102" y="296"/>
                  </a:lnTo>
                  <a:lnTo>
                    <a:pt x="102" y="296"/>
                  </a:lnTo>
                  <a:lnTo>
                    <a:pt x="98" y="292"/>
                  </a:lnTo>
                  <a:lnTo>
                    <a:pt x="94" y="284"/>
                  </a:lnTo>
                  <a:lnTo>
                    <a:pt x="92" y="270"/>
                  </a:lnTo>
                  <a:lnTo>
                    <a:pt x="90" y="252"/>
                  </a:lnTo>
                  <a:lnTo>
                    <a:pt x="90" y="252"/>
                  </a:lnTo>
                  <a:lnTo>
                    <a:pt x="90" y="240"/>
                  </a:lnTo>
                  <a:lnTo>
                    <a:pt x="90" y="240"/>
                  </a:lnTo>
                  <a:lnTo>
                    <a:pt x="92" y="220"/>
                  </a:lnTo>
                  <a:lnTo>
                    <a:pt x="94" y="210"/>
                  </a:lnTo>
                  <a:lnTo>
                    <a:pt x="94" y="210"/>
                  </a:lnTo>
                  <a:lnTo>
                    <a:pt x="142" y="226"/>
                  </a:lnTo>
                  <a:lnTo>
                    <a:pt x="142" y="226"/>
                  </a:lnTo>
                  <a:close/>
                  <a:moveTo>
                    <a:pt x="226" y="444"/>
                  </a:moveTo>
                  <a:lnTo>
                    <a:pt x="226" y="444"/>
                  </a:lnTo>
                  <a:lnTo>
                    <a:pt x="190" y="372"/>
                  </a:lnTo>
                  <a:lnTo>
                    <a:pt x="190" y="372"/>
                  </a:lnTo>
                  <a:lnTo>
                    <a:pt x="340" y="430"/>
                  </a:lnTo>
                  <a:lnTo>
                    <a:pt x="340" y="430"/>
                  </a:lnTo>
                  <a:lnTo>
                    <a:pt x="226" y="444"/>
                  </a:lnTo>
                  <a:lnTo>
                    <a:pt x="226" y="444"/>
                  </a:lnTo>
                  <a:close/>
                  <a:moveTo>
                    <a:pt x="224" y="444"/>
                  </a:moveTo>
                  <a:lnTo>
                    <a:pt x="224" y="444"/>
                  </a:lnTo>
                  <a:lnTo>
                    <a:pt x="224" y="444"/>
                  </a:lnTo>
                  <a:lnTo>
                    <a:pt x="224" y="444"/>
                  </a:lnTo>
                  <a:lnTo>
                    <a:pt x="224" y="444"/>
                  </a:lnTo>
                  <a:lnTo>
                    <a:pt x="224" y="444"/>
                  </a:lnTo>
                  <a:close/>
                  <a:moveTo>
                    <a:pt x="230" y="510"/>
                  </a:moveTo>
                  <a:lnTo>
                    <a:pt x="230" y="510"/>
                  </a:lnTo>
                  <a:lnTo>
                    <a:pt x="154" y="358"/>
                  </a:lnTo>
                  <a:lnTo>
                    <a:pt x="154" y="358"/>
                  </a:lnTo>
                  <a:lnTo>
                    <a:pt x="168" y="364"/>
                  </a:lnTo>
                  <a:lnTo>
                    <a:pt x="214" y="452"/>
                  </a:lnTo>
                  <a:lnTo>
                    <a:pt x="214" y="452"/>
                  </a:lnTo>
                  <a:lnTo>
                    <a:pt x="214" y="454"/>
                  </a:lnTo>
                  <a:lnTo>
                    <a:pt x="214" y="454"/>
                  </a:lnTo>
                  <a:lnTo>
                    <a:pt x="218" y="456"/>
                  </a:lnTo>
                  <a:lnTo>
                    <a:pt x="220" y="458"/>
                  </a:lnTo>
                  <a:lnTo>
                    <a:pt x="224" y="460"/>
                  </a:lnTo>
                  <a:lnTo>
                    <a:pt x="224" y="460"/>
                  </a:lnTo>
                  <a:lnTo>
                    <a:pt x="226" y="460"/>
                  </a:lnTo>
                  <a:lnTo>
                    <a:pt x="232" y="458"/>
                  </a:lnTo>
                  <a:lnTo>
                    <a:pt x="230" y="510"/>
                  </a:lnTo>
                  <a:close/>
                  <a:moveTo>
                    <a:pt x="492" y="472"/>
                  </a:moveTo>
                  <a:lnTo>
                    <a:pt x="492" y="472"/>
                  </a:lnTo>
                  <a:lnTo>
                    <a:pt x="488" y="472"/>
                  </a:lnTo>
                  <a:lnTo>
                    <a:pt x="488" y="472"/>
                  </a:lnTo>
                  <a:lnTo>
                    <a:pt x="148" y="338"/>
                  </a:lnTo>
                  <a:lnTo>
                    <a:pt x="168" y="332"/>
                  </a:lnTo>
                  <a:lnTo>
                    <a:pt x="168" y="332"/>
                  </a:lnTo>
                  <a:lnTo>
                    <a:pt x="490" y="458"/>
                  </a:lnTo>
                  <a:lnTo>
                    <a:pt x="490" y="458"/>
                  </a:lnTo>
                  <a:lnTo>
                    <a:pt x="494" y="458"/>
                  </a:lnTo>
                  <a:lnTo>
                    <a:pt x="1038" y="228"/>
                  </a:lnTo>
                  <a:lnTo>
                    <a:pt x="1038" y="228"/>
                  </a:lnTo>
                  <a:lnTo>
                    <a:pt x="1040" y="228"/>
                  </a:lnTo>
                  <a:lnTo>
                    <a:pt x="1040" y="228"/>
                  </a:lnTo>
                  <a:lnTo>
                    <a:pt x="1052" y="236"/>
                  </a:lnTo>
                  <a:lnTo>
                    <a:pt x="1052" y="236"/>
                  </a:lnTo>
                  <a:lnTo>
                    <a:pt x="492" y="472"/>
                  </a:lnTo>
                  <a:lnTo>
                    <a:pt x="492" y="472"/>
                  </a:lnTo>
                  <a:close/>
                  <a:moveTo>
                    <a:pt x="1060" y="346"/>
                  </a:moveTo>
                  <a:lnTo>
                    <a:pt x="1060" y="346"/>
                  </a:lnTo>
                  <a:lnTo>
                    <a:pt x="740" y="384"/>
                  </a:lnTo>
                  <a:lnTo>
                    <a:pt x="740" y="384"/>
                  </a:lnTo>
                  <a:lnTo>
                    <a:pt x="982" y="282"/>
                  </a:lnTo>
                  <a:lnTo>
                    <a:pt x="982" y="282"/>
                  </a:lnTo>
                  <a:lnTo>
                    <a:pt x="1060" y="346"/>
                  </a:lnTo>
                  <a:lnTo>
                    <a:pt x="1060" y="346"/>
                  </a:lnTo>
                  <a:close/>
                  <a:moveTo>
                    <a:pt x="1080" y="354"/>
                  </a:moveTo>
                  <a:lnTo>
                    <a:pt x="1080" y="348"/>
                  </a:lnTo>
                  <a:lnTo>
                    <a:pt x="1080" y="348"/>
                  </a:lnTo>
                  <a:lnTo>
                    <a:pt x="1080" y="344"/>
                  </a:lnTo>
                  <a:lnTo>
                    <a:pt x="1078" y="340"/>
                  </a:lnTo>
                  <a:lnTo>
                    <a:pt x="1000" y="274"/>
                  </a:lnTo>
                  <a:lnTo>
                    <a:pt x="1000" y="274"/>
                  </a:lnTo>
                  <a:lnTo>
                    <a:pt x="1064" y="248"/>
                  </a:lnTo>
                  <a:lnTo>
                    <a:pt x="1064" y="248"/>
                  </a:lnTo>
                  <a:lnTo>
                    <a:pt x="1066" y="244"/>
                  </a:lnTo>
                  <a:lnTo>
                    <a:pt x="1068" y="240"/>
                  </a:lnTo>
                  <a:lnTo>
                    <a:pt x="1068" y="240"/>
                  </a:lnTo>
                  <a:lnTo>
                    <a:pt x="1068" y="232"/>
                  </a:lnTo>
                  <a:lnTo>
                    <a:pt x="1068" y="232"/>
                  </a:lnTo>
                  <a:lnTo>
                    <a:pt x="1066" y="228"/>
                  </a:lnTo>
                  <a:lnTo>
                    <a:pt x="1064" y="224"/>
                  </a:lnTo>
                  <a:lnTo>
                    <a:pt x="1064" y="224"/>
                  </a:lnTo>
                  <a:lnTo>
                    <a:pt x="1052" y="218"/>
                  </a:lnTo>
                  <a:lnTo>
                    <a:pt x="1052" y="218"/>
                  </a:lnTo>
                  <a:lnTo>
                    <a:pt x="1052" y="126"/>
                  </a:lnTo>
                  <a:lnTo>
                    <a:pt x="1052" y="126"/>
                  </a:lnTo>
                  <a:lnTo>
                    <a:pt x="1062" y="122"/>
                  </a:lnTo>
                  <a:lnTo>
                    <a:pt x="1062" y="122"/>
                  </a:lnTo>
                  <a:lnTo>
                    <a:pt x="1066" y="120"/>
                  </a:lnTo>
                  <a:lnTo>
                    <a:pt x="1066" y="114"/>
                  </a:lnTo>
                  <a:lnTo>
                    <a:pt x="1066" y="106"/>
                  </a:lnTo>
                  <a:lnTo>
                    <a:pt x="1066" y="106"/>
                  </a:lnTo>
                  <a:lnTo>
                    <a:pt x="1066" y="100"/>
                  </a:lnTo>
                  <a:lnTo>
                    <a:pt x="1060" y="98"/>
                  </a:lnTo>
                  <a:lnTo>
                    <a:pt x="664" y="0"/>
                  </a:lnTo>
                  <a:lnTo>
                    <a:pt x="664" y="0"/>
                  </a:lnTo>
                  <a:lnTo>
                    <a:pt x="664" y="0"/>
                  </a:lnTo>
                  <a:lnTo>
                    <a:pt x="664" y="0"/>
                  </a:lnTo>
                  <a:lnTo>
                    <a:pt x="656" y="0"/>
                  </a:lnTo>
                  <a:lnTo>
                    <a:pt x="652" y="2"/>
                  </a:lnTo>
                  <a:lnTo>
                    <a:pt x="652" y="2"/>
                  </a:lnTo>
                  <a:lnTo>
                    <a:pt x="76" y="178"/>
                  </a:lnTo>
                  <a:lnTo>
                    <a:pt x="76" y="178"/>
                  </a:lnTo>
                  <a:lnTo>
                    <a:pt x="70" y="182"/>
                  </a:lnTo>
                  <a:lnTo>
                    <a:pt x="66" y="186"/>
                  </a:lnTo>
                  <a:lnTo>
                    <a:pt x="62" y="194"/>
                  </a:lnTo>
                  <a:lnTo>
                    <a:pt x="60" y="200"/>
                  </a:lnTo>
                  <a:lnTo>
                    <a:pt x="56" y="218"/>
                  </a:lnTo>
                  <a:lnTo>
                    <a:pt x="56" y="236"/>
                  </a:lnTo>
                  <a:lnTo>
                    <a:pt x="56" y="236"/>
                  </a:lnTo>
                  <a:lnTo>
                    <a:pt x="56" y="258"/>
                  </a:lnTo>
                  <a:lnTo>
                    <a:pt x="60" y="288"/>
                  </a:lnTo>
                  <a:lnTo>
                    <a:pt x="64" y="302"/>
                  </a:lnTo>
                  <a:lnTo>
                    <a:pt x="68" y="314"/>
                  </a:lnTo>
                  <a:lnTo>
                    <a:pt x="76" y="324"/>
                  </a:lnTo>
                  <a:lnTo>
                    <a:pt x="78" y="328"/>
                  </a:lnTo>
                  <a:lnTo>
                    <a:pt x="82" y="330"/>
                  </a:lnTo>
                  <a:lnTo>
                    <a:pt x="82" y="330"/>
                  </a:lnTo>
                  <a:lnTo>
                    <a:pt x="110" y="340"/>
                  </a:lnTo>
                  <a:lnTo>
                    <a:pt x="120" y="360"/>
                  </a:lnTo>
                  <a:lnTo>
                    <a:pt x="34" y="374"/>
                  </a:lnTo>
                  <a:lnTo>
                    <a:pt x="34" y="374"/>
                  </a:lnTo>
                  <a:lnTo>
                    <a:pt x="32" y="376"/>
                  </a:lnTo>
                  <a:lnTo>
                    <a:pt x="28" y="378"/>
                  </a:lnTo>
                  <a:lnTo>
                    <a:pt x="24" y="382"/>
                  </a:lnTo>
                  <a:lnTo>
                    <a:pt x="20" y="390"/>
                  </a:lnTo>
                  <a:lnTo>
                    <a:pt x="20" y="390"/>
                  </a:lnTo>
                  <a:lnTo>
                    <a:pt x="16" y="408"/>
                  </a:lnTo>
                  <a:lnTo>
                    <a:pt x="14" y="432"/>
                  </a:lnTo>
                  <a:lnTo>
                    <a:pt x="14" y="432"/>
                  </a:lnTo>
                  <a:lnTo>
                    <a:pt x="16" y="452"/>
                  </a:lnTo>
                  <a:lnTo>
                    <a:pt x="18" y="470"/>
                  </a:lnTo>
                  <a:lnTo>
                    <a:pt x="22" y="486"/>
                  </a:lnTo>
                  <a:lnTo>
                    <a:pt x="24" y="490"/>
                  </a:lnTo>
                  <a:lnTo>
                    <a:pt x="26" y="494"/>
                  </a:lnTo>
                  <a:lnTo>
                    <a:pt x="26" y="494"/>
                  </a:lnTo>
                  <a:lnTo>
                    <a:pt x="44" y="510"/>
                  </a:lnTo>
                  <a:lnTo>
                    <a:pt x="14" y="518"/>
                  </a:lnTo>
                  <a:lnTo>
                    <a:pt x="14" y="518"/>
                  </a:lnTo>
                  <a:lnTo>
                    <a:pt x="8" y="522"/>
                  </a:lnTo>
                  <a:lnTo>
                    <a:pt x="2" y="528"/>
                  </a:lnTo>
                  <a:lnTo>
                    <a:pt x="0" y="534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0" y="638"/>
                  </a:lnTo>
                  <a:lnTo>
                    <a:pt x="0" y="638"/>
                  </a:lnTo>
                  <a:lnTo>
                    <a:pt x="0" y="642"/>
                  </a:lnTo>
                  <a:lnTo>
                    <a:pt x="2" y="648"/>
                  </a:lnTo>
                  <a:lnTo>
                    <a:pt x="6" y="654"/>
                  </a:lnTo>
                  <a:lnTo>
                    <a:pt x="12" y="658"/>
                  </a:lnTo>
                  <a:lnTo>
                    <a:pt x="12" y="658"/>
                  </a:lnTo>
                  <a:lnTo>
                    <a:pt x="402" y="930"/>
                  </a:lnTo>
                  <a:lnTo>
                    <a:pt x="402" y="930"/>
                  </a:lnTo>
                  <a:lnTo>
                    <a:pt x="402" y="930"/>
                  </a:lnTo>
                  <a:lnTo>
                    <a:pt x="402" y="930"/>
                  </a:lnTo>
                  <a:lnTo>
                    <a:pt x="406" y="932"/>
                  </a:lnTo>
                  <a:lnTo>
                    <a:pt x="412" y="932"/>
                  </a:lnTo>
                  <a:lnTo>
                    <a:pt x="418" y="932"/>
                  </a:lnTo>
                  <a:lnTo>
                    <a:pt x="418" y="932"/>
                  </a:lnTo>
                  <a:lnTo>
                    <a:pt x="1012" y="708"/>
                  </a:lnTo>
                  <a:lnTo>
                    <a:pt x="1012" y="708"/>
                  </a:lnTo>
                  <a:lnTo>
                    <a:pt x="1016" y="706"/>
                  </a:lnTo>
                  <a:lnTo>
                    <a:pt x="1018" y="700"/>
                  </a:lnTo>
                  <a:lnTo>
                    <a:pt x="1018" y="688"/>
                  </a:lnTo>
                  <a:lnTo>
                    <a:pt x="1018" y="688"/>
                  </a:lnTo>
                  <a:lnTo>
                    <a:pt x="1018" y="688"/>
                  </a:lnTo>
                  <a:lnTo>
                    <a:pt x="1018" y="688"/>
                  </a:lnTo>
                  <a:lnTo>
                    <a:pt x="1018" y="684"/>
                  </a:lnTo>
                  <a:lnTo>
                    <a:pt x="1014" y="682"/>
                  </a:lnTo>
                  <a:lnTo>
                    <a:pt x="1014" y="682"/>
                  </a:lnTo>
                  <a:lnTo>
                    <a:pt x="1004" y="676"/>
                  </a:lnTo>
                  <a:lnTo>
                    <a:pt x="1004" y="676"/>
                  </a:lnTo>
                  <a:lnTo>
                    <a:pt x="1004" y="598"/>
                  </a:lnTo>
                  <a:lnTo>
                    <a:pt x="1004" y="598"/>
                  </a:lnTo>
                  <a:lnTo>
                    <a:pt x="1022" y="592"/>
                  </a:lnTo>
                  <a:lnTo>
                    <a:pt x="1022" y="592"/>
                  </a:lnTo>
                  <a:lnTo>
                    <a:pt x="1026" y="588"/>
                  </a:lnTo>
                  <a:lnTo>
                    <a:pt x="1028" y="584"/>
                  </a:lnTo>
                  <a:lnTo>
                    <a:pt x="1028" y="576"/>
                  </a:lnTo>
                  <a:lnTo>
                    <a:pt x="1028" y="576"/>
                  </a:lnTo>
                  <a:lnTo>
                    <a:pt x="1026" y="572"/>
                  </a:lnTo>
                  <a:lnTo>
                    <a:pt x="1022" y="568"/>
                  </a:lnTo>
                  <a:lnTo>
                    <a:pt x="978" y="548"/>
                  </a:lnTo>
                  <a:lnTo>
                    <a:pt x="978" y="548"/>
                  </a:lnTo>
                  <a:lnTo>
                    <a:pt x="1030" y="536"/>
                  </a:lnTo>
                  <a:lnTo>
                    <a:pt x="1030" y="536"/>
                  </a:lnTo>
                  <a:lnTo>
                    <a:pt x="1034" y="534"/>
                  </a:lnTo>
                  <a:lnTo>
                    <a:pt x="1036" y="528"/>
                  </a:lnTo>
                  <a:lnTo>
                    <a:pt x="1036" y="510"/>
                  </a:lnTo>
                  <a:lnTo>
                    <a:pt x="1036" y="510"/>
                  </a:lnTo>
                  <a:lnTo>
                    <a:pt x="1034" y="506"/>
                  </a:lnTo>
                  <a:lnTo>
                    <a:pt x="1030" y="502"/>
                  </a:lnTo>
                  <a:lnTo>
                    <a:pt x="1030" y="502"/>
                  </a:lnTo>
                  <a:lnTo>
                    <a:pt x="1022" y="500"/>
                  </a:lnTo>
                  <a:lnTo>
                    <a:pt x="1022" y="500"/>
                  </a:lnTo>
                  <a:lnTo>
                    <a:pt x="1022" y="462"/>
                  </a:lnTo>
                  <a:lnTo>
                    <a:pt x="1022" y="462"/>
                  </a:lnTo>
                  <a:lnTo>
                    <a:pt x="1072" y="454"/>
                  </a:lnTo>
                  <a:lnTo>
                    <a:pt x="1072" y="454"/>
                  </a:lnTo>
                  <a:lnTo>
                    <a:pt x="1076" y="452"/>
                  </a:lnTo>
                  <a:lnTo>
                    <a:pt x="1078" y="448"/>
                  </a:lnTo>
                  <a:lnTo>
                    <a:pt x="1078" y="448"/>
                  </a:lnTo>
                  <a:lnTo>
                    <a:pt x="1080" y="434"/>
                  </a:lnTo>
                  <a:lnTo>
                    <a:pt x="1080" y="434"/>
                  </a:lnTo>
                  <a:lnTo>
                    <a:pt x="1078" y="430"/>
                  </a:lnTo>
                  <a:lnTo>
                    <a:pt x="1076" y="428"/>
                  </a:lnTo>
                  <a:lnTo>
                    <a:pt x="1076" y="428"/>
                  </a:lnTo>
                  <a:lnTo>
                    <a:pt x="1062" y="418"/>
                  </a:lnTo>
                  <a:lnTo>
                    <a:pt x="1062" y="418"/>
                  </a:lnTo>
                  <a:lnTo>
                    <a:pt x="1062" y="362"/>
                  </a:lnTo>
                  <a:lnTo>
                    <a:pt x="1072" y="362"/>
                  </a:lnTo>
                  <a:lnTo>
                    <a:pt x="1072" y="362"/>
                  </a:lnTo>
                  <a:lnTo>
                    <a:pt x="1078" y="358"/>
                  </a:lnTo>
                  <a:lnTo>
                    <a:pt x="1080" y="354"/>
                  </a:lnTo>
                  <a:lnTo>
                    <a:pt x="1080" y="3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871288" y="4005064"/>
            <a:ext cx="1008609" cy="27699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축구의 이해</a:t>
            </a:r>
            <a:endParaRPr lang="ko-KR" altLang="en-US" sz="1200" dirty="0"/>
          </a:p>
        </p:txBody>
      </p:sp>
      <p:sp>
        <p:nvSpPr>
          <p:cNvPr id="53" name="직사각형 52"/>
          <p:cNvSpPr/>
          <p:nvPr/>
        </p:nvSpPr>
        <p:spPr>
          <a:xfrm>
            <a:off x="890140" y="3728065"/>
            <a:ext cx="1162498" cy="27699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fontAlgn="ctr"/>
            <a:r>
              <a:rPr lang="ko-KR" altLang="en-US" sz="1200" dirty="0" err="1" smtClean="0">
                <a:latin typeface="+mn-ea"/>
              </a:rPr>
              <a:t>축구아는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여자</a:t>
            </a:r>
            <a:endParaRPr lang="ko-KR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71288" y="4304129"/>
            <a:ext cx="1008609" cy="27699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latin typeface="+mn-ea"/>
              </a:rPr>
              <a:t>축구의 역사</a:t>
            </a:r>
            <a:endParaRPr lang="ko-KR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5" name="아래쪽 화살표 54"/>
          <p:cNvSpPr/>
          <p:nvPr/>
        </p:nvSpPr>
        <p:spPr>
          <a:xfrm>
            <a:off x="2838885" y="2996952"/>
            <a:ext cx="221458" cy="352884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899592" y="573325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6-10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타입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집합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</a:t>
            </a:r>
            <a:r>
              <a:rPr lang="ko-KR" altLang="en-US" dirty="0" smtClean="0"/>
              <a:t>개체 타입의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r>
              <a:rPr lang="en-US" altLang="ko-KR" dirty="0" smtClean="0"/>
              <a:t> </a:t>
            </a:r>
            <a:r>
              <a:rPr lang="ko-KR" altLang="en-US" dirty="0" smtClean="0"/>
              <a:t>표현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ko-KR" dirty="0" smtClean="0"/>
              <a:t>ER </a:t>
            </a:r>
            <a:r>
              <a:rPr lang="ko-KR" altLang="en-US" dirty="0" smtClean="0"/>
              <a:t>다이어그램상에서 개체 타입은 직사각형으로 나타냄</a:t>
            </a:r>
            <a:endParaRPr lang="en-US" altLang="ko-KR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r>
              <a:rPr lang="ko-KR" altLang="en-US" dirty="0" smtClean="0"/>
              <a:t>개체 타입의 유형</a:t>
            </a:r>
            <a:endParaRPr lang="en-US" altLang="ko-KR" dirty="0" smtClean="0"/>
          </a:p>
          <a:p>
            <a:pPr lvl="1" algn="just"/>
            <a:r>
              <a:rPr lang="ko-KR" altLang="en-US" sz="1400" dirty="0" smtClean="0"/>
              <a:t>강한 개체</a:t>
            </a:r>
            <a:r>
              <a:rPr lang="en-US" altLang="ko-KR" sz="1400" dirty="0" smtClean="0"/>
              <a:t>(strong entity) : </a:t>
            </a:r>
            <a:r>
              <a:rPr lang="ko-KR" altLang="en-US" sz="1400" dirty="0" smtClean="0"/>
              <a:t>다른 개체의 도움 없이 독자적으로 존재할 수 있는 개체</a:t>
            </a:r>
            <a:endParaRPr lang="en-US" altLang="ko-KR" sz="1400" dirty="0" smtClean="0"/>
          </a:p>
          <a:p>
            <a:pPr lvl="1" algn="just"/>
            <a:r>
              <a:rPr lang="en-US" altLang="ko-KR" sz="1000" dirty="0"/>
              <a:t> </a:t>
            </a:r>
            <a:r>
              <a:rPr lang="ko-KR" altLang="en-US" sz="1400" dirty="0" smtClean="0"/>
              <a:t>약한 개체</a:t>
            </a:r>
            <a:r>
              <a:rPr lang="en-US" altLang="ko-KR" sz="1400" dirty="0" smtClean="0"/>
              <a:t>(weak entity) :</a:t>
            </a:r>
            <a:r>
              <a:rPr lang="ko-KR" altLang="en-US" sz="1400" dirty="0" smtClean="0"/>
              <a:t> 독자적으로는 존재할 수 없고 반드시 상위 개체 타입을 가짐</a:t>
            </a:r>
            <a:endParaRPr lang="ko-KR" alt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155679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타입의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 표현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33" y="1878324"/>
            <a:ext cx="7130181" cy="18688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속성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속성</a:t>
            </a:r>
            <a:r>
              <a:rPr lang="en-US" altLang="ko-KR" dirty="0" smtClean="0"/>
              <a:t>(attribute) :</a:t>
            </a:r>
            <a:r>
              <a:rPr lang="ko-KR" altLang="en-US" dirty="0" smtClean="0"/>
              <a:t> 개체가 가진 성질</a:t>
            </a:r>
            <a:endParaRPr lang="en-US" altLang="ko-KR" dirty="0" smtClean="0"/>
          </a:p>
          <a:p>
            <a:endParaRPr lang="en-US" altLang="ko-KR" sz="1400" dirty="0" smtClean="0"/>
          </a:p>
          <a:p>
            <a:endParaRPr lang="en-US" altLang="ko-KR" sz="1400" dirty="0" smtClean="0"/>
          </a:p>
          <a:p>
            <a:endParaRPr lang="en-US" altLang="ko-KR" sz="1400" dirty="0" smtClean="0"/>
          </a:p>
          <a:p>
            <a:pPr>
              <a:buNone/>
            </a:pP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dirty="0" smtClean="0"/>
              <a:t>속성의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 표현</a:t>
            </a:r>
            <a:endParaRPr lang="en-US" altLang="ko-KR" dirty="0" smtClean="0"/>
          </a:p>
          <a:p>
            <a:pPr lvl="1" algn="just"/>
            <a:r>
              <a:rPr lang="ko-KR" altLang="en-US" sz="1400" b="0" dirty="0" smtClean="0"/>
              <a:t>속성은 기본적으로 타원으로 표현</a:t>
            </a:r>
            <a:r>
              <a:rPr lang="en-US" altLang="ko-KR" sz="1400" b="0" dirty="0" smtClean="0"/>
              <a:t>.</a:t>
            </a:r>
            <a:r>
              <a:rPr lang="ko-KR" altLang="en-US" sz="1400" b="0" dirty="0" smtClean="0"/>
              <a:t> 개체 타입을 나타내는 직사각형과 실선으로 연결됨</a:t>
            </a:r>
            <a:endParaRPr lang="en-US" altLang="ko-KR" sz="1400" b="0" dirty="0" smtClean="0"/>
          </a:p>
          <a:p>
            <a:pPr lvl="1" algn="just"/>
            <a:r>
              <a:rPr lang="ko-KR" altLang="en-US" sz="1400" b="0" dirty="0" smtClean="0"/>
              <a:t>속성의 이름은 타원의 중앙에 표기</a:t>
            </a:r>
            <a:endParaRPr lang="en-US" altLang="ko-KR" sz="1400" b="0" dirty="0" smtClean="0"/>
          </a:p>
          <a:p>
            <a:pPr lvl="1" algn="just"/>
            <a:r>
              <a:rPr lang="ko-KR" altLang="en-US" sz="1400" b="0" dirty="0" smtClean="0"/>
              <a:t>속성이 개체를 유일하게 식별할 수 있는 키일 경우 속성 이름에 밑줄을 </a:t>
            </a:r>
            <a:r>
              <a:rPr lang="ko-KR" altLang="en-US" sz="1400" dirty="0" smtClean="0"/>
              <a:t>그음</a:t>
            </a:r>
            <a:endParaRPr lang="ko-KR" altLang="en-US" sz="1400" b="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383530"/>
              </p:ext>
            </p:extLst>
          </p:nvPr>
        </p:nvGraphicFramePr>
        <p:xfrm>
          <a:off x="899592" y="1908527"/>
          <a:ext cx="4464496" cy="723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559"/>
                <a:gridCol w="3155937"/>
              </a:tblGrid>
              <a:tr h="3314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개체 타입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속성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20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도서이름</a:t>
                      </a:r>
                      <a:r>
                        <a:rPr lang="en-US" altLang="ko-KR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출판사</a:t>
                      </a:r>
                      <a:r>
                        <a:rPr lang="en-US" altLang="ko-KR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도서단가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5" name="그룹 14"/>
          <p:cNvGrpSpPr>
            <a:grpSpLocks noChangeAspect="1"/>
          </p:cNvGrpSpPr>
          <p:nvPr/>
        </p:nvGrpSpPr>
        <p:grpSpPr>
          <a:xfrm>
            <a:off x="971601" y="4490158"/>
            <a:ext cx="3384376" cy="1498404"/>
            <a:chOff x="1115616" y="1049020"/>
            <a:chExt cx="5432350" cy="2405133"/>
          </a:xfrm>
        </p:grpSpPr>
        <p:sp>
          <p:nvSpPr>
            <p:cNvPr id="6" name="직사각형 5"/>
            <p:cNvSpPr>
              <a:spLocks noChangeAspect="1"/>
            </p:cNvSpPr>
            <p:nvPr/>
          </p:nvSpPr>
          <p:spPr>
            <a:xfrm>
              <a:off x="2934390" y="1049020"/>
              <a:ext cx="1717757" cy="601217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도서</a:t>
              </a:r>
              <a:endParaRPr lang="ko-KR" altLang="en-US" sz="1200" dirty="0"/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1115616" y="2852936"/>
              <a:ext cx="1471911" cy="601217"/>
              <a:chOff x="5580112" y="3645024"/>
              <a:chExt cx="1471911" cy="601217"/>
            </a:xfrm>
          </p:grpSpPr>
          <p:sp>
            <p:nvSpPr>
              <p:cNvPr id="8" name="타원 7"/>
              <p:cNvSpPr/>
              <p:nvPr/>
            </p:nvSpPr>
            <p:spPr>
              <a:xfrm>
                <a:off x="5580112" y="3645024"/>
                <a:ext cx="1471911" cy="601217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smtClean="0"/>
                  <a:t>도서이름</a:t>
                </a:r>
                <a:endParaRPr lang="ko-KR" altLang="en-US" sz="1000" dirty="0"/>
              </a:p>
            </p:txBody>
          </p:sp>
          <p:cxnSp>
            <p:nvCxnSpPr>
              <p:cNvPr id="9" name="직선 연결선 8"/>
              <p:cNvCxnSpPr/>
              <p:nvPr/>
            </p:nvCxnSpPr>
            <p:spPr>
              <a:xfrm>
                <a:off x="5780213" y="4103977"/>
                <a:ext cx="1080120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10" name="타원 9"/>
            <p:cNvSpPr/>
            <p:nvPr/>
          </p:nvSpPr>
          <p:spPr>
            <a:xfrm>
              <a:off x="3059832" y="2852936"/>
              <a:ext cx="1471910" cy="601216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출판사</a:t>
              </a:r>
              <a:endParaRPr lang="ko-KR" altLang="en-US" sz="1200" dirty="0"/>
            </a:p>
          </p:txBody>
        </p:sp>
        <p:sp>
          <p:nvSpPr>
            <p:cNvPr id="11" name="타원 10"/>
            <p:cNvSpPr/>
            <p:nvPr/>
          </p:nvSpPr>
          <p:spPr>
            <a:xfrm>
              <a:off x="5076056" y="2852936"/>
              <a:ext cx="1471910" cy="601216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가격</a:t>
              </a:r>
              <a:endParaRPr lang="ko-KR" altLang="en-US" sz="1200" dirty="0"/>
            </a:p>
          </p:txBody>
        </p:sp>
        <p:cxnSp>
          <p:nvCxnSpPr>
            <p:cNvPr id="12" name="직선 연결선 11"/>
            <p:cNvCxnSpPr>
              <a:stCxn id="6" idx="2"/>
              <a:endCxn id="8" idx="0"/>
            </p:cNvCxnSpPr>
            <p:nvPr/>
          </p:nvCxnSpPr>
          <p:spPr>
            <a:xfrm flipH="1">
              <a:off x="1851571" y="1650236"/>
              <a:ext cx="1941698" cy="12027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6" idx="2"/>
              <a:endCxn id="10" idx="0"/>
            </p:cNvCxnSpPr>
            <p:nvPr/>
          </p:nvCxnSpPr>
          <p:spPr>
            <a:xfrm>
              <a:off x="3793270" y="1650236"/>
              <a:ext cx="2518" cy="12027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>
              <a:stCxn id="6" idx="2"/>
              <a:endCxn id="11" idx="0"/>
            </p:cNvCxnSpPr>
            <p:nvPr/>
          </p:nvCxnSpPr>
          <p:spPr>
            <a:xfrm>
              <a:off x="3793270" y="1650236"/>
              <a:ext cx="2018741" cy="12027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767483" y="6123791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도서 개체 타입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2047" y="153389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타입과 속성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속성의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endParaRPr lang="en-US" altLang="ko-KR" sz="1400" dirty="0"/>
          </a:p>
          <a:p>
            <a:pPr algn="just">
              <a:buNone/>
            </a:pPr>
            <a:endParaRPr lang="ko-KR" altLang="en-US" sz="1400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63288"/>
            <a:ext cx="6818337" cy="5717038"/>
          </a:xfrm>
          <a:prstGeom prst="rect">
            <a:avLst/>
          </a:prstGeom>
        </p:spPr>
      </p:pic>
      <p:cxnSp>
        <p:nvCxnSpPr>
          <p:cNvPr id="18" name="직선 연결선 17"/>
          <p:cNvCxnSpPr/>
          <p:nvPr/>
        </p:nvCxnSpPr>
        <p:spPr>
          <a:xfrm>
            <a:off x="611560" y="3573016"/>
            <a:ext cx="66967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611560" y="4365104"/>
            <a:ext cx="66967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55520" y="530120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68284" y="5301208"/>
            <a:ext cx="1872208" cy="115248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</a:t>
            </a:r>
          </a:p>
          <a:p>
            <a:r>
              <a:rPr lang="ko-KR" altLang="en-US" sz="1400" b="1" smtClean="0">
                <a:latin typeface="돋움" pitchFamily="50" charset="-127"/>
                <a:ea typeface="돋움" pitchFamily="50" charset="-127"/>
              </a:rPr>
              <a:t>속성의 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 표현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관계와 관계 타입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관계</a:t>
            </a:r>
            <a:r>
              <a:rPr lang="en-US" altLang="ko-KR" dirty="0" smtClean="0"/>
              <a:t>(relationship)</a:t>
            </a:r>
            <a:r>
              <a:rPr lang="ko-KR" altLang="en-US" dirty="0" smtClean="0"/>
              <a:t>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개체 사이의 연관성을 나타내는 개념</a:t>
            </a:r>
            <a:endParaRPr lang="en-US" altLang="ko-KR" b="0" dirty="0" smtClean="0"/>
          </a:p>
          <a:p>
            <a:r>
              <a:rPr lang="ko-KR" altLang="en-US" dirty="0" smtClean="0"/>
              <a:t>관계 타입</a:t>
            </a:r>
            <a:r>
              <a:rPr lang="en-US" altLang="ko-KR" dirty="0" smtClean="0"/>
              <a:t>(relationship type) :</a:t>
            </a:r>
            <a:r>
              <a:rPr lang="ko-KR" altLang="en-US" dirty="0" smtClean="0"/>
              <a:t> </a:t>
            </a:r>
            <a:r>
              <a:rPr lang="ko-KR" altLang="en-US" b="0" dirty="0" smtClean="0"/>
              <a:t>개체 타입과 개체 타입 간의 연결 가능한 관계를 정의한 것이며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관계 집합</a:t>
            </a:r>
            <a:r>
              <a:rPr lang="en-US" altLang="ko-KR" b="0" dirty="0" smtClean="0"/>
              <a:t>(relationship set)</a:t>
            </a:r>
            <a:r>
              <a:rPr lang="ko-KR" altLang="en-US" b="0" dirty="0" smtClean="0"/>
              <a:t>은 관계로 연결된 집합을 의미</a:t>
            </a:r>
            <a:endParaRPr lang="ko-KR" altLang="en-US" b="0" dirty="0"/>
          </a:p>
        </p:txBody>
      </p:sp>
      <p:sp>
        <p:nvSpPr>
          <p:cNvPr id="5" name="다이아몬드 4"/>
          <p:cNvSpPr/>
          <p:nvPr/>
        </p:nvSpPr>
        <p:spPr>
          <a:xfrm>
            <a:off x="2933079" y="2672976"/>
            <a:ext cx="1487552" cy="540000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주문</a:t>
            </a:r>
            <a:endParaRPr lang="ko-KR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1520093" y="4101838"/>
            <a:ext cx="1224136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축구의 이해</a:t>
            </a:r>
            <a:endParaRPr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1465811" y="3650740"/>
            <a:ext cx="1162498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fontAlgn="ctr"/>
            <a:r>
              <a:rPr lang="ko-KR" altLang="en-US" sz="1200" dirty="0" err="1" smtClean="0"/>
              <a:t>축구아는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여자</a:t>
            </a:r>
            <a:endParaRPr lang="ko-KR" altLang="en-US" sz="1200" dirty="0">
              <a:solidFill>
                <a:srgbClr val="00000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520093" y="4596369"/>
            <a:ext cx="1224136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ctr"/>
            <a:r>
              <a:rPr lang="ko-KR" altLang="en-US" sz="1200" dirty="0"/>
              <a:t>축구의 역사</a:t>
            </a:r>
            <a:endParaRPr lang="ko-KR" altLang="en-US" sz="1200" dirty="0">
              <a:solidFill>
                <a:srgbClr val="000000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3102057" y="3381758"/>
            <a:ext cx="1162285" cy="1716093"/>
          </a:xfrm>
          <a:prstGeom prst="ellipse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>
            <a:stCxn id="21" idx="3"/>
          </p:cNvCxnSpPr>
          <p:nvPr/>
        </p:nvCxnSpPr>
        <p:spPr>
          <a:xfrm>
            <a:off x="4074819" y="3776725"/>
            <a:ext cx="1261698" cy="46912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28" idx="3"/>
          </p:cNvCxnSpPr>
          <p:nvPr/>
        </p:nvCxnSpPr>
        <p:spPr>
          <a:xfrm flipV="1">
            <a:off x="4059580" y="4245854"/>
            <a:ext cx="1276937" cy="46691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54819" y="3654325"/>
            <a:ext cx="720000" cy="24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000" dirty="0" smtClean="0"/>
              <a:t>1</a:t>
            </a:r>
            <a:r>
              <a:rPr lang="ko-KR" altLang="en-US" sz="1000" dirty="0" smtClean="0"/>
              <a:t>번 주문</a:t>
            </a:r>
            <a:endParaRPr lang="ko-KR" altLang="en-US" sz="1000" dirty="0"/>
          </a:p>
        </p:txBody>
      </p:sp>
      <p:sp>
        <p:nvSpPr>
          <p:cNvPr id="22" name="직사각형 21"/>
          <p:cNvSpPr/>
          <p:nvPr/>
        </p:nvSpPr>
        <p:spPr>
          <a:xfrm>
            <a:off x="5336517" y="4101838"/>
            <a:ext cx="646331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fontAlgn="ctr"/>
            <a:r>
              <a:rPr lang="ko-KR" altLang="en-US" sz="1200" dirty="0" smtClean="0">
                <a:solidFill>
                  <a:srgbClr val="000000"/>
                </a:solidFill>
              </a:rPr>
              <a:t>박지성</a:t>
            </a:r>
            <a:endParaRPr lang="ko-KR" altLang="en-US" sz="1200" dirty="0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2616" y="5201008"/>
            <a:ext cx="159530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관계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(relationship)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229235" y="5397982"/>
            <a:ext cx="2287806" cy="27699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 fontAlgn="base" latinLnBrk="0"/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관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계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집합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(relationship set)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 rot="5400000">
            <a:off x="3500313" y="5270920"/>
            <a:ext cx="360040" cy="1588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339580" y="4590370"/>
            <a:ext cx="720000" cy="24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000" dirty="0" smtClean="0"/>
              <a:t>3</a:t>
            </a:r>
            <a:r>
              <a:rPr lang="ko-KR" altLang="en-US" sz="1000" dirty="0" smtClean="0"/>
              <a:t>번 주문</a:t>
            </a:r>
            <a:endParaRPr lang="ko-KR" altLang="en-US" sz="1000" dirty="0"/>
          </a:p>
        </p:txBody>
      </p:sp>
      <p:cxnSp>
        <p:nvCxnSpPr>
          <p:cNvPr id="35" name="직선 화살표 연결선 34"/>
          <p:cNvCxnSpPr>
            <a:endCxn id="5" idx="1"/>
          </p:cNvCxnSpPr>
          <p:nvPr/>
        </p:nvCxnSpPr>
        <p:spPr>
          <a:xfrm flipV="1">
            <a:off x="2168165" y="2942976"/>
            <a:ext cx="764914" cy="6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4409938" y="2937394"/>
            <a:ext cx="854571" cy="27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5204173" y="2733686"/>
            <a:ext cx="1140456" cy="43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고객</a:t>
            </a:r>
            <a:endParaRPr lang="ko-KR" altLang="en-US" sz="1400" dirty="0"/>
          </a:p>
        </p:txBody>
      </p:sp>
      <p:sp>
        <p:nvSpPr>
          <p:cNvPr id="34" name="직사각형 33"/>
          <p:cNvSpPr/>
          <p:nvPr/>
        </p:nvSpPr>
        <p:spPr>
          <a:xfrm>
            <a:off x="1062521" y="2733686"/>
            <a:ext cx="1140456" cy="43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도서</a:t>
            </a:r>
            <a:endParaRPr lang="ko-KR" altLang="en-US" sz="1400" dirty="0"/>
          </a:p>
        </p:txBody>
      </p:sp>
      <p:cxnSp>
        <p:nvCxnSpPr>
          <p:cNvPr id="55" name="직선 화살표 연결선 54"/>
          <p:cNvCxnSpPr/>
          <p:nvPr/>
        </p:nvCxnSpPr>
        <p:spPr>
          <a:xfrm flipV="1">
            <a:off x="3968365" y="4245854"/>
            <a:ext cx="1368152" cy="6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34416" y="4122347"/>
            <a:ext cx="720000" cy="24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000" dirty="0" smtClean="0"/>
              <a:t>2</a:t>
            </a:r>
            <a:r>
              <a:rPr lang="ko-KR" altLang="en-US" sz="1000" dirty="0" smtClean="0"/>
              <a:t>번 주문 </a:t>
            </a:r>
            <a:endParaRPr lang="ko-KR" altLang="en-US" sz="1000" dirty="0"/>
          </a:p>
        </p:txBody>
      </p:sp>
      <p:cxnSp>
        <p:nvCxnSpPr>
          <p:cNvPr id="59" name="직선 화살표 연결선 58"/>
          <p:cNvCxnSpPr/>
          <p:nvPr/>
        </p:nvCxnSpPr>
        <p:spPr>
          <a:xfrm flipV="1">
            <a:off x="2590688" y="3770373"/>
            <a:ext cx="764914" cy="6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 flipV="1">
            <a:off x="2566305" y="4238425"/>
            <a:ext cx="764914" cy="6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V="1">
            <a:off x="2581163" y="4706477"/>
            <a:ext cx="764914" cy="6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endCxn id="21" idx="1"/>
          </p:cNvCxnSpPr>
          <p:nvPr/>
        </p:nvCxnSpPr>
        <p:spPr>
          <a:xfrm rot="5400000" flipH="1" flipV="1">
            <a:off x="2130884" y="3958023"/>
            <a:ext cx="1405233" cy="1042638"/>
          </a:xfrm>
          <a:prstGeom prst="straightConnector1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endCxn id="27" idx="1"/>
          </p:cNvCxnSpPr>
          <p:nvPr/>
        </p:nvCxnSpPr>
        <p:spPr>
          <a:xfrm flipV="1">
            <a:off x="2312181" y="4244747"/>
            <a:ext cx="1022235" cy="1009219"/>
          </a:xfrm>
          <a:prstGeom prst="straightConnector1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endCxn id="28" idx="1"/>
          </p:cNvCxnSpPr>
          <p:nvPr/>
        </p:nvCxnSpPr>
        <p:spPr>
          <a:xfrm flipV="1">
            <a:off x="2384189" y="4712770"/>
            <a:ext cx="955391" cy="541197"/>
          </a:xfrm>
          <a:prstGeom prst="straightConnector1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72021" y="583003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6-15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타입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집합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1325171" y="3429000"/>
            <a:ext cx="6408712" cy="25202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1325171" y="2708920"/>
            <a:ext cx="6408712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관계 타입의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 표현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709961"/>
              </p:ext>
            </p:extLst>
          </p:nvPr>
        </p:nvGraphicFramePr>
        <p:xfrm>
          <a:off x="1345663" y="1484778"/>
          <a:ext cx="4032448" cy="840773"/>
        </p:xfrm>
        <a:graphic>
          <a:graphicData uri="http://schemas.openxmlformats.org/drawingml/2006/table">
            <a:tbl>
              <a:tblPr/>
              <a:tblGrid>
                <a:gridCol w="2448272"/>
                <a:gridCol w="1584176"/>
              </a:tblGrid>
              <a:tr h="2077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1235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관계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73655" y="112474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타입의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 표현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6" name="순서도: 판단 5"/>
          <p:cNvSpPr/>
          <p:nvPr/>
        </p:nvSpPr>
        <p:spPr>
          <a:xfrm>
            <a:off x="1879435" y="1859682"/>
            <a:ext cx="1405785" cy="36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주문</a:t>
            </a:r>
            <a:endParaRPr lang="ko-KR" altLang="en-US" sz="1200" dirty="0"/>
          </a:p>
        </p:txBody>
      </p:sp>
      <p:grpSp>
        <p:nvGrpSpPr>
          <p:cNvPr id="7" name="그룹 6"/>
          <p:cNvGrpSpPr/>
          <p:nvPr/>
        </p:nvGrpSpPr>
        <p:grpSpPr>
          <a:xfrm>
            <a:off x="1397179" y="2839708"/>
            <a:ext cx="6225621" cy="373268"/>
            <a:chOff x="-1404664" y="2852936"/>
            <a:chExt cx="6225621" cy="373268"/>
          </a:xfrm>
        </p:grpSpPr>
        <p:sp>
          <p:nvSpPr>
            <p:cNvPr id="8" name="직사각형 7"/>
            <p:cNvSpPr/>
            <p:nvPr/>
          </p:nvSpPr>
          <p:spPr>
            <a:xfrm>
              <a:off x="3092957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개체 타입</a:t>
              </a:r>
              <a:endParaRPr lang="ko-KR" altLang="en-US" sz="1200" dirty="0"/>
            </a:p>
          </p:txBody>
        </p:sp>
        <p:sp>
          <p:nvSpPr>
            <p:cNvPr id="9" name="순서도: 판단 8"/>
            <p:cNvSpPr/>
            <p:nvPr/>
          </p:nvSpPr>
          <p:spPr>
            <a:xfrm>
              <a:off x="860709" y="2866204"/>
              <a:ext cx="1728192" cy="36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관계</a:t>
              </a:r>
              <a:endParaRPr lang="ko-KR" altLang="en-US" sz="1200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-1404664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개체 타입</a:t>
              </a:r>
              <a:endParaRPr lang="ko-KR" altLang="en-US" sz="1200" dirty="0"/>
            </a:p>
          </p:txBody>
        </p:sp>
        <p:cxnSp>
          <p:nvCxnSpPr>
            <p:cNvPr id="11" name="직선 연결선 10"/>
            <p:cNvCxnSpPr/>
            <p:nvPr/>
          </p:nvCxnSpPr>
          <p:spPr>
            <a:xfrm flipH="1">
              <a:off x="329221" y="3051072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연결선 11"/>
          <p:cNvCxnSpPr/>
          <p:nvPr/>
        </p:nvCxnSpPr>
        <p:spPr>
          <a:xfrm flipH="1">
            <a:off x="5368734" y="3030860"/>
            <a:ext cx="5260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1397179" y="3559788"/>
            <a:ext cx="6225621" cy="373268"/>
            <a:chOff x="-1404664" y="2852936"/>
            <a:chExt cx="6225621" cy="373268"/>
          </a:xfrm>
        </p:grpSpPr>
        <p:sp>
          <p:nvSpPr>
            <p:cNvPr id="14" name="직사각형 13"/>
            <p:cNvSpPr/>
            <p:nvPr/>
          </p:nvSpPr>
          <p:spPr>
            <a:xfrm>
              <a:off x="3092957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고객</a:t>
              </a:r>
              <a:endParaRPr lang="ko-KR" altLang="en-US" sz="1200" dirty="0"/>
            </a:p>
          </p:txBody>
        </p:sp>
        <p:sp>
          <p:nvSpPr>
            <p:cNvPr id="15" name="순서도: 판단 14"/>
            <p:cNvSpPr/>
            <p:nvPr/>
          </p:nvSpPr>
          <p:spPr>
            <a:xfrm>
              <a:off x="860709" y="2866204"/>
              <a:ext cx="1728192" cy="36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구매</a:t>
              </a:r>
              <a:endParaRPr lang="ko-KR" altLang="en-US" sz="1200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-1404664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도서</a:t>
              </a:r>
              <a:endParaRPr lang="ko-KR" altLang="en-US" sz="1200" dirty="0"/>
            </a:p>
          </p:txBody>
        </p:sp>
        <p:cxnSp>
          <p:nvCxnSpPr>
            <p:cNvPr id="17" name="직선 연결선 16"/>
            <p:cNvCxnSpPr/>
            <p:nvPr/>
          </p:nvCxnSpPr>
          <p:spPr>
            <a:xfrm flipH="1">
              <a:off x="329221" y="3051072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직선 연결선 17"/>
          <p:cNvCxnSpPr/>
          <p:nvPr/>
        </p:nvCxnSpPr>
        <p:spPr>
          <a:xfrm flipH="1">
            <a:off x="5368734" y="3748399"/>
            <a:ext cx="5260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/>
          <p:cNvGrpSpPr/>
          <p:nvPr/>
        </p:nvGrpSpPr>
        <p:grpSpPr>
          <a:xfrm>
            <a:off x="1397179" y="4077072"/>
            <a:ext cx="6225621" cy="373268"/>
            <a:chOff x="-1404664" y="2852936"/>
            <a:chExt cx="6225621" cy="373268"/>
          </a:xfrm>
        </p:grpSpPr>
        <p:sp>
          <p:nvSpPr>
            <p:cNvPr id="20" name="직사각형 19"/>
            <p:cNvSpPr/>
            <p:nvPr/>
          </p:nvSpPr>
          <p:spPr>
            <a:xfrm>
              <a:off x="3092957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학과</a:t>
              </a:r>
              <a:endParaRPr lang="ko-KR" altLang="en-US" sz="1200" dirty="0"/>
            </a:p>
          </p:txBody>
        </p:sp>
        <p:sp>
          <p:nvSpPr>
            <p:cNvPr id="21" name="순서도: 판단 20"/>
            <p:cNvSpPr/>
            <p:nvPr/>
          </p:nvSpPr>
          <p:spPr>
            <a:xfrm>
              <a:off x="860709" y="2866204"/>
              <a:ext cx="1728192" cy="36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소속</a:t>
              </a:r>
              <a:endParaRPr lang="ko-KR" altLang="en-US" sz="1200" dirty="0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-1404664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학생</a:t>
              </a:r>
              <a:endParaRPr lang="ko-KR" altLang="en-US" sz="1200" dirty="0"/>
            </a:p>
          </p:txBody>
        </p:sp>
        <p:cxnSp>
          <p:nvCxnSpPr>
            <p:cNvPr id="23" name="직선 연결선 22"/>
            <p:cNvCxnSpPr/>
            <p:nvPr/>
          </p:nvCxnSpPr>
          <p:spPr>
            <a:xfrm flipH="1">
              <a:off x="329221" y="3051072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/>
          <p:cNvCxnSpPr/>
          <p:nvPr/>
        </p:nvCxnSpPr>
        <p:spPr>
          <a:xfrm flipH="1">
            <a:off x="5368734" y="4265683"/>
            <a:ext cx="5260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/>
          <p:cNvGrpSpPr/>
          <p:nvPr/>
        </p:nvGrpSpPr>
        <p:grpSpPr>
          <a:xfrm>
            <a:off x="1397179" y="4640680"/>
            <a:ext cx="6225621" cy="373268"/>
            <a:chOff x="-1404664" y="2852936"/>
            <a:chExt cx="6225621" cy="373268"/>
          </a:xfrm>
        </p:grpSpPr>
        <p:sp>
          <p:nvSpPr>
            <p:cNvPr id="26" name="직사각형 25"/>
            <p:cNvSpPr/>
            <p:nvPr/>
          </p:nvSpPr>
          <p:spPr>
            <a:xfrm>
              <a:off x="3092957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강좌</a:t>
              </a:r>
              <a:endParaRPr lang="ko-KR" altLang="en-US" sz="1200" dirty="0"/>
            </a:p>
          </p:txBody>
        </p:sp>
        <p:sp>
          <p:nvSpPr>
            <p:cNvPr id="27" name="순서도: 판단 26"/>
            <p:cNvSpPr/>
            <p:nvPr/>
          </p:nvSpPr>
          <p:spPr>
            <a:xfrm>
              <a:off x="860709" y="2866204"/>
              <a:ext cx="1728192" cy="36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수강</a:t>
              </a:r>
              <a:endParaRPr lang="ko-KR" altLang="en-US" sz="1200" dirty="0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-1404664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학생</a:t>
              </a:r>
              <a:endParaRPr lang="ko-KR" altLang="en-US" sz="1200" dirty="0"/>
            </a:p>
          </p:txBody>
        </p:sp>
        <p:cxnSp>
          <p:nvCxnSpPr>
            <p:cNvPr id="29" name="직선 연결선 28"/>
            <p:cNvCxnSpPr>
              <a:stCxn id="27" idx="1"/>
            </p:cNvCxnSpPr>
            <p:nvPr/>
          </p:nvCxnSpPr>
          <p:spPr>
            <a:xfrm flipH="1">
              <a:off x="329221" y="3046204"/>
              <a:ext cx="531488" cy="48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직선 연결선 29"/>
          <p:cNvCxnSpPr>
            <a:endCxn id="27" idx="3"/>
          </p:cNvCxnSpPr>
          <p:nvPr/>
        </p:nvCxnSpPr>
        <p:spPr>
          <a:xfrm flipH="1" flipV="1">
            <a:off x="5390744" y="4833948"/>
            <a:ext cx="504056" cy="48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3891120" y="5445264"/>
            <a:ext cx="1260000" cy="36000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 smtClean="0"/>
              <a:t>수강학기</a:t>
            </a:r>
            <a:endParaRPr lang="ko-KR" altLang="en-US" sz="1200" dirty="0"/>
          </a:p>
        </p:txBody>
      </p:sp>
      <p:cxnSp>
        <p:nvCxnSpPr>
          <p:cNvPr id="32" name="직선 연결선 31"/>
          <p:cNvCxnSpPr>
            <a:endCxn id="31" idx="0"/>
          </p:cNvCxnSpPr>
          <p:nvPr/>
        </p:nvCxnSpPr>
        <p:spPr>
          <a:xfrm rot="5400000">
            <a:off x="4301062" y="5220778"/>
            <a:ext cx="444544" cy="44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25171" y="602128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차수에 따른 유형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관계 집합에 참가하는 개체 타입의 수를 관계 타입의 차수</a:t>
            </a:r>
            <a:r>
              <a:rPr lang="en-US" altLang="ko-KR" sz="1400" b="0" dirty="0" smtClean="0"/>
              <a:t>(degree)</a:t>
            </a:r>
            <a:r>
              <a:rPr lang="ko-KR" altLang="en-US" sz="1400" b="0" dirty="0" smtClean="0"/>
              <a:t>라고 함</a:t>
            </a:r>
            <a:endParaRPr lang="en-US" altLang="ko-KR" sz="1400" b="0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197059"/>
              </p:ext>
            </p:extLst>
          </p:nvPr>
        </p:nvGraphicFramePr>
        <p:xfrm>
          <a:off x="611560" y="2414218"/>
          <a:ext cx="7920806" cy="3864864"/>
        </p:xfrm>
        <a:graphic>
          <a:graphicData uri="http://schemas.openxmlformats.org/drawingml/2006/table">
            <a:tbl>
              <a:tblPr/>
              <a:tblGrid>
                <a:gridCol w="4824536"/>
                <a:gridCol w="864096"/>
                <a:gridCol w="2232174"/>
              </a:tblGrid>
              <a:tr h="1828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68973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 개의 개체가 자기 자신과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관계를 맺음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356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두 개의 개체가 관계를 맺음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356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 개의 개체가 관계를 맺음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552" y="205418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차수에 따른 관계 타입의 유형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 flipV="1">
            <a:off x="4038228" y="3321590"/>
            <a:ext cx="0" cy="275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4038228" y="2833886"/>
            <a:ext cx="0" cy="2510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/>
          <p:cNvGrpSpPr/>
          <p:nvPr/>
        </p:nvGrpSpPr>
        <p:grpSpPr>
          <a:xfrm>
            <a:off x="1350690" y="2833886"/>
            <a:ext cx="3331418" cy="771062"/>
            <a:chOff x="614769" y="188640"/>
            <a:chExt cx="3331418" cy="771062"/>
          </a:xfrm>
        </p:grpSpPr>
        <p:cxnSp>
          <p:nvCxnSpPr>
            <p:cNvPr id="28" name="직선 연결선 27"/>
            <p:cNvCxnSpPr/>
            <p:nvPr/>
          </p:nvCxnSpPr>
          <p:spPr>
            <a:xfrm flipH="1">
              <a:off x="1115616" y="959702"/>
              <a:ext cx="21811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>
            <a:xfrm flipV="1">
              <a:off x="1115616" y="677838"/>
              <a:ext cx="0" cy="2758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>
            <a:xfrm flipH="1">
              <a:off x="1115616" y="188640"/>
              <a:ext cx="21811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1115616" y="188640"/>
              <a:ext cx="0" cy="251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/>
            <p:cNvSpPr>
              <a:spLocks noChangeAspect="1"/>
            </p:cNvSpPr>
            <p:nvPr/>
          </p:nvSpPr>
          <p:spPr>
            <a:xfrm>
              <a:off x="614769" y="310172"/>
              <a:ext cx="1004504" cy="432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개체</a:t>
              </a:r>
              <a:endParaRPr lang="ko-KR" altLang="en-US" sz="1200" dirty="0"/>
            </a:p>
          </p:txBody>
        </p:sp>
        <p:sp>
          <p:nvSpPr>
            <p:cNvPr id="26" name="순서도: 판단 25"/>
            <p:cNvSpPr>
              <a:spLocks noChangeAspect="1"/>
            </p:cNvSpPr>
            <p:nvPr/>
          </p:nvSpPr>
          <p:spPr>
            <a:xfrm>
              <a:off x="2650187" y="307787"/>
              <a:ext cx="1296000" cy="54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관계</a:t>
              </a:r>
              <a:endParaRPr lang="en-US" altLang="ko-KR" sz="1200" dirty="0" smtClean="0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1800375" y="4115172"/>
            <a:ext cx="2323761" cy="23571"/>
            <a:chOff x="589550" y="3284984"/>
            <a:chExt cx="2323761" cy="23571"/>
          </a:xfrm>
        </p:grpSpPr>
        <p:cxnSp>
          <p:nvCxnSpPr>
            <p:cNvPr id="39" name="직선 연결선 38"/>
            <p:cNvCxnSpPr/>
            <p:nvPr/>
          </p:nvCxnSpPr>
          <p:spPr>
            <a:xfrm flipH="1">
              <a:off x="2387245" y="3308555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 flipH="1">
              <a:off x="589550" y="3284984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직사각형 40"/>
          <p:cNvSpPr>
            <a:spLocks noChangeAspect="1"/>
          </p:cNvSpPr>
          <p:nvPr/>
        </p:nvSpPr>
        <p:spPr>
          <a:xfrm>
            <a:off x="4134035" y="3902907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개체</a:t>
            </a:r>
            <a:endParaRPr lang="ko-KR" altLang="en-US" sz="1200" dirty="0"/>
          </a:p>
        </p:txBody>
      </p:sp>
      <p:sp>
        <p:nvSpPr>
          <p:cNvPr id="42" name="순서도: 판단 41"/>
          <p:cNvSpPr>
            <a:spLocks noChangeAspect="1"/>
          </p:cNvSpPr>
          <p:nvPr/>
        </p:nvSpPr>
        <p:spPr>
          <a:xfrm>
            <a:off x="2304431" y="3861048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  <p:sp>
        <p:nvSpPr>
          <p:cNvPr id="43" name="직사각형 42"/>
          <p:cNvSpPr>
            <a:spLocks noChangeAspect="1"/>
          </p:cNvSpPr>
          <p:nvPr/>
        </p:nvSpPr>
        <p:spPr>
          <a:xfrm>
            <a:off x="792263" y="3889623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개체</a:t>
            </a:r>
            <a:endParaRPr lang="ko-KR" altLang="en-US" sz="1200" dirty="0"/>
          </a:p>
        </p:txBody>
      </p:sp>
      <p:grpSp>
        <p:nvGrpSpPr>
          <p:cNvPr id="44" name="그룹 43"/>
          <p:cNvGrpSpPr/>
          <p:nvPr/>
        </p:nvGrpSpPr>
        <p:grpSpPr>
          <a:xfrm>
            <a:off x="1797596" y="5015332"/>
            <a:ext cx="2323761" cy="23571"/>
            <a:chOff x="589550" y="3284984"/>
            <a:chExt cx="2323761" cy="23571"/>
          </a:xfrm>
        </p:grpSpPr>
        <p:cxnSp>
          <p:nvCxnSpPr>
            <p:cNvPr id="45" name="직선 연결선 44"/>
            <p:cNvCxnSpPr/>
            <p:nvPr/>
          </p:nvCxnSpPr>
          <p:spPr>
            <a:xfrm flipH="1">
              <a:off x="2387245" y="3308555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/>
            <p:cNvCxnSpPr/>
            <p:nvPr/>
          </p:nvCxnSpPr>
          <p:spPr>
            <a:xfrm flipH="1">
              <a:off x="589550" y="3284984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직사각형 46"/>
          <p:cNvSpPr>
            <a:spLocks noChangeAspect="1"/>
          </p:cNvSpPr>
          <p:nvPr/>
        </p:nvSpPr>
        <p:spPr>
          <a:xfrm>
            <a:off x="4131256" y="4803067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개체</a:t>
            </a:r>
            <a:endParaRPr lang="ko-KR" altLang="en-US" sz="1200" dirty="0"/>
          </a:p>
        </p:txBody>
      </p:sp>
      <p:sp>
        <p:nvSpPr>
          <p:cNvPr id="49" name="직사각형 48"/>
          <p:cNvSpPr>
            <a:spLocks noChangeAspect="1"/>
          </p:cNvSpPr>
          <p:nvPr/>
        </p:nvSpPr>
        <p:spPr>
          <a:xfrm>
            <a:off x="789484" y="4789783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개체</a:t>
            </a:r>
            <a:endParaRPr lang="ko-KR" altLang="en-US" sz="1200" dirty="0"/>
          </a:p>
        </p:txBody>
      </p:sp>
      <p:cxnSp>
        <p:nvCxnSpPr>
          <p:cNvPr id="53" name="직선 연결선 52"/>
          <p:cNvCxnSpPr/>
          <p:nvPr/>
        </p:nvCxnSpPr>
        <p:spPr>
          <a:xfrm rot="5400000">
            <a:off x="2734763" y="5411278"/>
            <a:ext cx="444544" cy="44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>
            <a:spLocks noChangeAspect="1"/>
          </p:cNvSpPr>
          <p:nvPr/>
        </p:nvSpPr>
        <p:spPr>
          <a:xfrm>
            <a:off x="2464718" y="5517232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개체</a:t>
            </a:r>
            <a:endParaRPr lang="ko-KR" altLang="en-US" sz="1200" dirty="0"/>
          </a:p>
        </p:txBody>
      </p:sp>
      <p:sp>
        <p:nvSpPr>
          <p:cNvPr id="48" name="순서도: 판단 47"/>
          <p:cNvSpPr>
            <a:spLocks noChangeAspect="1"/>
          </p:cNvSpPr>
          <p:nvPr/>
        </p:nvSpPr>
        <p:spPr>
          <a:xfrm>
            <a:off x="2301652" y="4761208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 smtClean="0"/>
              <a:t>	 1</a:t>
            </a:r>
            <a:r>
              <a:rPr lang="ko-KR" altLang="en-US" dirty="0" smtClean="0"/>
              <a:t>진 관계</a:t>
            </a:r>
            <a:r>
              <a:rPr lang="en-US" altLang="ko-KR" dirty="0" smtClean="0"/>
              <a:t>(recursive relationship) : </a:t>
            </a:r>
            <a:r>
              <a:rPr lang="ko-KR" altLang="en-US" b="0" dirty="0" smtClean="0"/>
              <a:t>한 개의 개체가 자기 자신과 관계를 맺는 경우</a:t>
            </a:r>
            <a:endParaRPr lang="en-US" altLang="ko-KR" b="0" dirty="0" smtClean="0"/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 2</a:t>
            </a:r>
            <a:r>
              <a:rPr lang="ko-KR" altLang="en-US" dirty="0" smtClean="0"/>
              <a:t>진 관계</a:t>
            </a:r>
            <a:r>
              <a:rPr lang="en-US" altLang="ko-KR" dirty="0" smtClean="0"/>
              <a:t>(binary relationship) : </a:t>
            </a:r>
            <a:r>
              <a:rPr lang="ko-KR" altLang="en-US" b="0" dirty="0" smtClean="0"/>
              <a:t>두 개의 개체가 관계를 맺는 경우</a:t>
            </a:r>
            <a:endParaRPr lang="en-US" altLang="ko-KR" b="0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 3</a:t>
            </a:r>
            <a:r>
              <a:rPr lang="ko-KR" altLang="en-US" dirty="0" smtClean="0"/>
              <a:t>진 관계</a:t>
            </a:r>
            <a:r>
              <a:rPr lang="en-US" altLang="ko-KR" dirty="0" smtClean="0"/>
              <a:t>(ternary relationship) :</a:t>
            </a:r>
            <a:r>
              <a:rPr lang="en-US" altLang="ko-KR" b="0" dirty="0" smtClean="0"/>
              <a:t> </a:t>
            </a:r>
            <a:r>
              <a:rPr lang="ko-KR" altLang="en-US" b="0" dirty="0" smtClean="0"/>
              <a:t>세 개의 개체가 관계를 맺는 경우</a:t>
            </a:r>
            <a:endParaRPr lang="en-US" altLang="ko-KR" b="0" dirty="0" smtClean="0"/>
          </a:p>
          <a:p>
            <a:pPr>
              <a:buNone/>
            </a:pPr>
            <a:endParaRPr lang="ko-KR" altLang="en-US" dirty="0"/>
          </a:p>
        </p:txBody>
      </p:sp>
      <p:cxnSp>
        <p:nvCxnSpPr>
          <p:cNvPr id="4" name="직선 연결선 3"/>
          <p:cNvCxnSpPr/>
          <p:nvPr/>
        </p:nvCxnSpPr>
        <p:spPr>
          <a:xfrm flipV="1">
            <a:off x="3712096" y="2155745"/>
            <a:ext cx="0" cy="275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3712096" y="1668041"/>
            <a:ext cx="0" cy="2510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/>
          <p:cNvGrpSpPr/>
          <p:nvPr/>
        </p:nvGrpSpPr>
        <p:grpSpPr>
          <a:xfrm>
            <a:off x="1017812" y="1668041"/>
            <a:ext cx="3331418" cy="771062"/>
            <a:chOff x="614769" y="188640"/>
            <a:chExt cx="3331418" cy="771062"/>
          </a:xfrm>
        </p:grpSpPr>
        <p:cxnSp>
          <p:nvCxnSpPr>
            <p:cNvPr id="7" name="직선 연결선 6"/>
            <p:cNvCxnSpPr/>
            <p:nvPr/>
          </p:nvCxnSpPr>
          <p:spPr>
            <a:xfrm flipH="1">
              <a:off x="1115616" y="959702"/>
              <a:ext cx="21811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flipV="1">
              <a:off x="1115616" y="677838"/>
              <a:ext cx="0" cy="2758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>
            <a:xfrm flipH="1">
              <a:off x="1115616" y="188640"/>
              <a:ext cx="21811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>
            <a:xfrm>
              <a:off x="1115616" y="188640"/>
              <a:ext cx="0" cy="251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/>
            <p:cNvSpPr>
              <a:spLocks noChangeAspect="1"/>
            </p:cNvSpPr>
            <p:nvPr/>
          </p:nvSpPr>
          <p:spPr>
            <a:xfrm>
              <a:off x="614769" y="310172"/>
              <a:ext cx="1004504" cy="432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학생</a:t>
              </a:r>
              <a:endParaRPr lang="ko-KR" altLang="en-US" sz="1200" dirty="0"/>
            </a:p>
          </p:txBody>
        </p:sp>
        <p:sp>
          <p:nvSpPr>
            <p:cNvPr id="12" name="순서도: 판단 11"/>
            <p:cNvSpPr>
              <a:spLocks noChangeAspect="1"/>
            </p:cNvSpPr>
            <p:nvPr/>
          </p:nvSpPr>
          <p:spPr>
            <a:xfrm>
              <a:off x="2650187" y="307787"/>
              <a:ext cx="1296000" cy="54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 smtClean="0"/>
                <a:t>멘토링</a:t>
              </a:r>
              <a:endParaRPr lang="en-US" altLang="ko-KR" sz="1200" dirty="0" smtClean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71600" y="253213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6-17 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1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진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025924" y="3758429"/>
            <a:ext cx="2323761" cy="23571"/>
            <a:chOff x="589550" y="3284984"/>
            <a:chExt cx="2323761" cy="23571"/>
          </a:xfrm>
        </p:grpSpPr>
        <p:cxnSp>
          <p:nvCxnSpPr>
            <p:cNvPr id="15" name="직선 연결선 14"/>
            <p:cNvCxnSpPr/>
            <p:nvPr/>
          </p:nvCxnSpPr>
          <p:spPr>
            <a:xfrm flipH="1">
              <a:off x="2387245" y="3308555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 flipH="1">
              <a:off x="589550" y="3284984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>
            <a:spLocks noChangeAspect="1"/>
          </p:cNvSpPr>
          <p:nvPr/>
        </p:nvSpPr>
        <p:spPr>
          <a:xfrm>
            <a:off x="4359584" y="3546164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학과</a:t>
            </a:r>
            <a:endParaRPr lang="ko-KR" altLang="en-US" sz="1200" dirty="0"/>
          </a:p>
        </p:txBody>
      </p:sp>
      <p:sp>
        <p:nvSpPr>
          <p:cNvPr id="18" name="순서도: 판단 17"/>
          <p:cNvSpPr>
            <a:spLocks noChangeAspect="1"/>
          </p:cNvSpPr>
          <p:nvPr/>
        </p:nvSpPr>
        <p:spPr>
          <a:xfrm>
            <a:off x="2529980" y="3504305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소속</a:t>
            </a:r>
            <a:endParaRPr lang="en-US" altLang="ko-KR" sz="1200" dirty="0" smtClean="0"/>
          </a:p>
        </p:txBody>
      </p:sp>
      <p:sp>
        <p:nvSpPr>
          <p:cNvPr id="19" name="직사각형 18"/>
          <p:cNvSpPr>
            <a:spLocks noChangeAspect="1"/>
          </p:cNvSpPr>
          <p:nvPr/>
        </p:nvSpPr>
        <p:spPr>
          <a:xfrm>
            <a:off x="1017812" y="353288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971600" y="42603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6-18 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2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진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2025924" y="5486669"/>
            <a:ext cx="2323761" cy="23571"/>
            <a:chOff x="589550" y="3284984"/>
            <a:chExt cx="2323761" cy="23571"/>
          </a:xfrm>
        </p:grpSpPr>
        <p:cxnSp>
          <p:nvCxnSpPr>
            <p:cNvPr id="22" name="직선 연결선 21"/>
            <p:cNvCxnSpPr/>
            <p:nvPr/>
          </p:nvCxnSpPr>
          <p:spPr>
            <a:xfrm flipH="1">
              <a:off x="2387245" y="3308555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 flipH="1">
              <a:off x="589550" y="3284984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직사각형 23"/>
          <p:cNvSpPr>
            <a:spLocks noChangeAspect="1"/>
          </p:cNvSpPr>
          <p:nvPr/>
        </p:nvSpPr>
        <p:spPr>
          <a:xfrm>
            <a:off x="4359584" y="5274404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프로젝트</a:t>
            </a:r>
            <a:endParaRPr lang="ko-KR" altLang="en-US" sz="1200" dirty="0"/>
          </a:p>
        </p:txBody>
      </p:sp>
      <p:sp>
        <p:nvSpPr>
          <p:cNvPr id="25" name="직사각형 24"/>
          <p:cNvSpPr>
            <a:spLocks noChangeAspect="1"/>
          </p:cNvSpPr>
          <p:nvPr/>
        </p:nvSpPr>
        <p:spPr>
          <a:xfrm>
            <a:off x="1017812" y="526112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직원</a:t>
            </a:r>
            <a:endParaRPr lang="ko-KR" altLang="en-US" sz="1200" dirty="0"/>
          </a:p>
        </p:txBody>
      </p:sp>
      <p:cxnSp>
        <p:nvCxnSpPr>
          <p:cNvPr id="26" name="직선 연결선 25"/>
          <p:cNvCxnSpPr/>
          <p:nvPr/>
        </p:nvCxnSpPr>
        <p:spPr>
          <a:xfrm rot="5400000">
            <a:off x="2963091" y="5882615"/>
            <a:ext cx="444544" cy="44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>
            <a:spLocks noChangeAspect="1"/>
          </p:cNvSpPr>
          <p:nvPr/>
        </p:nvSpPr>
        <p:spPr>
          <a:xfrm>
            <a:off x="2693046" y="5988569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부품</a:t>
            </a:r>
            <a:endParaRPr lang="ko-KR" altLang="en-US" sz="1200" dirty="0"/>
          </a:p>
        </p:txBody>
      </p:sp>
      <p:sp>
        <p:nvSpPr>
          <p:cNvPr id="28" name="순서도: 판단 27"/>
          <p:cNvSpPr>
            <a:spLocks noChangeAspect="1"/>
          </p:cNvSpPr>
          <p:nvPr/>
        </p:nvSpPr>
        <p:spPr>
          <a:xfrm>
            <a:off x="2529980" y="5232545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수행</a:t>
            </a:r>
            <a:endParaRPr lang="en-US" altLang="ko-KR" sz="1200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971600" y="642056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6-19 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3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진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4518" y="2987427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</a:t>
            </a:r>
            <a:r>
              <a:rPr lang="ko-KR" altLang="en-US" sz="2000" dirty="0" smtClean="0">
                <a:solidFill>
                  <a:schemeClr val="accent3">
                    <a:lumMod val="75000"/>
                  </a:schemeClr>
                </a:solidFill>
                <a:sym typeface="Wingdings 2"/>
              </a:rPr>
              <a:t> </a:t>
            </a:r>
            <a:endParaRPr lang="ko-KR" altLang="en-US" sz="2000" dirty="0" smtClean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4043" y="4821535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</a:t>
            </a:r>
            <a:endParaRPr lang="ko-KR" alt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4518" y="1168177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</a:t>
            </a:r>
            <a:endParaRPr lang="ko-KR" alt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관계 </a:t>
            </a:r>
            <a:r>
              <a:rPr lang="ko-KR" altLang="en-US" dirty="0" err="1" smtClean="0"/>
              <a:t>대응수</a:t>
            </a:r>
            <a:r>
              <a:rPr lang="en-US" altLang="ko-KR" dirty="0" smtClean="0"/>
              <a:t>(cardinality) :</a:t>
            </a:r>
            <a:r>
              <a:rPr lang="ko-KR" altLang="en-US" dirty="0" smtClean="0"/>
              <a:t> </a:t>
            </a:r>
            <a:r>
              <a:rPr lang="ko-KR" altLang="en-US" b="0" dirty="0" smtClean="0"/>
              <a:t>두 개체 타입의 관계에 실제로 참여하는 개별 개체 수</a:t>
            </a:r>
            <a:endParaRPr lang="ko-KR" altLang="en-US" b="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050742"/>
              </p:ext>
            </p:extLst>
          </p:nvPr>
        </p:nvGraphicFramePr>
        <p:xfrm>
          <a:off x="611560" y="2414218"/>
          <a:ext cx="7920806" cy="3214878"/>
        </p:xfrm>
        <a:graphic>
          <a:graphicData uri="http://schemas.openxmlformats.org/drawingml/2006/table">
            <a:tbl>
              <a:tblPr/>
              <a:tblGrid>
                <a:gridCol w="3672408"/>
                <a:gridCol w="1224136"/>
                <a:gridCol w="3024262"/>
              </a:tblGrid>
              <a:tr h="935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9651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일대일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하나의 개체가 하나의 개체에 대응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632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일대다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하나의 개체가 여러 개체에 대응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632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다대일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여러 개체가 하나의 개체에 대응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632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다대다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여러 개체가 여러 개체에 대응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552" y="205418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대응수에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따른 관계 타입의 유형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 rot="10800000">
            <a:off x="899593" y="3088010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순서도: 판단 30"/>
          <p:cNvSpPr>
            <a:spLocks noChangeAspect="1"/>
          </p:cNvSpPr>
          <p:nvPr/>
        </p:nvSpPr>
        <p:spPr>
          <a:xfrm>
            <a:off x="1800375" y="2819028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  <p:cxnSp>
        <p:nvCxnSpPr>
          <p:cNvPr id="33" name="직선 연결선 32"/>
          <p:cNvCxnSpPr/>
          <p:nvPr/>
        </p:nvCxnSpPr>
        <p:spPr>
          <a:xfrm rot="10800000">
            <a:off x="899593" y="3798565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순서도: 판단 33"/>
          <p:cNvSpPr>
            <a:spLocks noChangeAspect="1"/>
          </p:cNvSpPr>
          <p:nvPr/>
        </p:nvSpPr>
        <p:spPr>
          <a:xfrm>
            <a:off x="1800375" y="3529583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  <p:cxnSp>
        <p:nvCxnSpPr>
          <p:cNvPr id="35" name="직선 연결선 34"/>
          <p:cNvCxnSpPr/>
          <p:nvPr/>
        </p:nvCxnSpPr>
        <p:spPr>
          <a:xfrm rot="10800000">
            <a:off x="899593" y="4526134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순서도: 판단 35"/>
          <p:cNvSpPr>
            <a:spLocks noChangeAspect="1"/>
          </p:cNvSpPr>
          <p:nvPr/>
        </p:nvSpPr>
        <p:spPr>
          <a:xfrm>
            <a:off x="1800375" y="4257152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  <p:cxnSp>
        <p:nvCxnSpPr>
          <p:cNvPr id="37" name="직선 연결선 36"/>
          <p:cNvCxnSpPr/>
          <p:nvPr/>
        </p:nvCxnSpPr>
        <p:spPr>
          <a:xfrm rot="10800000">
            <a:off x="899593" y="5246214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순서도: 판단 37"/>
          <p:cNvSpPr>
            <a:spLocks noChangeAspect="1"/>
          </p:cNvSpPr>
          <p:nvPr/>
        </p:nvSpPr>
        <p:spPr>
          <a:xfrm>
            <a:off x="1800375" y="4977232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  <p:sp>
        <p:nvSpPr>
          <p:cNvPr id="39" name="TextBox 38"/>
          <p:cNvSpPr txBox="1"/>
          <p:nvPr/>
        </p:nvSpPr>
        <p:spPr>
          <a:xfrm>
            <a:off x="899592" y="2780928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99592" y="3501008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779912" y="2780928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779912" y="4221088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79912" y="3501008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9592" y="4221088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79912" y="4941168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99592" y="4941168"/>
            <a:ext cx="325730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M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"/>
            </a:pPr>
            <a:r>
              <a:rPr lang="ko-KR" altLang="en-US" dirty="0" smtClean="0"/>
              <a:t>일대일</a:t>
            </a:r>
            <a:r>
              <a:rPr lang="en-US" altLang="ko-KR" dirty="0" smtClean="0"/>
              <a:t>(1:1)</a:t>
            </a:r>
            <a:r>
              <a:rPr lang="ko-KR" altLang="en-US" dirty="0" smtClean="0"/>
              <a:t>관계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좌측 개체 타입에 포함된 개체가 우측 개체 타입에 포함된 개체와 일대일로 대응하는 관계</a:t>
            </a:r>
            <a:endParaRPr lang="en-US" altLang="ko-KR" sz="1400" b="0" dirty="0" smtClean="0"/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ko-KR" altLang="en-US" dirty="0"/>
          </a:p>
        </p:txBody>
      </p:sp>
      <p:grpSp>
        <p:nvGrpSpPr>
          <p:cNvPr id="33" name="그룹 32"/>
          <p:cNvGrpSpPr/>
          <p:nvPr/>
        </p:nvGrpSpPr>
        <p:grpSpPr>
          <a:xfrm>
            <a:off x="1112077" y="2348880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34" name="타원 33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순서도: 연결자 34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순서도: 연결자 35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순서도: 연결자 36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순서도: 연결자 37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순서도: 연결자 38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순서도: 연결자 39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순서도: 연결자 40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5255241" y="2348880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43" name="타원 42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순서도: 연결자 43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순서도: 연결자 44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순서도: 연결자 45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순서도: 연결자 46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순서도: 연결자 47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순서도: 연결자 48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순서도: 연결자 49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1" name="직선 연결선 50"/>
          <p:cNvCxnSpPr/>
          <p:nvPr/>
        </p:nvCxnSpPr>
        <p:spPr>
          <a:xfrm rot="16200000" flipH="1">
            <a:off x="3356266" y="735359"/>
            <a:ext cx="254059" cy="4028981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rot="5400000" flipH="1" flipV="1">
            <a:off x="3092015" y="999611"/>
            <a:ext cx="796118" cy="4042538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rot="16200000" flipH="1">
            <a:off x="3356266" y="1023359"/>
            <a:ext cx="254059" cy="4028981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1482362" y="2732880"/>
            <a:ext cx="4015424" cy="28800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V="1">
            <a:off x="1482362" y="2766821"/>
            <a:ext cx="4028981" cy="254059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1482362" y="3164880"/>
            <a:ext cx="4028981" cy="254059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1482362" y="3308880"/>
            <a:ext cx="4015424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189856" y="3860888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사원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256076" y="3860888"/>
            <a:ext cx="646331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컴퓨터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 rot="10800000">
            <a:off x="1907705" y="4741998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순서도: 판단 60"/>
          <p:cNvSpPr>
            <a:spLocks noChangeAspect="1"/>
          </p:cNvSpPr>
          <p:nvPr/>
        </p:nvSpPr>
        <p:spPr>
          <a:xfrm>
            <a:off x="2808487" y="4473016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사용</a:t>
            </a:r>
            <a:endParaRPr lang="en-US" altLang="ko-KR" sz="1200" dirty="0" smtClean="0"/>
          </a:p>
        </p:txBody>
      </p:sp>
      <p:sp>
        <p:nvSpPr>
          <p:cNvPr id="62" name="TextBox 61"/>
          <p:cNvSpPr txBox="1"/>
          <p:nvPr/>
        </p:nvSpPr>
        <p:spPr>
          <a:xfrm>
            <a:off x="1907704" y="4434916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88024" y="4434916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직사각형 63"/>
          <p:cNvSpPr>
            <a:spLocks noChangeAspect="1"/>
          </p:cNvSpPr>
          <p:nvPr/>
        </p:nvSpPr>
        <p:spPr>
          <a:xfrm>
            <a:off x="893675" y="452801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사원</a:t>
            </a:r>
            <a:endParaRPr lang="ko-KR" altLang="en-US" sz="1200" dirty="0"/>
          </a:p>
        </p:txBody>
      </p:sp>
      <p:sp>
        <p:nvSpPr>
          <p:cNvPr id="65" name="직사각형 64"/>
          <p:cNvSpPr>
            <a:spLocks noChangeAspect="1"/>
          </p:cNvSpPr>
          <p:nvPr/>
        </p:nvSpPr>
        <p:spPr>
          <a:xfrm>
            <a:off x="5076056" y="450896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컴퓨터</a:t>
            </a:r>
            <a:endParaRPr lang="ko-KR" alt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827584" y="508502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6-20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일대일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"/>
            </a:pPr>
            <a:r>
              <a:rPr lang="ko-KR" altLang="en-US" dirty="0" smtClean="0"/>
              <a:t>일대다</a:t>
            </a:r>
            <a:r>
              <a:rPr lang="en-US" altLang="ko-KR" dirty="0" smtClean="0"/>
              <a:t>(1:N), </a:t>
            </a:r>
            <a:r>
              <a:rPr lang="ko-KR" altLang="en-US" dirty="0" err="1" smtClean="0"/>
              <a:t>다대일</a:t>
            </a:r>
            <a:r>
              <a:rPr lang="en-US" altLang="ko-KR" dirty="0" smtClean="0"/>
              <a:t>(N:1) </a:t>
            </a:r>
            <a:r>
              <a:rPr lang="ko-KR" altLang="en-US" dirty="0" smtClean="0"/>
              <a:t>관계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실제 일상생활에서 가장 많이 볼 수 있는 관계로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한쪽 개체 타입의 개체 하나가 다른 쪽 개체 타입의 여러 개체와 관계를 맺음</a:t>
            </a:r>
            <a:endParaRPr lang="en-US" altLang="ko-KR" sz="1400" b="0" dirty="0" smtClean="0"/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ko-KR" altLang="en-US" dirty="0"/>
          </a:p>
        </p:txBody>
      </p:sp>
      <p:grpSp>
        <p:nvGrpSpPr>
          <p:cNvPr id="4" name="그룹 32"/>
          <p:cNvGrpSpPr/>
          <p:nvPr/>
        </p:nvGrpSpPr>
        <p:grpSpPr>
          <a:xfrm>
            <a:off x="1112077" y="2565064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34" name="타원 33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순서도: 연결자 34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순서도: 연결자 35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순서도: 연결자 36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순서도: 연결자 37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순서도: 연결자 38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순서도: 연결자 39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순서도: 연결자 40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1"/>
          <p:cNvGrpSpPr/>
          <p:nvPr/>
        </p:nvGrpSpPr>
        <p:grpSpPr>
          <a:xfrm>
            <a:off x="5255241" y="2565064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43" name="타원 42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순서도: 연결자 43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순서도: 연결자 44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순서도: 연결자 45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순서도: 연결자 46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순서도: 연결자 47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순서도: 연결자 48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순서도: 연결자 49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1189856" y="4077072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학과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41801" y="4077072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학생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 rot="10800000">
            <a:off x="1907705" y="4958182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순서도: 판단 60"/>
          <p:cNvSpPr>
            <a:spLocks noChangeAspect="1"/>
          </p:cNvSpPr>
          <p:nvPr/>
        </p:nvSpPr>
        <p:spPr>
          <a:xfrm>
            <a:off x="2808487" y="4689200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소속</a:t>
            </a:r>
            <a:endParaRPr lang="en-US" altLang="ko-KR" sz="1200" dirty="0" smtClean="0"/>
          </a:p>
        </p:txBody>
      </p:sp>
      <p:sp>
        <p:nvSpPr>
          <p:cNvPr id="62" name="TextBox 61"/>
          <p:cNvSpPr txBox="1"/>
          <p:nvPr/>
        </p:nvSpPr>
        <p:spPr>
          <a:xfrm>
            <a:off x="1907704" y="4651100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88024" y="4651100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직사각형 63"/>
          <p:cNvSpPr>
            <a:spLocks noChangeAspect="1"/>
          </p:cNvSpPr>
          <p:nvPr/>
        </p:nvSpPr>
        <p:spPr>
          <a:xfrm>
            <a:off x="893675" y="4744194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학과</a:t>
            </a:r>
            <a:endParaRPr lang="ko-KR" altLang="en-US" sz="1200" dirty="0"/>
          </a:p>
        </p:txBody>
      </p:sp>
      <p:sp>
        <p:nvSpPr>
          <p:cNvPr id="65" name="직사각형 64"/>
          <p:cNvSpPr>
            <a:spLocks noChangeAspect="1"/>
          </p:cNvSpPr>
          <p:nvPr/>
        </p:nvSpPr>
        <p:spPr>
          <a:xfrm>
            <a:off x="5076056" y="4725144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827584" y="530120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일대다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(1:N),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다대일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(N:1)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67" name="직선 연결선 66"/>
          <p:cNvCxnSpPr>
            <a:endCxn id="44" idx="3"/>
          </p:cNvCxnSpPr>
          <p:nvPr/>
        </p:nvCxnSpPr>
        <p:spPr>
          <a:xfrm flipV="1">
            <a:off x="1436078" y="2839005"/>
            <a:ext cx="4110434" cy="85924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rot="16200000" flipH="1">
            <a:off x="3437428" y="779577"/>
            <a:ext cx="144000" cy="4146703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>
            <a:endCxn id="50" idx="2"/>
          </p:cNvCxnSpPr>
          <p:nvPr/>
        </p:nvCxnSpPr>
        <p:spPr>
          <a:xfrm>
            <a:off x="1475656" y="2794987"/>
            <a:ext cx="4057299" cy="874077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V="1">
            <a:off x="1482362" y="3116928"/>
            <a:ext cx="4054132" cy="28800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rot="5400000" flipH="1" flipV="1">
            <a:off x="3447620" y="1282114"/>
            <a:ext cx="110059" cy="4067689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 rot="16200000" flipH="1">
            <a:off x="3509428" y="1398246"/>
            <a:ext cx="0" cy="4081246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1482362" y="3404928"/>
            <a:ext cx="4054132" cy="14400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"/>
            </a:pPr>
            <a:r>
              <a:rPr lang="ko-KR" altLang="en-US" dirty="0" err="1" smtClean="0"/>
              <a:t>다대다</a:t>
            </a:r>
            <a:r>
              <a:rPr lang="en-US" altLang="ko-KR" dirty="0" smtClean="0"/>
              <a:t>(M:N) </a:t>
            </a:r>
            <a:r>
              <a:rPr lang="ko-KR" altLang="en-US" dirty="0" smtClean="0"/>
              <a:t>관계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각 개체 타입의 개체들이 서로 임의의 개수의 개체들과 서로 복합적인 관계를 맺고 있는 관계</a:t>
            </a:r>
            <a:endParaRPr lang="en-US" altLang="ko-KR" sz="1400" b="0" dirty="0" smtClean="0"/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ko-KR" altLang="en-US" dirty="0"/>
          </a:p>
        </p:txBody>
      </p:sp>
      <p:grpSp>
        <p:nvGrpSpPr>
          <p:cNvPr id="97" name="그룹 32"/>
          <p:cNvGrpSpPr/>
          <p:nvPr/>
        </p:nvGrpSpPr>
        <p:grpSpPr>
          <a:xfrm>
            <a:off x="1112077" y="2348880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98" name="타원 97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순서도: 연결자 98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순서도: 연결자 99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순서도: 연결자 100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순서도: 연결자 101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순서도: 연결자 102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순서도: 연결자 103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순서도: 연결자 104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6" name="그룹 41"/>
          <p:cNvGrpSpPr/>
          <p:nvPr/>
        </p:nvGrpSpPr>
        <p:grpSpPr>
          <a:xfrm>
            <a:off x="5220072" y="2348880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107" name="타원 106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순서도: 연결자 107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순서도: 연결자 108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순서도: 연결자 109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순서도: 연결자 110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순서도: 연결자 111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순서도: 연결자 112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순서도: 연결자 113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189856" y="3860888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학생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03701" y="3860888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강좌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 rot="10800000">
            <a:off x="1907705" y="4741998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순서도: 판단 60"/>
          <p:cNvSpPr>
            <a:spLocks noChangeAspect="1"/>
          </p:cNvSpPr>
          <p:nvPr/>
        </p:nvSpPr>
        <p:spPr>
          <a:xfrm>
            <a:off x="2808487" y="4473016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수강</a:t>
            </a:r>
            <a:endParaRPr lang="en-US" altLang="ko-KR" sz="1200" dirty="0" smtClean="0"/>
          </a:p>
        </p:txBody>
      </p:sp>
      <p:sp>
        <p:nvSpPr>
          <p:cNvPr id="62" name="TextBox 61"/>
          <p:cNvSpPr txBox="1"/>
          <p:nvPr/>
        </p:nvSpPr>
        <p:spPr>
          <a:xfrm>
            <a:off x="1907704" y="4434916"/>
            <a:ext cx="325730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M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88024" y="4434916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직사각형 63"/>
          <p:cNvSpPr>
            <a:spLocks noChangeAspect="1"/>
          </p:cNvSpPr>
          <p:nvPr/>
        </p:nvSpPr>
        <p:spPr>
          <a:xfrm>
            <a:off x="893675" y="452801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65" name="직사각형 64"/>
          <p:cNvSpPr>
            <a:spLocks noChangeAspect="1"/>
          </p:cNvSpPr>
          <p:nvPr/>
        </p:nvSpPr>
        <p:spPr>
          <a:xfrm>
            <a:off x="5076056" y="450896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강좌</a:t>
            </a:r>
            <a:endParaRPr lang="ko-KR" alt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827584" y="508502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6-22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다대다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(M:N)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86" name="직선 연결선 85"/>
          <p:cNvCxnSpPr/>
          <p:nvPr/>
        </p:nvCxnSpPr>
        <p:spPr>
          <a:xfrm>
            <a:off x="1482362" y="2588880"/>
            <a:ext cx="401549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1482362" y="2588880"/>
            <a:ext cx="4015496" cy="2880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>
            <a:off x="1482362" y="2588880"/>
            <a:ext cx="4029053" cy="54205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 rot="10800000" flipV="1">
            <a:off x="1468806" y="2588879"/>
            <a:ext cx="4029053" cy="39805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 rot="10800000" flipV="1">
            <a:off x="1468806" y="2732879"/>
            <a:ext cx="4029053" cy="465941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 rot="10800000">
            <a:off x="1468806" y="2910822"/>
            <a:ext cx="4029053" cy="54205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flipV="1">
            <a:off x="1482362" y="2732880"/>
            <a:ext cx="4015496" cy="7200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>
            <a:off x="1482362" y="3452880"/>
            <a:ext cx="401549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1482362" y="2732880"/>
            <a:ext cx="4015496" cy="5760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 flipV="1">
            <a:off x="1482362" y="3054821"/>
            <a:ext cx="4029053" cy="25405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관계 대응수의 최솟값과 최댓값</a:t>
            </a:r>
            <a:endParaRPr lang="en-US" altLang="ko-KR" dirty="0" smtClean="0"/>
          </a:p>
          <a:p>
            <a:pPr lvl="1" algn="just"/>
            <a:r>
              <a:rPr lang="ko-KR" altLang="en-US" sz="1400" b="0" dirty="0" smtClean="0"/>
              <a:t>관계 </a:t>
            </a:r>
            <a:r>
              <a:rPr lang="ko-KR" altLang="en-US" sz="1400" b="0" dirty="0" err="1" smtClean="0"/>
              <a:t>대응수</a:t>
            </a:r>
            <a:r>
              <a:rPr lang="ko-KR" altLang="en-US" sz="1400" b="0" dirty="0" smtClean="0"/>
              <a:t> </a:t>
            </a:r>
            <a:r>
              <a:rPr lang="en-US" altLang="ko-KR" sz="1400" b="0" dirty="0" smtClean="0"/>
              <a:t>1:1, 1:N, M:N</a:t>
            </a:r>
            <a:r>
              <a:rPr lang="ko-KR" altLang="en-US" sz="1400" b="0" dirty="0" smtClean="0"/>
              <a:t>에서 </a:t>
            </a:r>
            <a:r>
              <a:rPr lang="en-US" altLang="ko-KR" sz="1400" b="0" dirty="0" smtClean="0"/>
              <a:t>1, N, M</a:t>
            </a:r>
            <a:r>
              <a:rPr lang="ko-KR" altLang="en-US" sz="1400" b="0" dirty="0" smtClean="0"/>
              <a:t>은 각 개체가 관계에 참여하는 최댓값을 의미</a:t>
            </a:r>
            <a:endParaRPr lang="en-US" altLang="ko-KR" sz="1400" b="0" dirty="0" smtClean="0"/>
          </a:p>
          <a:p>
            <a:pPr lvl="1" algn="just"/>
            <a:r>
              <a:rPr lang="ko-KR" altLang="en-US" sz="1400" b="0" dirty="0" smtClean="0"/>
              <a:t>관계에 참여하는 개체의 최솟값을 표시하지 않는다는 단점을 보완하기 위해</a:t>
            </a:r>
            <a:r>
              <a:rPr lang="en-US" altLang="ko-KR" sz="1400" b="0" dirty="0" smtClean="0"/>
              <a:t> </a:t>
            </a:r>
            <a:r>
              <a:rPr lang="ko-KR" altLang="en-US" sz="1400" b="0" dirty="0" smtClean="0"/>
              <a:t>다이어그램에서는 </a:t>
            </a:r>
            <a:r>
              <a:rPr lang="ko-KR" altLang="en-US" sz="1400" b="0" dirty="0" err="1" smtClean="0"/>
              <a:t>대응수</a:t>
            </a:r>
            <a:r>
              <a:rPr lang="ko-KR" altLang="en-US" sz="1400" b="0" dirty="0" smtClean="0"/>
              <a:t> 외에 최솟값과 최댓값을 관계실선 위에 </a:t>
            </a:r>
            <a:r>
              <a:rPr lang="en-US" altLang="ko-KR" sz="1400" b="0" dirty="0" smtClean="0"/>
              <a:t>(</a:t>
            </a:r>
            <a:r>
              <a:rPr lang="ko-KR" altLang="en-US" sz="1400" b="0" dirty="0" smtClean="0"/>
              <a:t>최솟값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최댓값</a:t>
            </a:r>
            <a:r>
              <a:rPr lang="en-US" altLang="ko-KR" sz="1400" b="0" dirty="0" smtClean="0"/>
              <a:t>)</a:t>
            </a:r>
            <a:r>
              <a:rPr lang="ko-KR" altLang="en-US" sz="1400" b="0" dirty="0" smtClean="0"/>
              <a:t>으로 표기</a:t>
            </a:r>
            <a:endParaRPr lang="ko-KR" altLang="en-US" sz="1400" b="0" dirty="0"/>
          </a:p>
        </p:txBody>
      </p:sp>
      <p:sp>
        <p:nvSpPr>
          <p:cNvPr id="11" name="TextBox 10"/>
          <p:cNvSpPr txBox="1"/>
          <p:nvPr/>
        </p:nvSpPr>
        <p:spPr>
          <a:xfrm>
            <a:off x="4039369" y="2814836"/>
            <a:ext cx="108555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(min2, max2)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330895"/>
              </p:ext>
            </p:extLst>
          </p:nvPr>
        </p:nvGraphicFramePr>
        <p:xfrm>
          <a:off x="823466" y="3933057"/>
          <a:ext cx="7276925" cy="1121664"/>
        </p:xfrm>
        <a:graphic>
          <a:graphicData uri="http://schemas.openxmlformats.org/drawingml/2006/table">
            <a:tbl>
              <a:tblPr/>
              <a:tblGrid>
                <a:gridCol w="2268160"/>
                <a:gridCol w="2538689"/>
                <a:gridCol w="2470076"/>
              </a:tblGrid>
              <a:tr h="3076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관계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(min1,max1)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(min2,max2)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5642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1:1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(0, 1)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(0, 1)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804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1:N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(0, *)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(0, 1)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804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M:N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(0, *)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(0, *)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3466" y="364502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대응수에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따른 관계 타입의 유형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 rot="10800000">
            <a:off x="1907705" y="2799978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순서도: 판단 30"/>
          <p:cNvSpPr>
            <a:spLocks noChangeAspect="1"/>
          </p:cNvSpPr>
          <p:nvPr/>
        </p:nvSpPr>
        <p:spPr>
          <a:xfrm>
            <a:off x="2808487" y="2530996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수강</a:t>
            </a:r>
            <a:endParaRPr lang="en-US" altLang="ko-KR" sz="1200" dirty="0" smtClean="0"/>
          </a:p>
        </p:txBody>
      </p:sp>
      <p:sp>
        <p:nvSpPr>
          <p:cNvPr id="34" name="직사각형 33"/>
          <p:cNvSpPr>
            <a:spLocks noChangeAspect="1"/>
          </p:cNvSpPr>
          <p:nvPr/>
        </p:nvSpPr>
        <p:spPr>
          <a:xfrm>
            <a:off x="893675" y="258599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35" name="직사각형 34"/>
          <p:cNvSpPr>
            <a:spLocks noChangeAspect="1"/>
          </p:cNvSpPr>
          <p:nvPr/>
        </p:nvSpPr>
        <p:spPr>
          <a:xfrm>
            <a:off x="5076056" y="256694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강좌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1864271" y="2819028"/>
            <a:ext cx="108555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(min1, max1)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7584" y="321297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대응수의 최솟값과 최댓값의 표기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15892" y="5708035"/>
            <a:ext cx="53572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(1, 1)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rot="10800000">
            <a:off x="1907705" y="5680298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순서도: 판단 39"/>
          <p:cNvSpPr>
            <a:spLocks noChangeAspect="1"/>
          </p:cNvSpPr>
          <p:nvPr/>
        </p:nvSpPr>
        <p:spPr>
          <a:xfrm>
            <a:off x="2808487" y="5411316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소속</a:t>
            </a:r>
            <a:endParaRPr lang="en-US" altLang="ko-KR" sz="1200" dirty="0" smtClean="0"/>
          </a:p>
        </p:txBody>
      </p:sp>
      <p:sp>
        <p:nvSpPr>
          <p:cNvPr id="41" name="직사각형 40"/>
          <p:cNvSpPr>
            <a:spLocks noChangeAspect="1"/>
          </p:cNvSpPr>
          <p:nvPr/>
        </p:nvSpPr>
        <p:spPr>
          <a:xfrm>
            <a:off x="893675" y="546631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학과</a:t>
            </a:r>
            <a:endParaRPr lang="ko-KR" altLang="en-US" sz="1200" dirty="0"/>
          </a:p>
        </p:txBody>
      </p:sp>
      <p:sp>
        <p:nvSpPr>
          <p:cNvPr id="42" name="직사각형 41"/>
          <p:cNvSpPr>
            <a:spLocks noChangeAspect="1"/>
          </p:cNvSpPr>
          <p:nvPr/>
        </p:nvSpPr>
        <p:spPr>
          <a:xfrm>
            <a:off x="5076056" y="544726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1915787" y="5699348"/>
            <a:ext cx="516488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(0, *)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7584" y="609329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6-24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최솟값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최댓값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표기의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903914" y="5411316"/>
            <a:ext cx="26962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768974" y="5411316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ISA </a:t>
            </a:r>
            <a:r>
              <a:rPr lang="ko-KR" altLang="en-US" dirty="0" smtClean="0"/>
              <a:t>관계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상위 개체 타입의 특성에 따라 하위 개체 타입이 결정되는 형태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3568" y="170080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6-8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ISA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634722"/>
            <a:ext cx="3396063" cy="102099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603" y="2924944"/>
            <a:ext cx="4943741" cy="34664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552" y="594928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6-25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ISA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3.4 </a:t>
            </a:r>
            <a:r>
              <a:rPr lang="ko-KR" altLang="en-US" dirty="0" smtClean="0"/>
              <a:t>참여 제약 조건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 sz="1400" dirty="0" smtClean="0"/>
              <a:t>개체 집합 내 모든 개체가 관계에 참여하는지 유무에 따라 전체 참여와 부분 참여로 구분 가능</a:t>
            </a:r>
            <a:endParaRPr lang="en-US" altLang="ko-KR" sz="1400" dirty="0" smtClean="0"/>
          </a:p>
          <a:p>
            <a:pPr algn="just"/>
            <a:r>
              <a:rPr lang="ko-KR" altLang="en-US" sz="1400" dirty="0" smtClean="0"/>
              <a:t>전체 참여는 개체 집합의 모든 개체가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부분 참여는 일부만 참여</a:t>
            </a:r>
            <a:endParaRPr lang="en-US" altLang="ko-KR" sz="1400" dirty="0" smtClean="0"/>
          </a:p>
          <a:p>
            <a:pPr algn="just"/>
            <a:r>
              <a:rPr lang="ko-KR" altLang="en-US" sz="1400" dirty="0" smtClean="0"/>
              <a:t>전체 참여를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최솟값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최댓값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으로 표현할 경우 최솟값이 </a:t>
            </a:r>
            <a:r>
              <a:rPr lang="en-US" altLang="ko-KR" sz="1400" dirty="0" smtClean="0"/>
              <a:t>1 </a:t>
            </a:r>
            <a:r>
              <a:rPr lang="ko-KR" altLang="en-US" sz="1400" dirty="0" smtClean="0"/>
              <a:t>이상으로 모두 참여한다는 뜻이고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부분 참여는 최솟값이 </a:t>
            </a:r>
            <a:r>
              <a:rPr lang="en-US" altLang="ko-KR" sz="1400" dirty="0" smtClean="0"/>
              <a:t>0 </a:t>
            </a:r>
            <a:r>
              <a:rPr lang="ko-KR" altLang="en-US" sz="1400" dirty="0" smtClean="0"/>
              <a:t>이상임</a:t>
            </a:r>
            <a:endParaRPr lang="ko-KR" altLang="en-US" sz="14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363842"/>
              </p:ext>
            </p:extLst>
          </p:nvPr>
        </p:nvGraphicFramePr>
        <p:xfrm>
          <a:off x="971600" y="3107940"/>
          <a:ext cx="619268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48"/>
                <a:gridCol w="2160240"/>
              </a:tblGrid>
              <a:tr h="1244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24499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전체 참여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0498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부분 참여</a:t>
                      </a:r>
                      <a:endParaRPr lang="en-US" altLang="ko-KR" sz="1200" kern="0" spc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71600" y="2791333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6-9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참여 제약 조건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 rot="10800000">
            <a:off x="1389931" y="3690870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rot="10800000">
            <a:off x="1418506" y="3748020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>
            <a:spLocks noChangeAspect="1"/>
          </p:cNvSpPr>
          <p:nvPr/>
        </p:nvSpPr>
        <p:spPr>
          <a:xfrm>
            <a:off x="3572544" y="3476882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8" name="순서도: 판단 7"/>
          <p:cNvSpPr>
            <a:spLocks noChangeAspect="1"/>
          </p:cNvSpPr>
          <p:nvPr/>
        </p:nvSpPr>
        <p:spPr>
          <a:xfrm>
            <a:off x="1304975" y="3440938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200" dirty="0" smtClean="0"/>
          </a:p>
        </p:txBody>
      </p:sp>
      <p:cxnSp>
        <p:nvCxnSpPr>
          <p:cNvPr id="27" name="직선 연결선 26"/>
          <p:cNvCxnSpPr/>
          <p:nvPr/>
        </p:nvCxnSpPr>
        <p:spPr>
          <a:xfrm rot="10800000">
            <a:off x="1423839" y="4348467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>
            <a:spLocks noChangeAspect="1"/>
          </p:cNvSpPr>
          <p:nvPr/>
        </p:nvSpPr>
        <p:spPr>
          <a:xfrm>
            <a:off x="3599209" y="4113393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4" name="순서도: 판단 13"/>
          <p:cNvSpPr>
            <a:spLocks noChangeAspect="1"/>
          </p:cNvSpPr>
          <p:nvPr/>
        </p:nvSpPr>
        <p:spPr>
          <a:xfrm>
            <a:off x="1331640" y="4077449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200" dirty="0" smtClean="0"/>
          </a:p>
        </p:txBody>
      </p:sp>
      <p:cxnSp>
        <p:nvCxnSpPr>
          <p:cNvPr id="28" name="직선 연결선 27"/>
          <p:cNvCxnSpPr/>
          <p:nvPr/>
        </p:nvCxnSpPr>
        <p:spPr>
          <a:xfrm rot="10800000">
            <a:off x="1001317" y="5328004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>
            <a:spLocks noChangeAspect="1"/>
          </p:cNvSpPr>
          <p:nvPr/>
        </p:nvSpPr>
        <p:spPr>
          <a:xfrm>
            <a:off x="975209" y="5123541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cxnSp>
        <p:nvCxnSpPr>
          <p:cNvPr id="29" name="직선 연결선 28"/>
          <p:cNvCxnSpPr/>
          <p:nvPr/>
        </p:nvCxnSpPr>
        <p:spPr>
          <a:xfrm rot="10800000">
            <a:off x="2997350" y="5356579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rot="10800000">
            <a:off x="2993159" y="5294095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>
            <a:spLocks noChangeAspect="1"/>
          </p:cNvSpPr>
          <p:nvPr/>
        </p:nvSpPr>
        <p:spPr>
          <a:xfrm>
            <a:off x="5157590" y="5104491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강좌</a:t>
            </a:r>
            <a:endParaRPr lang="ko-KR" altLang="en-US" sz="1200" dirty="0"/>
          </a:p>
        </p:txBody>
      </p:sp>
      <p:sp>
        <p:nvSpPr>
          <p:cNvPr id="17" name="순서도: 판단 16"/>
          <p:cNvSpPr>
            <a:spLocks noChangeAspect="1"/>
          </p:cNvSpPr>
          <p:nvPr/>
        </p:nvSpPr>
        <p:spPr>
          <a:xfrm>
            <a:off x="2890021" y="5068547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수강</a:t>
            </a:r>
            <a:endParaRPr lang="en-US" altLang="ko-KR" sz="1200" dirty="0" smtClean="0"/>
          </a:p>
        </p:txBody>
      </p:sp>
      <p:sp>
        <p:nvSpPr>
          <p:cNvPr id="32" name="TextBox 31"/>
          <p:cNvSpPr txBox="1"/>
          <p:nvPr/>
        </p:nvSpPr>
        <p:spPr>
          <a:xfrm>
            <a:off x="909118" y="5644611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부분 참여와 전체 참여의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3.5 </a:t>
            </a:r>
            <a:r>
              <a:rPr lang="ko-KR" altLang="en-US" dirty="0" smtClean="0"/>
              <a:t>역할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개체 타입 간의 관계를 표현할 때 각 개체들은 고유한 역할</a:t>
            </a:r>
            <a:r>
              <a:rPr lang="en-US" altLang="ko-KR" dirty="0" smtClean="0"/>
              <a:t>(role)</a:t>
            </a:r>
            <a:r>
              <a:rPr lang="ko-KR" altLang="en-US" dirty="0" smtClean="0"/>
              <a:t>을 담당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53668" y="2094756"/>
            <a:ext cx="954107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지도받는다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rot="10800000">
            <a:off x="2055329" y="2079898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순서도: 판단 5"/>
          <p:cNvSpPr>
            <a:spLocks noChangeAspect="1"/>
          </p:cNvSpPr>
          <p:nvPr/>
        </p:nvSpPr>
        <p:spPr>
          <a:xfrm>
            <a:off x="2956111" y="1810916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지도</a:t>
            </a:r>
            <a:endParaRPr lang="en-US" altLang="ko-KR" sz="1200" dirty="0" smtClean="0"/>
          </a:p>
        </p:txBody>
      </p:sp>
      <p:sp>
        <p:nvSpPr>
          <p:cNvPr id="7" name="직사각형 6"/>
          <p:cNvSpPr>
            <a:spLocks noChangeAspect="1"/>
          </p:cNvSpPr>
          <p:nvPr/>
        </p:nvSpPr>
        <p:spPr>
          <a:xfrm>
            <a:off x="1041299" y="186591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교수</a:t>
            </a:r>
            <a:endParaRPr lang="ko-KR" altLang="en-US" sz="1200" dirty="0"/>
          </a:p>
        </p:txBody>
      </p:sp>
      <p:sp>
        <p:nvSpPr>
          <p:cNvPr id="8" name="직사각형 7"/>
          <p:cNvSpPr>
            <a:spLocks noChangeAspect="1"/>
          </p:cNvSpPr>
          <p:nvPr/>
        </p:nvSpPr>
        <p:spPr>
          <a:xfrm>
            <a:off x="5223680" y="184686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2097620" y="2098948"/>
            <a:ext cx="800219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지도한다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5208" y="249289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역할의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1538" y="1810916"/>
            <a:ext cx="26962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16598" y="1810916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3.6 </a:t>
            </a:r>
            <a:r>
              <a:rPr lang="ko-KR" altLang="en-US" dirty="0" smtClean="0"/>
              <a:t>순환적 관계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순환적 관계</a:t>
            </a:r>
            <a:r>
              <a:rPr lang="en-US" altLang="ko-KR" dirty="0" smtClean="0"/>
              <a:t>(recursive relationship) :</a:t>
            </a:r>
            <a:r>
              <a:rPr lang="ko-KR" altLang="en-US" dirty="0" smtClean="0"/>
              <a:t> </a:t>
            </a:r>
            <a:r>
              <a:rPr lang="ko-KR" altLang="en-US" b="0" dirty="0" smtClean="0"/>
              <a:t>하나의 개체 타입이 동일한 개체 타입</a:t>
            </a:r>
            <a:r>
              <a:rPr lang="en-US" altLang="ko-KR" b="0" dirty="0" smtClean="0"/>
              <a:t>(</a:t>
            </a:r>
            <a:r>
              <a:rPr lang="ko-KR" altLang="en-US" b="0" dirty="0" smtClean="0"/>
              <a:t>자기 자신</a:t>
            </a:r>
            <a:r>
              <a:rPr lang="en-US" altLang="ko-KR" b="0" dirty="0" smtClean="0"/>
              <a:t>)</a:t>
            </a:r>
            <a:r>
              <a:rPr lang="ko-KR" altLang="en-US" b="0" dirty="0" smtClean="0"/>
              <a:t>과 순환적으로 관계를 가지는 형태</a:t>
            </a:r>
            <a:endParaRPr lang="ko-KR" altLang="en-US" b="0" dirty="0"/>
          </a:p>
        </p:txBody>
      </p:sp>
      <p:sp>
        <p:nvSpPr>
          <p:cNvPr id="4" name="직사각형 3"/>
          <p:cNvSpPr>
            <a:spLocks noChangeAspect="1"/>
          </p:cNvSpPr>
          <p:nvPr/>
        </p:nvSpPr>
        <p:spPr>
          <a:xfrm>
            <a:off x="1157333" y="2708920"/>
            <a:ext cx="1248137" cy="468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학생</a:t>
            </a:r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1359697" y="3174112"/>
            <a:ext cx="0" cy="13681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2252291" y="3174112"/>
            <a:ext cx="0" cy="13681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순서도: 판단 4"/>
          <p:cNvSpPr/>
          <p:nvPr/>
        </p:nvSpPr>
        <p:spPr>
          <a:xfrm>
            <a:off x="981313" y="4387182"/>
            <a:ext cx="1728192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 err="1" smtClean="0"/>
              <a:t>멘토링</a:t>
            </a:r>
            <a:endParaRPr lang="ko-KR" altLang="en-US" dirty="0"/>
          </a:p>
        </p:txBody>
      </p:sp>
      <p:sp>
        <p:nvSpPr>
          <p:cNvPr id="8" name="직사각형 7"/>
          <p:cNvSpPr>
            <a:spLocks noChangeAspect="1"/>
          </p:cNvSpPr>
          <p:nvPr/>
        </p:nvSpPr>
        <p:spPr>
          <a:xfrm>
            <a:off x="3853633" y="2708920"/>
            <a:ext cx="1248137" cy="468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사원</a:t>
            </a:r>
            <a:endParaRPr lang="ko-KR" altLang="en-US" dirty="0"/>
          </a:p>
        </p:txBody>
      </p:sp>
      <p:cxnSp>
        <p:nvCxnSpPr>
          <p:cNvPr id="9" name="직선 연결선 8"/>
          <p:cNvCxnSpPr/>
          <p:nvPr/>
        </p:nvCxnSpPr>
        <p:spPr>
          <a:xfrm>
            <a:off x="4055997" y="3174112"/>
            <a:ext cx="0" cy="13681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4948591" y="3174112"/>
            <a:ext cx="0" cy="13681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순서도: 판단 10"/>
          <p:cNvSpPr/>
          <p:nvPr/>
        </p:nvSpPr>
        <p:spPr>
          <a:xfrm>
            <a:off x="3677613" y="4387182"/>
            <a:ext cx="1728192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 smtClean="0"/>
              <a:t>지시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3968" y="3573016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멘토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49066" y="3573016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멘티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45565" y="3573016"/>
            <a:ext cx="800219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smtClean="0">
                <a:solidFill>
                  <a:schemeClr val="tx1"/>
                </a:solidFill>
                <a:latin typeface="+mn-ea"/>
              </a:rPr>
              <a:t>지시한다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65626" y="3573016"/>
            <a:ext cx="954107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지시받는다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8577" y="3872081"/>
            <a:ext cx="325730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1763" y="3861048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1521" y="3872081"/>
            <a:ext cx="325730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4707" y="3861048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309" y="5085184"/>
            <a:ext cx="1697901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(a)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학생의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멘토링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관계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35896" y="5085184"/>
            <a:ext cx="155683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(b)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사원의 지시 관계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8827" y="544522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6-28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순환적 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약한 개체 타입과 </a:t>
            </a:r>
            <a:r>
              <a:rPr lang="ko-KR" altLang="en-US" dirty="0" err="1" smtClean="0"/>
              <a:t>식별자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500" dirty="0"/>
              <a:t>약한 개체</a:t>
            </a:r>
            <a:r>
              <a:rPr lang="en-US" altLang="ko-KR" sz="1500" dirty="0"/>
              <a:t>(weak entity) </a:t>
            </a:r>
            <a:r>
              <a:rPr lang="ko-KR" altLang="en-US" sz="1500" smtClean="0"/>
              <a:t>타입 </a:t>
            </a:r>
            <a:endParaRPr lang="en-US" altLang="ko-KR" sz="1500" smtClean="0"/>
          </a:p>
          <a:p>
            <a:pPr lvl="1"/>
            <a:r>
              <a:rPr lang="ko-KR" altLang="en-US" b="0" smtClean="0"/>
              <a:t>상위 </a:t>
            </a:r>
            <a:r>
              <a:rPr lang="ko-KR" altLang="en-US" b="0" dirty="0" smtClean="0"/>
              <a:t>개체 타입이 결정되지 않으면 개별 개체를 식별할 수 없는 종속된 개체 타입 </a:t>
            </a:r>
            <a:endParaRPr lang="en-US" altLang="ko-KR" b="0" dirty="0" smtClean="0"/>
          </a:p>
          <a:p>
            <a:pPr lvl="1"/>
            <a:r>
              <a:rPr lang="ko-KR" altLang="en-US" dirty="0" smtClean="0"/>
              <a:t>약한 개체 타입은 독립적인 키로는 존재할 수 없지만 상위 개체 타입의 키와 결합하여 약한 개체 타입의 개별 개체를 고유하게 식별하는 속성을 </a:t>
            </a:r>
            <a:r>
              <a:rPr lang="ko-KR" altLang="en-US" dirty="0" err="1" smtClean="0"/>
              <a:t>식별자</a:t>
            </a:r>
            <a:r>
              <a:rPr lang="en-US" altLang="ko-KR" dirty="0" smtClean="0"/>
              <a:t>(discriminator) </a:t>
            </a:r>
            <a:r>
              <a:rPr lang="ko-KR" altLang="en-US" dirty="0" smtClean="0"/>
              <a:t>혹은 </a:t>
            </a:r>
            <a:r>
              <a:rPr lang="ko-KR" altLang="en-US" dirty="0" err="1" smtClean="0"/>
              <a:t>부분키</a:t>
            </a:r>
            <a:r>
              <a:rPr lang="en-US" altLang="ko-KR" dirty="0" smtClean="0"/>
              <a:t>(partial key)</a:t>
            </a:r>
            <a:r>
              <a:rPr lang="ko-KR" altLang="en-US" dirty="0" smtClean="0"/>
              <a:t>라고 함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02603"/>
              </p:ext>
            </p:extLst>
          </p:nvPr>
        </p:nvGraphicFramePr>
        <p:xfrm>
          <a:off x="755576" y="2924944"/>
          <a:ext cx="7636966" cy="3002164"/>
        </p:xfrm>
        <a:graphic>
          <a:graphicData uri="http://schemas.openxmlformats.org/drawingml/2006/table">
            <a:tbl>
              <a:tblPr/>
              <a:tblGrid>
                <a:gridCol w="1444278"/>
                <a:gridCol w="1656184"/>
                <a:gridCol w="4536504"/>
              </a:tblGrid>
              <a:tr h="3569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8042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약한 개체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강한 개체 타입이 있어야 존재할 수 있음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이중 직사각형으로 표현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478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식별 관계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강한 개체 타입과 약한 개체 타입의 관계를 나타냄</a:t>
                      </a: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강한 개체 타입의 </a:t>
                      </a:r>
                      <a:r>
                        <a:rPr lang="ko-KR" altLang="en-US" sz="1200" kern="0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기본키를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상속받아 사용함</a:t>
                      </a: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이중 마름모꼴로 표현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957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키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강한 개체 타입의 키 속성</a:t>
                      </a: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042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식별자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약한 개체 타입에서 개별 개체를 구분하는 속성</a:t>
                      </a: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키라고 하지 않고 식별자라고 부름</a:t>
                      </a: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5576" y="258831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6-10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식별자와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약한 개체 타입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>
            <a:grpSpLocks noChangeAspect="1"/>
          </p:cNvGrpSpPr>
          <p:nvPr/>
        </p:nvGrpSpPr>
        <p:grpSpPr>
          <a:xfrm>
            <a:off x="1042253" y="3393202"/>
            <a:ext cx="837086" cy="360000"/>
            <a:chOff x="3309256" y="1233714"/>
            <a:chExt cx="1991207" cy="856343"/>
          </a:xfrm>
        </p:grpSpPr>
        <p:sp>
          <p:nvSpPr>
            <p:cNvPr id="10" name="직사각형 9"/>
            <p:cNvSpPr/>
            <p:nvPr/>
          </p:nvSpPr>
          <p:spPr>
            <a:xfrm>
              <a:off x="3309256" y="1233714"/>
              <a:ext cx="1991207" cy="856343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34386" y="1340768"/>
              <a:ext cx="1728192" cy="648072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가족</a:t>
              </a:r>
              <a:endParaRPr lang="ko-KR" altLang="en-US" sz="1000" dirty="0"/>
            </a:p>
          </p:txBody>
        </p:sp>
      </p:grpSp>
      <p:grpSp>
        <p:nvGrpSpPr>
          <p:cNvPr id="12" name="그룹 11"/>
          <p:cNvGrpSpPr>
            <a:grpSpLocks noChangeAspect="1"/>
          </p:cNvGrpSpPr>
          <p:nvPr/>
        </p:nvGrpSpPr>
        <p:grpSpPr>
          <a:xfrm>
            <a:off x="812796" y="4030608"/>
            <a:ext cx="1296000" cy="540000"/>
            <a:chOff x="3203847" y="2451922"/>
            <a:chExt cx="1999349" cy="833062"/>
          </a:xfrm>
        </p:grpSpPr>
        <p:sp>
          <p:nvSpPr>
            <p:cNvPr id="13" name="순서도: 판단 12"/>
            <p:cNvSpPr/>
            <p:nvPr/>
          </p:nvSpPr>
          <p:spPr>
            <a:xfrm>
              <a:off x="3203847" y="2451922"/>
              <a:ext cx="1999349" cy="833062"/>
            </a:xfrm>
            <a:prstGeom prst="flowChartDecis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순서도: 판단 13"/>
            <p:cNvSpPr/>
            <p:nvPr/>
          </p:nvSpPr>
          <p:spPr>
            <a:xfrm>
              <a:off x="3500263" y="2564904"/>
              <a:ext cx="1431777" cy="596574"/>
            </a:xfrm>
            <a:prstGeom prst="flowChartDecis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부양</a:t>
              </a:r>
              <a:endParaRPr lang="ko-KR" altLang="en-US" sz="1000" dirty="0"/>
            </a:p>
          </p:txBody>
        </p:sp>
      </p:grpSp>
      <p:grpSp>
        <p:nvGrpSpPr>
          <p:cNvPr id="15" name="그룹 14"/>
          <p:cNvGrpSpPr>
            <a:grpSpLocks noChangeAspect="1"/>
          </p:cNvGrpSpPr>
          <p:nvPr/>
        </p:nvGrpSpPr>
        <p:grpSpPr>
          <a:xfrm>
            <a:off x="1034334" y="4788788"/>
            <a:ext cx="852924" cy="504000"/>
            <a:chOff x="1917444" y="4079930"/>
            <a:chExt cx="1584176" cy="936104"/>
          </a:xfrm>
        </p:grpSpPr>
        <p:sp>
          <p:nvSpPr>
            <p:cNvPr id="16" name="타원 15"/>
            <p:cNvSpPr/>
            <p:nvPr/>
          </p:nvSpPr>
          <p:spPr>
            <a:xfrm>
              <a:off x="1917444" y="4079930"/>
              <a:ext cx="1584176" cy="936104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7" name="직선 연결선 16"/>
            <p:cNvCxnSpPr/>
            <p:nvPr/>
          </p:nvCxnSpPr>
          <p:spPr>
            <a:xfrm>
              <a:off x="2190962" y="4800010"/>
              <a:ext cx="1080120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8" name="그룹 17"/>
          <p:cNvGrpSpPr>
            <a:grpSpLocks noChangeAspect="1"/>
          </p:cNvGrpSpPr>
          <p:nvPr/>
        </p:nvGrpSpPr>
        <p:grpSpPr>
          <a:xfrm>
            <a:off x="1034334" y="5385043"/>
            <a:ext cx="852924" cy="504000"/>
            <a:chOff x="2411759" y="3429000"/>
            <a:chExt cx="1584176" cy="936104"/>
          </a:xfrm>
        </p:grpSpPr>
        <p:sp>
          <p:nvSpPr>
            <p:cNvPr id="19" name="타원 18"/>
            <p:cNvSpPr/>
            <p:nvPr/>
          </p:nvSpPr>
          <p:spPr>
            <a:xfrm>
              <a:off x="2411759" y="3429000"/>
              <a:ext cx="1584176" cy="936104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2685277" y="4149080"/>
              <a:ext cx="1080120" cy="0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약한 개체 타입과 </a:t>
            </a:r>
            <a:r>
              <a:rPr lang="ko-KR" altLang="en-US" dirty="0" err="1" smtClean="0"/>
              <a:t>식별자</a:t>
            </a:r>
            <a:endParaRPr lang="ko-KR" altLang="en-US" dirty="0"/>
          </a:p>
        </p:txBody>
      </p:sp>
      <p:grpSp>
        <p:nvGrpSpPr>
          <p:cNvPr id="4" name="그룹 3"/>
          <p:cNvGrpSpPr>
            <a:grpSpLocks noChangeAspect="1"/>
          </p:cNvGrpSpPr>
          <p:nvPr/>
        </p:nvGrpSpPr>
        <p:grpSpPr>
          <a:xfrm>
            <a:off x="2329233" y="4391515"/>
            <a:ext cx="1339341" cy="576000"/>
            <a:chOff x="3309256" y="1233714"/>
            <a:chExt cx="1991207" cy="856343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5" name="직사각형 4"/>
            <p:cNvSpPr/>
            <p:nvPr/>
          </p:nvSpPr>
          <p:spPr>
            <a:xfrm>
              <a:off x="3309256" y="1233714"/>
              <a:ext cx="1991207" cy="856343"/>
            </a:xfrm>
            <a:prstGeom prst="rect">
              <a:avLst/>
            </a:prstGeom>
            <a:grp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434386" y="1340768"/>
              <a:ext cx="1728192" cy="648072"/>
            </a:xfrm>
            <a:prstGeom prst="rect">
              <a:avLst/>
            </a:prstGeom>
            <a:grp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가족</a:t>
              </a:r>
              <a:endParaRPr lang="ko-KR" altLang="en-US" sz="1000" dirty="0"/>
            </a:p>
          </p:txBody>
        </p:sp>
      </p:grpSp>
      <p:cxnSp>
        <p:nvCxnSpPr>
          <p:cNvPr id="12" name="직선 연결선 11"/>
          <p:cNvCxnSpPr>
            <a:cxnSpLocks noChangeAspect="1"/>
          </p:cNvCxnSpPr>
          <p:nvPr/>
        </p:nvCxnSpPr>
        <p:spPr>
          <a:xfrm rot="16200000" flipH="1">
            <a:off x="2735960" y="3283757"/>
            <a:ext cx="510167" cy="8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>
            <a:endCxn id="7" idx="0"/>
          </p:cNvCxnSpPr>
          <p:nvPr/>
        </p:nvCxnSpPr>
        <p:spPr>
          <a:xfrm>
            <a:off x="1359221" y="1880760"/>
            <a:ext cx="1586687" cy="6004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>
            <a:endCxn id="7" idx="0"/>
          </p:cNvCxnSpPr>
          <p:nvPr/>
        </p:nvCxnSpPr>
        <p:spPr>
          <a:xfrm rot="5400000">
            <a:off x="2658717" y="2192335"/>
            <a:ext cx="576064" cy="16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/>
        </p:nvGrpSpPr>
        <p:grpSpPr>
          <a:xfrm>
            <a:off x="1813992" y="5464183"/>
            <a:ext cx="1036800" cy="612000"/>
            <a:chOff x="2411759" y="3429000"/>
            <a:chExt cx="1584176" cy="936104"/>
          </a:xfrm>
        </p:grpSpPr>
        <p:sp>
          <p:nvSpPr>
            <p:cNvPr id="21" name="타원 20"/>
            <p:cNvSpPr/>
            <p:nvPr/>
          </p:nvSpPr>
          <p:spPr>
            <a:xfrm>
              <a:off x="2411759" y="3429000"/>
              <a:ext cx="1584176" cy="936104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이름</a:t>
              </a:r>
              <a:endParaRPr lang="ko-KR" altLang="en-US" sz="1000" dirty="0"/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2685277" y="4149080"/>
              <a:ext cx="1080120" cy="0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cxnSp>
        <p:nvCxnSpPr>
          <p:cNvPr id="23" name="직선 연결선 22"/>
          <p:cNvCxnSpPr/>
          <p:nvPr/>
        </p:nvCxnSpPr>
        <p:spPr>
          <a:xfrm rot="5400000">
            <a:off x="2409658" y="4874937"/>
            <a:ext cx="496668" cy="6818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2998903" y="4967515"/>
            <a:ext cx="925025" cy="5497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endCxn id="7" idx="0"/>
          </p:cNvCxnSpPr>
          <p:nvPr/>
        </p:nvCxnSpPr>
        <p:spPr>
          <a:xfrm rot="10800000" flipV="1">
            <a:off x="2945909" y="1880759"/>
            <a:ext cx="1523999" cy="6004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>
            <a:spLocks noChangeAspect="1"/>
          </p:cNvSpPr>
          <p:nvPr/>
        </p:nvSpPr>
        <p:spPr>
          <a:xfrm>
            <a:off x="2276238" y="2481207"/>
            <a:ext cx="133934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직원</a:t>
            </a:r>
            <a:endParaRPr lang="ko-KR" altLang="en-US" sz="1000" dirty="0"/>
          </a:p>
        </p:txBody>
      </p:sp>
      <p:sp>
        <p:nvSpPr>
          <p:cNvPr id="16" name="타원 15"/>
          <p:cNvSpPr/>
          <p:nvPr/>
        </p:nvSpPr>
        <p:spPr>
          <a:xfrm>
            <a:off x="2424997" y="1412776"/>
            <a:ext cx="1036800" cy="61200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이</a:t>
            </a:r>
            <a:r>
              <a:rPr lang="ko-KR" altLang="en-US" sz="1000" dirty="0"/>
              <a:t>름</a:t>
            </a:r>
          </a:p>
        </p:txBody>
      </p:sp>
      <p:sp>
        <p:nvSpPr>
          <p:cNvPr id="25" name="타원 24"/>
          <p:cNvSpPr/>
          <p:nvPr/>
        </p:nvSpPr>
        <p:spPr>
          <a:xfrm>
            <a:off x="4095525" y="1412776"/>
            <a:ext cx="1036800" cy="61200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직책</a:t>
            </a:r>
            <a:endParaRPr lang="ko-KR" altLang="en-US" sz="1000" dirty="0"/>
          </a:p>
        </p:txBody>
      </p:sp>
      <p:grpSp>
        <p:nvGrpSpPr>
          <p:cNvPr id="13" name="그룹 12"/>
          <p:cNvGrpSpPr>
            <a:grpSpLocks noChangeAspect="1"/>
          </p:cNvGrpSpPr>
          <p:nvPr/>
        </p:nvGrpSpPr>
        <p:grpSpPr>
          <a:xfrm>
            <a:off x="755576" y="1412776"/>
            <a:ext cx="1035693" cy="612000"/>
            <a:chOff x="5600437" y="3616044"/>
            <a:chExt cx="1584176" cy="936104"/>
          </a:xfrm>
        </p:grpSpPr>
        <p:sp>
          <p:nvSpPr>
            <p:cNvPr id="14" name="타원 13"/>
            <p:cNvSpPr/>
            <p:nvPr/>
          </p:nvSpPr>
          <p:spPr>
            <a:xfrm>
              <a:off x="5600437" y="3616044"/>
              <a:ext cx="1584176" cy="936104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직원번호</a:t>
              </a:r>
              <a:endParaRPr lang="ko-KR" altLang="en-US" sz="1000" dirty="0"/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853630" y="4365104"/>
              <a:ext cx="1080120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cxnSp>
        <p:nvCxnSpPr>
          <p:cNvPr id="35" name="직선 연결선 34"/>
          <p:cNvCxnSpPr>
            <a:cxnSpLocks noChangeAspect="1"/>
          </p:cNvCxnSpPr>
          <p:nvPr/>
        </p:nvCxnSpPr>
        <p:spPr>
          <a:xfrm rot="16200000" flipH="1">
            <a:off x="2737058" y="4121957"/>
            <a:ext cx="510167" cy="8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>
            <a:grpSpLocks noChangeAspect="1"/>
          </p:cNvGrpSpPr>
          <p:nvPr/>
        </p:nvGrpSpPr>
        <p:grpSpPr>
          <a:xfrm>
            <a:off x="2295325" y="3464936"/>
            <a:ext cx="1382400" cy="576000"/>
            <a:chOff x="3203847" y="2451922"/>
            <a:chExt cx="1999349" cy="833062"/>
          </a:xfrm>
        </p:grpSpPr>
        <p:sp>
          <p:nvSpPr>
            <p:cNvPr id="9" name="순서도: 판단 8"/>
            <p:cNvSpPr/>
            <p:nvPr/>
          </p:nvSpPr>
          <p:spPr>
            <a:xfrm>
              <a:off x="3203847" y="2451922"/>
              <a:ext cx="1999349" cy="833062"/>
            </a:xfrm>
            <a:prstGeom prst="flowChartDecis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" name="순서도: 판단 9"/>
            <p:cNvSpPr/>
            <p:nvPr/>
          </p:nvSpPr>
          <p:spPr>
            <a:xfrm>
              <a:off x="3500263" y="2564904"/>
              <a:ext cx="1431777" cy="596574"/>
            </a:xfrm>
            <a:prstGeom prst="flowChartDecis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부양</a:t>
              </a:r>
              <a:endParaRPr lang="ko-KR" altLang="en-US" sz="1000" dirty="0"/>
            </a:p>
          </p:txBody>
        </p:sp>
      </p:grpSp>
      <p:sp>
        <p:nvSpPr>
          <p:cNvPr id="19" name="타원 18"/>
          <p:cNvSpPr/>
          <p:nvPr/>
        </p:nvSpPr>
        <p:spPr>
          <a:xfrm>
            <a:off x="3490773" y="5464183"/>
            <a:ext cx="1036800" cy="61200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관계</a:t>
            </a:r>
            <a:endParaRPr lang="ko-KR" alt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683568" y="630932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6-29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약한 개체 타입과 식별자의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97349" y="4052689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06874" y="3140968"/>
            <a:ext cx="26962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IE </a:t>
            </a:r>
            <a:r>
              <a:rPr lang="ko-KR" altLang="en-US" dirty="0" smtClean="0"/>
              <a:t>표기법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ko-KR" dirty="0"/>
              <a:t>IE </a:t>
            </a:r>
            <a:r>
              <a:rPr lang="ko-KR" altLang="en-US" dirty="0"/>
              <a:t>표기법에서 개체 타입과 속성은 직사각형으로 </a:t>
            </a:r>
            <a:r>
              <a:rPr lang="ko-KR" altLang="en-US" dirty="0" smtClean="0"/>
              <a:t>표현</a:t>
            </a:r>
            <a:endParaRPr lang="en-US" altLang="ko-KR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683568" y="162880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IE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표기법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–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관계와 관계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대응수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16832"/>
            <a:ext cx="5878860" cy="236826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4437112"/>
            <a:ext cx="3543300" cy="15525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4437112"/>
            <a:ext cx="3514725" cy="12096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0830" y="603656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IE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표기법의 예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비식별자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관계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)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0" y="603619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IE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표기법의 예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식별자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관계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)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2"/>
                </a:solidFill>
              </a:rPr>
              <a:t>연습문제 풀이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 b="1" smtClean="0"/>
              <a:t>2. </a:t>
            </a:r>
            <a:r>
              <a:rPr lang="en-US" altLang="ko-KR" sz="1400" b="1" dirty="0"/>
              <a:t>ER </a:t>
            </a:r>
            <a:r>
              <a:rPr lang="ko-KR" altLang="en-US" sz="1400" b="1" dirty="0"/>
              <a:t>모델의 표현 방법으로 옳지 않은 것은</a:t>
            </a:r>
            <a:r>
              <a:rPr lang="en-US" altLang="ko-KR" sz="1400" b="1" dirty="0"/>
              <a:t>?</a:t>
            </a:r>
          </a:p>
          <a:p>
            <a:r>
              <a:rPr lang="en-US" altLang="ko-KR" sz="1400" dirty="0" smtClean="0"/>
              <a:t>  ① </a:t>
            </a:r>
            <a:r>
              <a:rPr lang="ko-KR" altLang="en-US" sz="1400" dirty="0"/>
              <a:t>개체집합</a:t>
            </a:r>
            <a:r>
              <a:rPr lang="en-US" altLang="ko-KR" sz="1400" dirty="0"/>
              <a:t>-</a:t>
            </a:r>
            <a:r>
              <a:rPr lang="ko-KR" altLang="en-US" sz="1400" dirty="0"/>
              <a:t>사각형 </a:t>
            </a:r>
            <a:r>
              <a:rPr lang="en-US" altLang="ko-KR" sz="1400" dirty="0" smtClean="0"/>
              <a:t>	</a:t>
            </a:r>
            <a:r>
              <a:rPr lang="ko-KR" altLang="en-US" sz="1400" dirty="0" smtClean="0"/>
              <a:t>② </a:t>
            </a:r>
            <a:r>
              <a:rPr lang="ko-KR" altLang="en-US" sz="1400" dirty="0"/>
              <a:t>관계집합</a:t>
            </a:r>
            <a:r>
              <a:rPr lang="en-US" altLang="ko-KR" sz="1400" dirty="0"/>
              <a:t>-</a:t>
            </a:r>
            <a:r>
              <a:rPr lang="ko-KR" altLang="en-US" sz="1400" dirty="0" smtClean="0"/>
              <a:t>마름모</a:t>
            </a:r>
            <a:r>
              <a:rPr lang="en-US" altLang="ko-KR" sz="1400" dirty="0" smtClean="0"/>
              <a:t>	 </a:t>
            </a:r>
            <a:r>
              <a:rPr lang="ko-KR" altLang="en-US" sz="1400" dirty="0" smtClean="0"/>
              <a:t>③ </a:t>
            </a:r>
            <a:r>
              <a:rPr lang="ko-KR" altLang="en-US" sz="1400" dirty="0"/>
              <a:t>속성</a:t>
            </a:r>
            <a:r>
              <a:rPr lang="en-US" altLang="ko-KR" sz="1400" dirty="0"/>
              <a:t>-</a:t>
            </a:r>
            <a:r>
              <a:rPr lang="ko-KR" altLang="en-US" sz="1400" dirty="0"/>
              <a:t>오각형 </a:t>
            </a:r>
            <a:r>
              <a:rPr lang="en-US" altLang="ko-KR" sz="1400" dirty="0" smtClean="0"/>
              <a:t>	</a:t>
            </a:r>
            <a:r>
              <a:rPr lang="ko-KR" altLang="en-US" sz="1400" dirty="0" smtClean="0"/>
              <a:t>④ </a:t>
            </a:r>
            <a:r>
              <a:rPr lang="ko-KR" altLang="en-US" sz="1400" dirty="0" err="1"/>
              <a:t>다중값</a:t>
            </a:r>
            <a:r>
              <a:rPr lang="ko-KR" altLang="en-US" sz="1400" dirty="0"/>
              <a:t> 속성</a:t>
            </a:r>
            <a:r>
              <a:rPr lang="en-US" altLang="ko-KR" sz="1400" dirty="0"/>
              <a:t>-</a:t>
            </a:r>
            <a:r>
              <a:rPr lang="ko-KR" altLang="en-US" sz="1400" dirty="0" smtClean="0"/>
              <a:t>이중타원형</a:t>
            </a:r>
            <a:endParaRPr lang="en-US" altLang="ko-KR" sz="1400" dirty="0" smtClean="0"/>
          </a:p>
          <a:p>
            <a:endParaRPr lang="ko-KR" altLang="en-US" sz="1400" dirty="0"/>
          </a:p>
          <a:p>
            <a:r>
              <a:rPr lang="en-US" altLang="ko-KR" sz="1400" b="1" smtClean="0"/>
              <a:t>3. </a:t>
            </a:r>
            <a:r>
              <a:rPr lang="en-US" altLang="ko-KR" sz="1400" b="1" dirty="0"/>
              <a:t>ER </a:t>
            </a:r>
            <a:r>
              <a:rPr lang="ko-KR" altLang="en-US" sz="1400" b="1" dirty="0"/>
              <a:t>모델에 대한 설명으로 옳지 않은 것은</a:t>
            </a:r>
            <a:r>
              <a:rPr lang="en-US" altLang="ko-KR" sz="1400" b="1" dirty="0"/>
              <a:t>?</a:t>
            </a:r>
          </a:p>
          <a:p>
            <a:r>
              <a:rPr lang="en-US" altLang="ko-KR" sz="1400" dirty="0" smtClean="0"/>
              <a:t>  ① </a:t>
            </a:r>
            <a:r>
              <a:rPr lang="en-US" altLang="ko-KR" sz="1400" dirty="0"/>
              <a:t>ER </a:t>
            </a:r>
            <a:r>
              <a:rPr lang="ko-KR" altLang="en-US" sz="1400" dirty="0"/>
              <a:t>다이어그램으로 표현하며 </a:t>
            </a:r>
            <a:r>
              <a:rPr lang="ko-KR" altLang="en-US" sz="1400" dirty="0" err="1"/>
              <a:t>피터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첸이</a:t>
            </a:r>
            <a:r>
              <a:rPr lang="ko-KR" altLang="en-US" sz="1400" dirty="0"/>
              <a:t> 제안하였다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 smtClean="0"/>
              <a:t>  ② </a:t>
            </a:r>
            <a:r>
              <a:rPr lang="ko-KR" altLang="en-US" sz="1400" dirty="0"/>
              <a:t>일대일</a:t>
            </a:r>
            <a:r>
              <a:rPr lang="en-US" altLang="ko-KR" sz="1400" dirty="0"/>
              <a:t>(1:1) </a:t>
            </a:r>
            <a:r>
              <a:rPr lang="ko-KR" altLang="en-US" sz="1400" dirty="0"/>
              <a:t>관계 유형만 표현할 수 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 smtClean="0"/>
              <a:t>  ③ </a:t>
            </a:r>
            <a:r>
              <a:rPr lang="ko-KR" altLang="en-US" sz="1400" dirty="0"/>
              <a:t>개체 타입과 이들 간의 관계 타입을 이용해 현실 세계를 개념적으로 표현한다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 smtClean="0"/>
              <a:t>  ④ </a:t>
            </a:r>
            <a:r>
              <a:rPr lang="en-US" altLang="ko-KR" sz="1400" dirty="0"/>
              <a:t>ER </a:t>
            </a:r>
            <a:r>
              <a:rPr lang="ko-KR" altLang="en-US" sz="1400" dirty="0"/>
              <a:t>다이어그램은 </a:t>
            </a:r>
            <a:r>
              <a:rPr lang="en-US" altLang="ko-KR" sz="1400" dirty="0"/>
              <a:t>ER </a:t>
            </a:r>
            <a:r>
              <a:rPr lang="ko-KR" altLang="en-US" sz="1400" dirty="0"/>
              <a:t>모델을 그래프 방식으로 표현한 것이다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r>
              <a:rPr lang="en-US" altLang="ko-KR" sz="1400" b="1" smtClean="0"/>
              <a:t>4. </a:t>
            </a:r>
            <a:r>
              <a:rPr lang="en-US" altLang="ko-KR" sz="1400" b="1" dirty="0"/>
              <a:t>ER </a:t>
            </a:r>
            <a:r>
              <a:rPr lang="ko-KR" altLang="en-US" sz="1400" b="1" dirty="0"/>
              <a:t>표기법에 대한 설명 중 옳지 않은 것은</a:t>
            </a:r>
            <a:r>
              <a:rPr lang="en-US" altLang="ko-KR" sz="1400" b="1" dirty="0"/>
              <a:t>?</a:t>
            </a:r>
            <a:endParaRPr lang="ko-KR" altLang="en-US" sz="1400" b="1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221088"/>
            <a:ext cx="2448272" cy="237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2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03. ER </a:t>
            </a:r>
            <a:r>
              <a:rPr lang="ko-KR" altLang="en-US" dirty="0" smtClean="0"/>
              <a:t>모델을 관계 데이터 모델로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개체 타입의 사상</a:t>
            </a:r>
            <a:endParaRPr lang="en-US" altLang="ko-KR" dirty="0" smtClean="0"/>
          </a:p>
          <a:p>
            <a:r>
              <a:rPr lang="ko-KR" altLang="en-US" dirty="0" smtClean="0"/>
              <a:t>관계 타입의 사상</a:t>
            </a:r>
            <a:endParaRPr lang="en-US" altLang="ko-KR" dirty="0" smtClean="0"/>
          </a:p>
          <a:p>
            <a:r>
              <a:rPr lang="ko-KR" altLang="en-US" dirty="0" err="1" smtClean="0"/>
              <a:t>다중값</a:t>
            </a:r>
            <a:r>
              <a:rPr lang="ko-KR" altLang="en-US" dirty="0" smtClean="0"/>
              <a:t> 속성의 사상</a:t>
            </a: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03. ER </a:t>
            </a:r>
            <a:r>
              <a:rPr lang="ko-KR" altLang="en-US" dirty="0" smtClean="0"/>
              <a:t>모델을 관계 데이터 모델로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완성된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모델은 실제 데이터베이스로 구축하기 위해 논리적 모델링 단계를 거치는데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단계에서 사상</a:t>
            </a:r>
            <a:r>
              <a:rPr lang="en-US" altLang="ko-KR" dirty="0" smtClean="0"/>
              <a:t>(mapping)</a:t>
            </a:r>
            <a:r>
              <a:rPr lang="ko-KR" altLang="en-US" dirty="0" smtClean="0"/>
              <a:t>이 이루어짐</a:t>
            </a:r>
            <a:endParaRPr lang="ko-KR" altLang="en-US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93" y="2204864"/>
            <a:ext cx="4145944" cy="2592288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62" y="2060849"/>
            <a:ext cx="4117246" cy="286314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42611" y="495136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6-12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모델과 관계 데이터 모델의 사상 알고리즘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9552" y="4923991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6-33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모델을 관계 데이터 모델로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4716016" y="4509120"/>
            <a:ext cx="40113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개체 타입의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500" dirty="0" smtClean="0"/>
              <a:t>[1</a:t>
            </a:r>
            <a:r>
              <a:rPr lang="ko-KR" altLang="en-US" sz="1500" dirty="0" smtClean="0"/>
              <a:t>단계</a:t>
            </a:r>
            <a:r>
              <a:rPr lang="en-US" altLang="ko-KR" sz="1500" dirty="0" smtClean="0"/>
              <a:t>] </a:t>
            </a:r>
            <a:r>
              <a:rPr lang="ko-KR" altLang="en-US" sz="1500" dirty="0" smtClean="0"/>
              <a:t>강한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정규</a:t>
            </a:r>
            <a:r>
              <a:rPr lang="en-US" altLang="ko-KR" sz="1500" dirty="0" smtClean="0"/>
              <a:t>) </a:t>
            </a:r>
            <a:r>
              <a:rPr lang="ko-KR" altLang="en-US" sz="1500" dirty="0" smtClean="0"/>
              <a:t>개체 </a:t>
            </a:r>
            <a:r>
              <a:rPr lang="ko-KR" altLang="en-US" sz="1500" smtClean="0"/>
              <a:t>타입 </a:t>
            </a:r>
            <a:r>
              <a:rPr lang="en-US" altLang="ko-KR" sz="1500" smtClean="0"/>
              <a:t>: </a:t>
            </a:r>
            <a:r>
              <a:rPr lang="ko-KR" altLang="en-US" sz="1500" b="0" dirty="0" smtClean="0"/>
              <a:t>정규 개체 타입 </a:t>
            </a:r>
            <a:r>
              <a:rPr lang="en-US" altLang="ko-KR" sz="1500" b="0" dirty="0" smtClean="0"/>
              <a:t>E</a:t>
            </a:r>
            <a:r>
              <a:rPr lang="ko-KR" altLang="en-US" sz="1500" b="0" dirty="0" smtClean="0"/>
              <a:t>의 경우 대응하는 릴레이션 </a:t>
            </a:r>
            <a:r>
              <a:rPr lang="en-US" altLang="ko-KR" sz="1500" b="0" dirty="0" smtClean="0"/>
              <a:t>R</a:t>
            </a:r>
            <a:r>
              <a:rPr lang="ko-KR" altLang="en-US" sz="1500" b="0" dirty="0" smtClean="0"/>
              <a:t>을 생성함</a:t>
            </a:r>
            <a:endParaRPr lang="en-US" altLang="ko-KR" sz="1500" b="0" dirty="0" smtClean="0"/>
          </a:p>
          <a:p>
            <a:r>
              <a:rPr lang="en-US" altLang="ko-KR" sz="1500" dirty="0" smtClean="0"/>
              <a:t>[2</a:t>
            </a:r>
            <a:r>
              <a:rPr lang="ko-KR" altLang="en-US" sz="1500" dirty="0" smtClean="0"/>
              <a:t>단계</a:t>
            </a:r>
            <a:r>
              <a:rPr lang="en-US" altLang="ko-KR" sz="1500" dirty="0" smtClean="0"/>
              <a:t>] </a:t>
            </a:r>
            <a:r>
              <a:rPr lang="ko-KR" altLang="en-US" sz="1500" dirty="0" smtClean="0"/>
              <a:t>약한 개체 타입 </a:t>
            </a:r>
            <a:r>
              <a:rPr lang="en-US" altLang="ko-KR" sz="1500" dirty="0" smtClean="0"/>
              <a:t>: </a:t>
            </a:r>
            <a:r>
              <a:rPr lang="ko-KR" altLang="en-US" sz="1500" b="0" dirty="0" smtClean="0"/>
              <a:t>약한 개체 타입에서 생성된 </a:t>
            </a:r>
            <a:r>
              <a:rPr lang="ko-KR" altLang="en-US" sz="1500" b="0" dirty="0" err="1" smtClean="0"/>
              <a:t>릴레이션은</a:t>
            </a:r>
            <a:r>
              <a:rPr lang="ko-KR" altLang="en-US" sz="1500" b="0" dirty="0" smtClean="0"/>
              <a:t> 자신의 키와 함께 강한 개체 타입의 키를 </a:t>
            </a:r>
            <a:r>
              <a:rPr lang="ko-KR" altLang="en-US" sz="1500" b="0" dirty="0" err="1" smtClean="0"/>
              <a:t>외래키로</a:t>
            </a:r>
            <a:r>
              <a:rPr lang="ko-KR" altLang="en-US" sz="1500" b="0" dirty="0" smtClean="0"/>
              <a:t> 사상하여 자신의 </a:t>
            </a:r>
            <a:r>
              <a:rPr lang="ko-KR" altLang="en-US" sz="1500" b="0" dirty="0" err="1" smtClean="0"/>
              <a:t>기본키를</a:t>
            </a:r>
            <a:r>
              <a:rPr lang="ko-KR" altLang="en-US" sz="1500" b="0" dirty="0" smtClean="0"/>
              <a:t> 구성함</a:t>
            </a:r>
            <a:endParaRPr lang="ko-KR" altLang="en-US" sz="1500" b="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132856"/>
            <a:ext cx="7353300" cy="357187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95350" y="584338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타입의 사상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관계 타입의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indent="-257175">
              <a:buNone/>
            </a:pPr>
            <a:r>
              <a:rPr lang="en-US" altLang="ko-KR" dirty="0" smtClean="0"/>
              <a:t>	</a:t>
            </a:r>
          </a:p>
          <a:p>
            <a:pPr indent="-257175">
              <a:buNone/>
            </a:pPr>
            <a:r>
              <a:rPr lang="en-US" altLang="ko-KR" sz="1200" dirty="0" smtClean="0"/>
              <a:t>	</a:t>
            </a:r>
            <a:r>
              <a:rPr lang="en-US" altLang="ko-KR" sz="1200" b="0" dirty="0" smtClean="0"/>
              <a:t>[</a:t>
            </a:r>
            <a:r>
              <a:rPr lang="ko-KR" altLang="en-US" sz="1200" b="0" dirty="0" smtClean="0"/>
              <a:t>방법</a:t>
            </a:r>
            <a:r>
              <a:rPr lang="en-US" altLang="ko-KR" sz="1200" b="0" dirty="0" smtClean="0"/>
              <a:t>1] </a:t>
            </a:r>
            <a:r>
              <a:rPr lang="ko-KR" altLang="en-US" sz="1200" b="0" dirty="0" smtClean="0"/>
              <a:t>오른쪽 개체 타입 </a:t>
            </a:r>
            <a:r>
              <a:rPr lang="en-US" altLang="ko-KR" sz="1200" b="0" dirty="0" smtClean="0"/>
              <a:t>E2</a:t>
            </a:r>
            <a:r>
              <a:rPr lang="ko-KR" altLang="en-US" sz="1200" b="0" dirty="0" smtClean="0"/>
              <a:t>를 기준으로 관계 </a:t>
            </a:r>
            <a:r>
              <a:rPr lang="en-US" altLang="ko-KR" sz="1200" b="0" dirty="0" smtClean="0"/>
              <a:t>R</a:t>
            </a:r>
            <a:r>
              <a:rPr lang="ko-KR" altLang="en-US" sz="1200" b="0" dirty="0" smtClean="0"/>
              <a:t>을 표현한다</a:t>
            </a:r>
            <a:r>
              <a:rPr lang="en-US" altLang="ko-KR" sz="1200" b="0" dirty="0" smtClean="0"/>
              <a:t>.</a:t>
            </a:r>
          </a:p>
          <a:p>
            <a:pPr>
              <a:buNone/>
            </a:pPr>
            <a:r>
              <a:rPr lang="en-US" altLang="ko-KR" sz="1200" b="0" dirty="0" smtClean="0"/>
              <a:t>		E1(</a:t>
            </a:r>
            <a:r>
              <a:rPr lang="en-US" altLang="ko-KR" sz="1200" b="0" u="sng" dirty="0" smtClean="0"/>
              <a:t>KA1</a:t>
            </a:r>
            <a:r>
              <a:rPr lang="en-US" altLang="ko-KR" sz="1200" b="0" dirty="0" smtClean="0"/>
              <a:t>, A2)</a:t>
            </a:r>
          </a:p>
          <a:p>
            <a:pPr>
              <a:buNone/>
            </a:pPr>
            <a:r>
              <a:rPr lang="en-US" altLang="ko-KR" sz="1200" b="0" dirty="0" smtClean="0"/>
              <a:t>		E2(</a:t>
            </a:r>
            <a:r>
              <a:rPr lang="en-US" altLang="ko-KR" sz="1200" b="0" u="sng" dirty="0" smtClean="0"/>
              <a:t>KA2</a:t>
            </a:r>
            <a:r>
              <a:rPr lang="en-US" altLang="ko-KR" sz="1200" b="0" dirty="0" smtClean="0"/>
              <a:t>, A4, </a:t>
            </a:r>
            <a:r>
              <a:rPr lang="en-US" altLang="ko-KR" sz="1200" b="0" u="dotted" dirty="0" smtClean="0"/>
              <a:t>KA1</a:t>
            </a:r>
            <a:r>
              <a:rPr lang="en-US" altLang="ko-KR" sz="1200" b="0" dirty="0" smtClean="0"/>
              <a:t>)</a:t>
            </a:r>
          </a:p>
          <a:p>
            <a:pPr>
              <a:buNone/>
            </a:pPr>
            <a:r>
              <a:rPr lang="en-US" altLang="ko-KR" sz="1200" b="0" dirty="0" smtClean="0"/>
              <a:t>	[</a:t>
            </a:r>
            <a:r>
              <a:rPr lang="ko-KR" altLang="en-US" sz="1200" b="0" dirty="0" smtClean="0"/>
              <a:t>방법</a:t>
            </a:r>
            <a:r>
              <a:rPr lang="en-US" altLang="ko-KR" sz="1200" b="0" dirty="0" smtClean="0"/>
              <a:t>2] </a:t>
            </a:r>
            <a:r>
              <a:rPr lang="ko-KR" altLang="en-US" sz="1200" b="0" dirty="0" smtClean="0"/>
              <a:t>왼쪽 개체 타입 </a:t>
            </a:r>
            <a:r>
              <a:rPr lang="en-US" altLang="ko-KR" sz="1200" b="0" dirty="0" smtClean="0"/>
              <a:t>E1</a:t>
            </a:r>
            <a:r>
              <a:rPr lang="ko-KR" altLang="en-US" sz="1200" b="0" dirty="0" smtClean="0"/>
              <a:t>을 기준으로 관계 </a:t>
            </a:r>
            <a:r>
              <a:rPr lang="en-US" altLang="ko-KR" sz="1200" b="0" dirty="0" smtClean="0"/>
              <a:t>R</a:t>
            </a:r>
            <a:r>
              <a:rPr lang="ko-KR" altLang="en-US" sz="1200" b="0" dirty="0" smtClean="0"/>
              <a:t>을 표현한다</a:t>
            </a:r>
            <a:r>
              <a:rPr lang="en-US" altLang="ko-KR" sz="1200" b="0" dirty="0" smtClean="0"/>
              <a:t>.</a:t>
            </a:r>
          </a:p>
          <a:p>
            <a:pPr>
              <a:buNone/>
            </a:pPr>
            <a:r>
              <a:rPr lang="en-US" altLang="ko-KR" sz="1200" b="0" dirty="0" smtClean="0"/>
              <a:t>		E1(</a:t>
            </a:r>
            <a:r>
              <a:rPr lang="en-US" altLang="ko-KR" sz="1200" b="0" u="sng" dirty="0" smtClean="0"/>
              <a:t>KA1</a:t>
            </a:r>
            <a:r>
              <a:rPr lang="en-US" altLang="ko-KR" sz="1200" b="0" dirty="0" smtClean="0"/>
              <a:t>, A2, </a:t>
            </a:r>
            <a:r>
              <a:rPr lang="en-US" altLang="ko-KR" sz="1200" b="0" u="dotted" dirty="0" smtClean="0"/>
              <a:t>KA2</a:t>
            </a:r>
            <a:r>
              <a:rPr lang="en-US" altLang="ko-KR" sz="1200" b="0" dirty="0" smtClean="0"/>
              <a:t>)</a:t>
            </a:r>
          </a:p>
          <a:p>
            <a:pPr>
              <a:buNone/>
            </a:pPr>
            <a:r>
              <a:rPr lang="en-US" altLang="ko-KR" sz="1200" b="0" dirty="0" smtClean="0"/>
              <a:t>		E2(</a:t>
            </a:r>
            <a:r>
              <a:rPr lang="en-US" altLang="ko-KR" sz="1200" b="0" u="sng" dirty="0" smtClean="0"/>
              <a:t>KA2</a:t>
            </a:r>
            <a:r>
              <a:rPr lang="en-US" altLang="ko-KR" sz="1200" b="0" dirty="0" smtClean="0"/>
              <a:t>, A4)</a:t>
            </a:r>
          </a:p>
          <a:p>
            <a:pPr>
              <a:buNone/>
            </a:pPr>
            <a:r>
              <a:rPr lang="en-US" altLang="ko-KR" sz="1200" b="0" dirty="0" smtClean="0"/>
              <a:t>	[</a:t>
            </a:r>
            <a:r>
              <a:rPr lang="ko-KR" altLang="en-US" sz="1200" b="0" dirty="0" smtClean="0"/>
              <a:t>방법</a:t>
            </a:r>
            <a:r>
              <a:rPr lang="en-US" altLang="ko-KR" sz="1200" b="0" dirty="0" smtClean="0"/>
              <a:t>3] </a:t>
            </a:r>
            <a:r>
              <a:rPr lang="ko-KR" altLang="en-US" sz="1200" b="0" dirty="0" smtClean="0"/>
              <a:t>단일 </a:t>
            </a:r>
            <a:r>
              <a:rPr lang="ko-KR" altLang="en-US" sz="1200" b="0" dirty="0" err="1" smtClean="0"/>
              <a:t>릴레이션</a:t>
            </a:r>
            <a:r>
              <a:rPr lang="ko-KR" altLang="en-US" sz="1200" b="0" dirty="0" smtClean="0"/>
              <a:t> </a:t>
            </a:r>
            <a:r>
              <a:rPr lang="en-US" altLang="ko-KR" sz="1200" b="0" dirty="0" smtClean="0"/>
              <a:t>ER</a:t>
            </a:r>
            <a:r>
              <a:rPr lang="ko-KR" altLang="en-US" sz="1200" b="0" dirty="0" smtClean="0"/>
              <a:t>로 모두 통합하여 관계 </a:t>
            </a:r>
            <a:r>
              <a:rPr lang="en-US" altLang="ko-KR" sz="1200" b="0" dirty="0" smtClean="0"/>
              <a:t>R</a:t>
            </a:r>
            <a:r>
              <a:rPr lang="ko-KR" altLang="en-US" sz="1200" b="0" dirty="0" smtClean="0"/>
              <a:t>을 표현한다</a:t>
            </a:r>
            <a:r>
              <a:rPr lang="en-US" altLang="ko-KR" sz="1200" b="0" dirty="0" smtClean="0"/>
              <a:t>.</a:t>
            </a:r>
          </a:p>
          <a:p>
            <a:pPr>
              <a:buNone/>
            </a:pPr>
            <a:r>
              <a:rPr lang="en-US" altLang="ko-KR" sz="1200" b="0" dirty="0" smtClean="0"/>
              <a:t>		ER(</a:t>
            </a:r>
            <a:r>
              <a:rPr lang="en-US" altLang="ko-KR" sz="1200" b="0" u="sng" dirty="0" smtClean="0"/>
              <a:t>KA1</a:t>
            </a:r>
            <a:r>
              <a:rPr lang="en-US" altLang="ko-KR" sz="1200" b="0" dirty="0" smtClean="0"/>
              <a:t>, A2, </a:t>
            </a:r>
            <a:r>
              <a:rPr lang="en-US" altLang="ko-KR" sz="1200" b="0" u="sng" dirty="0" smtClean="0"/>
              <a:t>KA2</a:t>
            </a:r>
            <a:r>
              <a:rPr lang="en-US" altLang="ko-KR" sz="1200" b="0" dirty="0" smtClean="0"/>
              <a:t>, A4)</a:t>
            </a:r>
          </a:p>
          <a:p>
            <a:pPr>
              <a:buNone/>
            </a:pPr>
            <a:r>
              <a:rPr lang="en-US" altLang="ko-KR" sz="1200" b="0" dirty="0" smtClean="0"/>
              <a:t>	[</a:t>
            </a:r>
            <a:r>
              <a:rPr lang="ko-KR" altLang="en-US" sz="1200" b="0" dirty="0" smtClean="0"/>
              <a:t>방법</a:t>
            </a:r>
            <a:r>
              <a:rPr lang="en-US" altLang="ko-KR" sz="1200" b="0" dirty="0" smtClean="0"/>
              <a:t>4] </a:t>
            </a:r>
            <a:r>
              <a:rPr lang="ko-KR" altLang="en-US" sz="1200" b="0" dirty="0" smtClean="0"/>
              <a:t>개체 타입 </a:t>
            </a:r>
            <a:r>
              <a:rPr lang="en-US" altLang="ko-KR" sz="1200" b="0" dirty="0" smtClean="0"/>
              <a:t>E1, E2</a:t>
            </a:r>
            <a:r>
              <a:rPr lang="ko-KR" altLang="en-US" sz="1200" b="0" dirty="0" smtClean="0"/>
              <a:t>와 관계 타입 </a:t>
            </a:r>
            <a:r>
              <a:rPr lang="en-US" altLang="ko-KR" sz="1200" b="0" dirty="0" smtClean="0"/>
              <a:t>R</a:t>
            </a:r>
            <a:r>
              <a:rPr lang="ko-KR" altLang="en-US" sz="1200" b="0" dirty="0" smtClean="0"/>
              <a:t>을 모두 독립된 릴레이션으로 표현한다</a:t>
            </a:r>
            <a:r>
              <a:rPr lang="en-US" altLang="ko-KR" sz="1200" b="0" dirty="0" smtClean="0"/>
              <a:t>.</a:t>
            </a:r>
          </a:p>
          <a:p>
            <a:pPr>
              <a:buNone/>
            </a:pPr>
            <a:r>
              <a:rPr lang="en-US" altLang="ko-KR" sz="1200" b="0" dirty="0" smtClean="0"/>
              <a:t>		E1(</a:t>
            </a:r>
            <a:r>
              <a:rPr lang="en-US" altLang="ko-KR" sz="1200" b="0" u="sng" dirty="0" smtClean="0"/>
              <a:t>KA1</a:t>
            </a:r>
            <a:r>
              <a:rPr lang="en-US" altLang="ko-KR" sz="1200" b="0" dirty="0" smtClean="0"/>
              <a:t>, A2)</a:t>
            </a:r>
          </a:p>
          <a:p>
            <a:pPr>
              <a:buNone/>
            </a:pPr>
            <a:r>
              <a:rPr lang="en-US" altLang="ko-KR" sz="1200" b="0" dirty="0" smtClean="0"/>
              <a:t>		R(</a:t>
            </a:r>
            <a:r>
              <a:rPr lang="en-US" altLang="ko-KR" sz="1200" b="0" u="sng" dirty="0" smtClean="0"/>
              <a:t>KA1</a:t>
            </a:r>
            <a:r>
              <a:rPr lang="en-US" altLang="ko-KR" sz="1200" b="0" dirty="0" smtClean="0"/>
              <a:t>, </a:t>
            </a:r>
            <a:r>
              <a:rPr lang="en-US" altLang="ko-KR" sz="1200" b="0" u="sng" dirty="0" smtClean="0"/>
              <a:t>KA2</a:t>
            </a:r>
            <a:r>
              <a:rPr lang="en-US" altLang="ko-KR" sz="1200" b="0" dirty="0" smtClean="0"/>
              <a:t>)</a:t>
            </a:r>
          </a:p>
          <a:p>
            <a:pPr>
              <a:buNone/>
            </a:pPr>
            <a:r>
              <a:rPr lang="en-US" altLang="ko-KR" sz="1200" b="0" dirty="0" smtClean="0"/>
              <a:t>		E2(</a:t>
            </a:r>
            <a:r>
              <a:rPr lang="en-US" altLang="ko-KR" sz="1200" b="0" u="sng" dirty="0" smtClean="0"/>
              <a:t>KA2</a:t>
            </a:r>
            <a:r>
              <a:rPr lang="en-US" altLang="ko-KR" sz="1200" b="0" dirty="0" smtClean="0"/>
              <a:t>, A4)</a:t>
            </a:r>
            <a:endParaRPr lang="ko-KR" altLang="en-US" sz="1200" b="0" dirty="0"/>
          </a:p>
        </p:txBody>
      </p:sp>
      <p:grpSp>
        <p:nvGrpSpPr>
          <p:cNvPr id="4" name="그룹 3"/>
          <p:cNvGrpSpPr/>
          <p:nvPr/>
        </p:nvGrpSpPr>
        <p:grpSpPr>
          <a:xfrm>
            <a:off x="827584" y="1340769"/>
            <a:ext cx="7272808" cy="1152127"/>
            <a:chOff x="611560" y="2506587"/>
            <a:chExt cx="7776864" cy="1296145"/>
          </a:xfrm>
        </p:grpSpPr>
        <p:grpSp>
          <p:nvGrpSpPr>
            <p:cNvPr id="5" name="그룹 6"/>
            <p:cNvGrpSpPr/>
            <p:nvPr/>
          </p:nvGrpSpPr>
          <p:grpSpPr>
            <a:xfrm>
              <a:off x="611560" y="2506587"/>
              <a:ext cx="1224136" cy="531440"/>
              <a:chOff x="5600437" y="3616044"/>
              <a:chExt cx="1584176" cy="936104"/>
            </a:xfrm>
          </p:grpSpPr>
          <p:sp>
            <p:nvSpPr>
              <p:cNvPr id="20" name="타원 7"/>
              <p:cNvSpPr/>
              <p:nvPr/>
            </p:nvSpPr>
            <p:spPr>
              <a:xfrm>
                <a:off x="5600437" y="3616044"/>
                <a:ext cx="1584176" cy="936104"/>
              </a:xfrm>
              <a:prstGeom prst="ellips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/>
                  <a:t>KA1</a:t>
                </a:r>
                <a:endParaRPr lang="ko-KR" altLang="en-US" sz="1400" dirty="0"/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5853630" y="4365104"/>
                <a:ext cx="1080120" cy="0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6" name="타원 5"/>
            <p:cNvSpPr/>
            <p:nvPr/>
          </p:nvSpPr>
          <p:spPr>
            <a:xfrm>
              <a:off x="611560" y="3271292"/>
              <a:ext cx="1224136" cy="531440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A2</a:t>
              </a:r>
              <a:endParaRPr lang="ko-KR" altLang="en-US" sz="1400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267744" y="3284984"/>
              <a:ext cx="1008111" cy="50405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E1</a:t>
              </a:r>
              <a:endParaRPr lang="ko-KR" altLang="en-US" sz="1400" dirty="0"/>
            </a:p>
          </p:txBody>
        </p:sp>
        <p:sp>
          <p:nvSpPr>
            <p:cNvPr id="8" name="순서도: 판단 7"/>
            <p:cNvSpPr/>
            <p:nvPr/>
          </p:nvSpPr>
          <p:spPr>
            <a:xfrm>
              <a:off x="3923928" y="3284984"/>
              <a:ext cx="1368152" cy="504057"/>
            </a:xfrm>
            <a:prstGeom prst="flowChartDecisi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</a:rPr>
                <a:t>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직선 연결선 8"/>
            <p:cNvCxnSpPr>
              <a:stCxn id="7" idx="0"/>
            </p:cNvCxnSpPr>
            <p:nvPr/>
          </p:nvCxnSpPr>
          <p:spPr>
            <a:xfrm flipH="1" flipV="1">
              <a:off x="1835696" y="2772307"/>
              <a:ext cx="936104" cy="5126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그룹 34"/>
            <p:cNvGrpSpPr/>
            <p:nvPr/>
          </p:nvGrpSpPr>
          <p:grpSpPr>
            <a:xfrm>
              <a:off x="7164288" y="2506587"/>
              <a:ext cx="1224136" cy="531440"/>
              <a:chOff x="5600437" y="3616044"/>
              <a:chExt cx="1584176" cy="936104"/>
            </a:xfrm>
          </p:grpSpPr>
          <p:sp>
            <p:nvSpPr>
              <p:cNvPr id="18" name="타원 17"/>
              <p:cNvSpPr/>
              <p:nvPr/>
            </p:nvSpPr>
            <p:spPr>
              <a:xfrm>
                <a:off x="5600437" y="3616044"/>
                <a:ext cx="1584176" cy="936104"/>
              </a:xfrm>
              <a:prstGeom prst="ellips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/>
                  <a:t>KA2</a:t>
                </a:r>
                <a:endParaRPr lang="ko-KR" altLang="en-US" sz="1400" dirty="0"/>
              </a:p>
            </p:txBody>
          </p:sp>
          <p:cxnSp>
            <p:nvCxnSpPr>
              <p:cNvPr id="19" name="직선 연결선 18"/>
              <p:cNvCxnSpPr/>
              <p:nvPr/>
            </p:nvCxnSpPr>
            <p:spPr>
              <a:xfrm>
                <a:off x="5853630" y="4365104"/>
                <a:ext cx="1080120" cy="0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11" name="타원 10"/>
            <p:cNvSpPr/>
            <p:nvPr/>
          </p:nvSpPr>
          <p:spPr>
            <a:xfrm>
              <a:off x="7164288" y="3271292"/>
              <a:ext cx="1224136" cy="531440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A4</a:t>
              </a:r>
              <a:endParaRPr lang="ko-KR" altLang="en-US" sz="1400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868145" y="3284984"/>
              <a:ext cx="1008111" cy="50405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E2</a:t>
              </a:r>
              <a:endParaRPr lang="ko-KR" altLang="en-US" sz="1400" dirty="0"/>
            </a:p>
          </p:txBody>
        </p:sp>
        <p:cxnSp>
          <p:nvCxnSpPr>
            <p:cNvPr id="13" name="직선 연결선 12"/>
            <p:cNvCxnSpPr>
              <a:stCxn id="6" idx="6"/>
              <a:endCxn id="7" idx="1"/>
            </p:cNvCxnSpPr>
            <p:nvPr/>
          </p:nvCxnSpPr>
          <p:spPr>
            <a:xfrm>
              <a:off x="1835696" y="3537012"/>
              <a:ext cx="4320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>
              <a:stCxn id="12" idx="3"/>
              <a:endCxn id="11" idx="2"/>
            </p:cNvCxnSpPr>
            <p:nvPr/>
          </p:nvCxnSpPr>
          <p:spPr>
            <a:xfrm>
              <a:off x="6876256" y="3537012"/>
              <a:ext cx="2880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>
              <a:stCxn id="18" idx="2"/>
              <a:endCxn id="12" idx="0"/>
            </p:cNvCxnSpPr>
            <p:nvPr/>
          </p:nvCxnSpPr>
          <p:spPr>
            <a:xfrm flipH="1">
              <a:off x="6372201" y="2772307"/>
              <a:ext cx="792087" cy="5126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>
              <a:stCxn id="7" idx="3"/>
              <a:endCxn id="8" idx="1"/>
            </p:cNvCxnSpPr>
            <p:nvPr/>
          </p:nvCxnSpPr>
          <p:spPr>
            <a:xfrm>
              <a:off x="3275855" y="3537012"/>
              <a:ext cx="648073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>
              <a:stCxn id="8" idx="3"/>
              <a:endCxn id="12" idx="1"/>
            </p:cNvCxnSpPr>
            <p:nvPr/>
          </p:nvCxnSpPr>
          <p:spPr>
            <a:xfrm flipV="1">
              <a:off x="5292080" y="3537012"/>
              <a:ext cx="576065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755576" y="270892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이진 관계 타입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관계 타입의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[3</a:t>
            </a:r>
            <a:r>
              <a:rPr lang="ko-KR" altLang="en-US" dirty="0" smtClean="0"/>
              <a:t>단계</a:t>
            </a:r>
            <a:r>
              <a:rPr lang="en-US" altLang="ko-KR" dirty="0" smtClean="0"/>
              <a:t>] </a:t>
            </a:r>
            <a:r>
              <a:rPr lang="ko-KR" altLang="en-US" dirty="0" smtClean="0"/>
              <a:t>이진 </a:t>
            </a:r>
            <a:r>
              <a:rPr lang="en-US" altLang="ko-KR" dirty="0" smtClean="0"/>
              <a:t>1:1 </a:t>
            </a:r>
            <a:r>
              <a:rPr lang="ko-KR" altLang="en-US" dirty="0" smtClean="0"/>
              <a:t>관계 타입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이진 </a:t>
            </a:r>
            <a:r>
              <a:rPr lang="en-US" altLang="ko-KR" sz="1400" b="0" dirty="0" smtClean="0"/>
              <a:t>1:1 </a:t>
            </a:r>
            <a:r>
              <a:rPr lang="ko-KR" altLang="en-US" sz="1400" b="0" dirty="0" smtClean="0"/>
              <a:t>관계 타입의 경우 </a:t>
            </a:r>
            <a:r>
              <a:rPr lang="en-US" altLang="ko-KR" sz="1400" b="0" dirty="0" smtClean="0"/>
              <a:t>[</a:t>
            </a:r>
            <a:r>
              <a:rPr lang="ko-KR" altLang="en-US" sz="1400" b="0" dirty="0" smtClean="0"/>
              <a:t>방법</a:t>
            </a:r>
            <a:r>
              <a:rPr lang="en-US" altLang="ko-KR" sz="1400" b="0" dirty="0" smtClean="0"/>
              <a:t>1]~[</a:t>
            </a:r>
            <a:r>
              <a:rPr lang="ko-KR" altLang="en-US" sz="1400" b="0" dirty="0" smtClean="0"/>
              <a:t>방법</a:t>
            </a:r>
            <a:r>
              <a:rPr lang="en-US" altLang="ko-KR" sz="1400" b="0" dirty="0" smtClean="0"/>
              <a:t>4]</a:t>
            </a:r>
            <a:r>
              <a:rPr lang="ko-KR" altLang="en-US" sz="1400" b="0" dirty="0" smtClean="0"/>
              <a:t>까지 모든 유형으로 사상 가능</a:t>
            </a:r>
            <a:r>
              <a:rPr lang="en-US" altLang="ko-KR" sz="1400" b="0" dirty="0" smtClean="0"/>
              <a:t>. </a:t>
            </a:r>
            <a:r>
              <a:rPr lang="ko-KR" altLang="en-US" sz="1400" b="0" dirty="0" smtClean="0"/>
              <a:t>개체가 가진 정보 유형에 따라 판단</a:t>
            </a:r>
            <a:endParaRPr lang="en-US" altLang="ko-KR" sz="1400" b="0" dirty="0" smtClean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 lvl="0"/>
            <a:r>
              <a:rPr lang="en-US" altLang="ko-KR" dirty="0" smtClean="0">
                <a:solidFill>
                  <a:prstClr val="black"/>
                </a:solidFill>
              </a:rPr>
              <a:t>[</a:t>
            </a:r>
            <a:r>
              <a:rPr lang="en-US" altLang="ko-KR" dirty="0">
                <a:solidFill>
                  <a:prstClr val="black"/>
                </a:solidFill>
              </a:rPr>
              <a:t>4</a:t>
            </a:r>
            <a:r>
              <a:rPr lang="ko-KR" altLang="en-US" dirty="0">
                <a:solidFill>
                  <a:prstClr val="black"/>
                </a:solidFill>
              </a:rPr>
              <a:t>단계</a:t>
            </a:r>
            <a:r>
              <a:rPr lang="en-US" altLang="ko-KR" dirty="0">
                <a:solidFill>
                  <a:prstClr val="black"/>
                </a:solidFill>
              </a:rPr>
              <a:t>] </a:t>
            </a:r>
            <a:r>
              <a:rPr lang="ko-KR" altLang="en-US" dirty="0">
                <a:solidFill>
                  <a:prstClr val="black"/>
                </a:solidFill>
              </a:rPr>
              <a:t>이진 </a:t>
            </a:r>
            <a:r>
              <a:rPr lang="en-US" altLang="ko-KR" dirty="0">
                <a:solidFill>
                  <a:prstClr val="black"/>
                </a:solidFill>
              </a:rPr>
              <a:t>1:N </a:t>
            </a:r>
            <a:r>
              <a:rPr lang="ko-KR" altLang="en-US" dirty="0">
                <a:solidFill>
                  <a:prstClr val="black"/>
                </a:solidFill>
              </a:rPr>
              <a:t>관계 타입</a:t>
            </a:r>
            <a:endParaRPr lang="en-US" altLang="ko-KR" dirty="0">
              <a:solidFill>
                <a:prstClr val="black"/>
              </a:solidFill>
            </a:endParaRPr>
          </a:p>
          <a:p>
            <a:pPr>
              <a:buNone/>
            </a:pPr>
            <a:r>
              <a:rPr lang="ko-KR" altLang="en-US" sz="1400" b="0" dirty="0" smtClean="0"/>
              <a:t>      이진 </a:t>
            </a:r>
            <a:r>
              <a:rPr lang="en-US" altLang="ko-KR" sz="1400" b="0" dirty="0"/>
              <a:t>1:N </a:t>
            </a:r>
            <a:r>
              <a:rPr lang="ko-KR" altLang="en-US" sz="1400" b="0" dirty="0"/>
              <a:t>관계 타입의 경우 </a:t>
            </a:r>
            <a:r>
              <a:rPr lang="en-US" altLang="ko-KR" sz="1400" b="0" dirty="0"/>
              <a:t>N</a:t>
            </a:r>
            <a:r>
              <a:rPr lang="ko-KR" altLang="en-US" sz="1400" b="0" dirty="0"/>
              <a:t>의 위치에 따라 </a:t>
            </a:r>
            <a:r>
              <a:rPr lang="en-US" altLang="ko-KR" sz="1400" b="0" dirty="0"/>
              <a:t>[</a:t>
            </a:r>
            <a:r>
              <a:rPr lang="ko-KR" altLang="en-US" sz="1400" b="0" dirty="0"/>
              <a:t>방법</a:t>
            </a:r>
            <a:r>
              <a:rPr lang="en-US" altLang="ko-KR" sz="1400" b="0" dirty="0"/>
              <a:t>1] </a:t>
            </a:r>
            <a:r>
              <a:rPr lang="ko-KR" altLang="en-US" sz="1400" b="0" dirty="0"/>
              <a:t>또는 </a:t>
            </a:r>
            <a:r>
              <a:rPr lang="en-US" altLang="ko-KR" sz="1400" b="0" dirty="0"/>
              <a:t>[</a:t>
            </a:r>
            <a:r>
              <a:rPr lang="ko-KR" altLang="en-US" sz="1400" b="0" dirty="0"/>
              <a:t>방법</a:t>
            </a:r>
            <a:r>
              <a:rPr lang="en-US" altLang="ko-KR" sz="1400" b="0" dirty="0"/>
              <a:t>2]</a:t>
            </a:r>
            <a:r>
              <a:rPr lang="ko-KR" altLang="en-US" sz="1400" b="0" dirty="0"/>
              <a:t>의 유형으로 </a:t>
            </a:r>
            <a:r>
              <a:rPr lang="ko-KR" altLang="en-US" sz="1400" b="0" dirty="0" smtClean="0"/>
              <a:t>사상됨</a:t>
            </a:r>
            <a:endParaRPr lang="en-US" altLang="ko-KR" sz="14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ko-KR" altLang="en-US" sz="1200" b="0" dirty="0"/>
          </a:p>
        </p:txBody>
      </p:sp>
      <p:sp>
        <p:nvSpPr>
          <p:cNvPr id="6" name="TextBox 5"/>
          <p:cNvSpPr txBox="1"/>
          <p:nvPr/>
        </p:nvSpPr>
        <p:spPr>
          <a:xfrm>
            <a:off x="928164" y="386104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이진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1:1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타입의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43" y="2240242"/>
            <a:ext cx="6100229" cy="169281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043" y="5085184"/>
            <a:ext cx="6460269" cy="156208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68370" y="623731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이진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1:N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타입의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관계 타입의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[5</a:t>
            </a:r>
            <a:r>
              <a:rPr lang="ko-KR" altLang="en-US" dirty="0" smtClean="0"/>
              <a:t>단계</a:t>
            </a:r>
            <a:r>
              <a:rPr lang="en-US" altLang="ko-KR" dirty="0" smtClean="0"/>
              <a:t>] </a:t>
            </a:r>
            <a:r>
              <a:rPr lang="ko-KR" altLang="en-US" dirty="0" smtClean="0"/>
              <a:t>이진 </a:t>
            </a:r>
            <a:r>
              <a:rPr lang="en-US" altLang="ko-KR" dirty="0" smtClean="0"/>
              <a:t>M:N </a:t>
            </a:r>
            <a:r>
              <a:rPr lang="ko-KR" altLang="en-US" dirty="0" smtClean="0"/>
              <a:t>관계 타입</a:t>
            </a:r>
            <a:endParaRPr lang="en-US" altLang="ko-KR" dirty="0" smtClean="0"/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이진 </a:t>
            </a:r>
            <a:r>
              <a:rPr lang="en-US" altLang="ko-KR" sz="1400" b="0" dirty="0" smtClean="0"/>
              <a:t>M:N </a:t>
            </a:r>
            <a:r>
              <a:rPr lang="ko-KR" altLang="en-US" sz="1400" b="0" dirty="0" smtClean="0"/>
              <a:t>관계 타입은 </a:t>
            </a:r>
            <a:r>
              <a:rPr lang="en-US" altLang="ko-KR" sz="1400" b="0" dirty="0" smtClean="0"/>
              <a:t>[</a:t>
            </a:r>
            <a:r>
              <a:rPr lang="ko-KR" altLang="en-US" sz="1400" b="0" dirty="0" smtClean="0"/>
              <a:t>방법</a:t>
            </a:r>
            <a:r>
              <a:rPr lang="en-US" altLang="ko-KR" sz="1400" b="0" dirty="0" smtClean="0"/>
              <a:t>4]</a:t>
            </a:r>
            <a:r>
              <a:rPr lang="ko-KR" altLang="en-US" sz="1400" b="0" dirty="0" smtClean="0"/>
              <a:t>의 유형으로 사상</a:t>
            </a:r>
            <a:endParaRPr lang="en-US" altLang="ko-KR" sz="14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 lvl="0"/>
            <a:r>
              <a:rPr lang="en-US" altLang="ko-KR" dirty="0" smtClean="0">
                <a:solidFill>
                  <a:prstClr val="black"/>
                </a:solidFill>
              </a:rPr>
              <a:t>[</a:t>
            </a:r>
            <a:r>
              <a:rPr lang="en-US" altLang="ko-KR" dirty="0">
                <a:solidFill>
                  <a:prstClr val="black"/>
                </a:solidFill>
              </a:rPr>
              <a:t>6</a:t>
            </a:r>
            <a:r>
              <a:rPr lang="ko-KR" altLang="en-US" dirty="0">
                <a:solidFill>
                  <a:prstClr val="black"/>
                </a:solidFill>
              </a:rPr>
              <a:t>단계</a:t>
            </a:r>
            <a:r>
              <a:rPr lang="en-US" altLang="ko-KR" dirty="0">
                <a:solidFill>
                  <a:prstClr val="black"/>
                </a:solidFill>
              </a:rPr>
              <a:t>] N</a:t>
            </a:r>
            <a:r>
              <a:rPr lang="ko-KR" altLang="en-US" dirty="0">
                <a:solidFill>
                  <a:prstClr val="black"/>
                </a:solidFill>
              </a:rPr>
              <a:t>진 관계 타입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buNone/>
            </a:pPr>
            <a:r>
              <a:rPr lang="en-US" altLang="ko-KR" sz="1400" dirty="0">
                <a:solidFill>
                  <a:prstClr val="black"/>
                </a:solidFill>
              </a:rPr>
              <a:t>	</a:t>
            </a:r>
            <a:r>
              <a:rPr lang="en-US" altLang="ko-KR" sz="1400" b="0" dirty="0">
                <a:solidFill>
                  <a:prstClr val="black"/>
                </a:solidFill>
              </a:rPr>
              <a:t>ER </a:t>
            </a:r>
            <a:r>
              <a:rPr lang="ko-KR" altLang="en-US" sz="1400" b="0" dirty="0">
                <a:solidFill>
                  <a:prstClr val="black"/>
                </a:solidFill>
              </a:rPr>
              <a:t>모델의 차수가 </a:t>
            </a:r>
            <a:r>
              <a:rPr lang="en-US" altLang="ko-KR" sz="1400" b="0" dirty="0">
                <a:solidFill>
                  <a:prstClr val="black"/>
                </a:solidFill>
              </a:rPr>
              <a:t>3 </a:t>
            </a:r>
            <a:r>
              <a:rPr lang="ko-KR" altLang="en-US" sz="1400" b="0" dirty="0">
                <a:solidFill>
                  <a:prstClr val="black"/>
                </a:solidFill>
              </a:rPr>
              <a:t>이상인 다진 관계 타입의 경우 </a:t>
            </a:r>
            <a:r>
              <a:rPr lang="en-US" altLang="ko-KR" sz="1400" b="0" dirty="0">
                <a:solidFill>
                  <a:prstClr val="black"/>
                </a:solidFill>
              </a:rPr>
              <a:t>[</a:t>
            </a:r>
            <a:r>
              <a:rPr lang="ko-KR" altLang="en-US" sz="1400" b="0" dirty="0">
                <a:solidFill>
                  <a:prstClr val="black"/>
                </a:solidFill>
              </a:rPr>
              <a:t>방법</a:t>
            </a:r>
            <a:r>
              <a:rPr lang="en-US" altLang="ko-KR" sz="1400" b="0" dirty="0">
                <a:solidFill>
                  <a:prstClr val="black"/>
                </a:solidFill>
              </a:rPr>
              <a:t>4]</a:t>
            </a:r>
            <a:r>
              <a:rPr lang="ko-KR" altLang="en-US" sz="1400" b="0" dirty="0">
                <a:solidFill>
                  <a:prstClr val="black"/>
                </a:solidFill>
              </a:rPr>
              <a:t>의 유형으로 </a:t>
            </a:r>
            <a:r>
              <a:rPr lang="ko-KR" altLang="en-US" sz="1400" b="0" dirty="0" smtClean="0">
                <a:solidFill>
                  <a:prstClr val="black"/>
                </a:solidFill>
              </a:rPr>
              <a:t>사상</a:t>
            </a:r>
            <a:endParaRPr lang="ko-KR" altLang="en-US" sz="1400" b="0" dirty="0">
              <a:solidFill>
                <a:prstClr val="black"/>
              </a:solidFill>
            </a:endParaRPr>
          </a:p>
          <a:p>
            <a:pPr>
              <a:buNone/>
            </a:pPr>
            <a:endParaRPr lang="ko-KR" altLang="en-US" sz="1200" b="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16832"/>
            <a:ext cx="5904656" cy="17151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509121"/>
            <a:ext cx="6048672" cy="174771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9592" y="337780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6-38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이진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N:M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타입의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9592" y="6119441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이진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N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진 관계 타입의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err="1" smtClean="0"/>
              <a:t>다중값</a:t>
            </a:r>
            <a:r>
              <a:rPr lang="ko-KR" altLang="en-US" dirty="0" smtClean="0"/>
              <a:t> 속성의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r>
              <a:rPr lang="en-US" altLang="ko-KR" dirty="0" smtClean="0"/>
              <a:t>[7</a:t>
            </a:r>
            <a:r>
              <a:rPr lang="ko-KR" altLang="en-US" dirty="0" smtClean="0"/>
              <a:t>단계</a:t>
            </a:r>
            <a:r>
              <a:rPr lang="en-US" altLang="ko-KR" dirty="0" smtClean="0"/>
              <a:t>]</a:t>
            </a:r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속성의 개수를 알 수 없으면 </a:t>
            </a:r>
            <a:r>
              <a:rPr lang="en-US" altLang="ko-KR" sz="1400" b="0" dirty="0" smtClean="0"/>
              <a:t>[</a:t>
            </a:r>
            <a:r>
              <a:rPr lang="ko-KR" altLang="en-US" sz="1400" b="0" dirty="0" smtClean="0"/>
              <a:t>방법</a:t>
            </a:r>
            <a:r>
              <a:rPr lang="en-US" altLang="ko-KR" sz="1400" b="0" dirty="0" smtClean="0"/>
              <a:t>1]</a:t>
            </a:r>
            <a:r>
              <a:rPr lang="ko-KR" altLang="en-US" sz="1400" b="0" dirty="0" smtClean="0"/>
              <a:t>을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속성의 개수가 제한적으로 정해지면 </a:t>
            </a:r>
            <a:r>
              <a:rPr lang="en-US" altLang="ko-KR" sz="1400" b="0" dirty="0" smtClean="0"/>
              <a:t>[</a:t>
            </a:r>
            <a:r>
              <a:rPr lang="ko-KR" altLang="en-US" sz="1400" b="0" dirty="0" smtClean="0"/>
              <a:t>방법</a:t>
            </a:r>
            <a:r>
              <a:rPr lang="en-US" altLang="ko-KR" sz="1400" b="0" dirty="0" smtClean="0"/>
              <a:t>2]</a:t>
            </a:r>
            <a:r>
              <a:rPr lang="ko-KR" altLang="en-US" sz="1400" b="0" dirty="0" smtClean="0"/>
              <a:t>를 사용</a:t>
            </a:r>
            <a:endParaRPr lang="en-US" altLang="ko-KR" sz="1400" b="0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35943" y="289297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6-35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다중값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속성의 개수에 따른 사상 방법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5943" y="602128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6-41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다중값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속성의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23" y="1126074"/>
            <a:ext cx="5911180" cy="1726862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75" y="4288079"/>
            <a:ext cx="5181177" cy="168322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2"/>
                </a:solidFill>
              </a:rPr>
              <a:t>연습문제 풀이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 b="1" smtClean="0"/>
              <a:t>6. </a:t>
            </a:r>
            <a:r>
              <a:rPr lang="ko-KR" altLang="en-US" sz="1400" b="1" dirty="0"/>
              <a:t>다음 내용을 모두 포함하는 데이터베이스를 </a:t>
            </a:r>
            <a:r>
              <a:rPr lang="ko-KR" altLang="en-US" sz="1400" b="1" dirty="0" smtClean="0"/>
              <a:t>설계하시오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필요하면 몇 가지 가정을 넣을 수 있다</a:t>
            </a:r>
            <a:r>
              <a:rPr lang="en-US" altLang="ko-KR" sz="1400" b="1" dirty="0" smtClean="0"/>
              <a:t>.</a:t>
            </a:r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/>
              <a:t>(1) ER </a:t>
            </a:r>
            <a:r>
              <a:rPr lang="ko-KR" altLang="en-US" sz="1400" dirty="0"/>
              <a:t>다이어그램을 그리시오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(2) ER </a:t>
            </a:r>
            <a:r>
              <a:rPr lang="ko-KR" altLang="en-US" sz="1400" dirty="0"/>
              <a:t>다이어그램을 </a:t>
            </a:r>
            <a:r>
              <a:rPr lang="en-US" altLang="ko-KR" sz="1400" dirty="0"/>
              <a:t>IE </a:t>
            </a:r>
            <a:r>
              <a:rPr lang="ko-KR" altLang="en-US" sz="1400" dirty="0"/>
              <a:t>표기법으로 변환하여 그리시오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(3) ER </a:t>
            </a:r>
            <a:r>
              <a:rPr lang="ko-KR" altLang="en-US" sz="1400" dirty="0"/>
              <a:t>다이어그램을 테이블로 변환하시오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4784"/>
            <a:ext cx="6677025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347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2"/>
                </a:solidFill>
              </a:rPr>
              <a:t>연습문제 풀이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7800" indent="-177800"/>
            <a:r>
              <a:rPr lang="en-US" altLang="ko-KR" sz="1400" b="1" dirty="0" smtClean="0"/>
              <a:t>8. </a:t>
            </a:r>
            <a:r>
              <a:rPr lang="ko-KR" altLang="en-US" sz="1400" b="1" dirty="0"/>
              <a:t>다음은 고객과 주문에 관한 </a:t>
            </a:r>
            <a:r>
              <a:rPr lang="en-US" altLang="ko-KR" sz="1400" b="1" dirty="0"/>
              <a:t>ER </a:t>
            </a:r>
            <a:r>
              <a:rPr lang="ko-KR" altLang="en-US" sz="1400" b="1" dirty="0"/>
              <a:t>다이어그램이다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개체는 고객</a:t>
            </a:r>
            <a:r>
              <a:rPr lang="en-US" altLang="ko-KR" sz="1400" b="1" dirty="0"/>
              <a:t>(Customer), </a:t>
            </a:r>
            <a:r>
              <a:rPr lang="ko-KR" altLang="en-US" sz="1400" b="1" dirty="0"/>
              <a:t>제품</a:t>
            </a:r>
            <a:r>
              <a:rPr lang="en-US" altLang="ko-KR" sz="1400" b="1" dirty="0"/>
              <a:t>(Product), </a:t>
            </a:r>
            <a:r>
              <a:rPr lang="ko-KR" altLang="en-US" sz="1400" b="1" dirty="0" smtClean="0"/>
              <a:t>주문</a:t>
            </a:r>
            <a:r>
              <a:rPr lang="en-US" altLang="ko-KR" sz="1400" b="1" dirty="0"/>
              <a:t>(Invoice)</a:t>
            </a:r>
            <a:r>
              <a:rPr lang="ko-KR" altLang="en-US" sz="1400" b="1" dirty="0"/>
              <a:t>으로 구성된다</a:t>
            </a:r>
            <a:r>
              <a:rPr lang="en-US" altLang="ko-KR" sz="1400" b="1" dirty="0"/>
              <a:t>. Place </a:t>
            </a:r>
            <a:r>
              <a:rPr lang="ko-KR" altLang="en-US" sz="1400" b="1" dirty="0"/>
              <a:t>관계는 ‘주문한다’를</a:t>
            </a:r>
            <a:r>
              <a:rPr lang="en-US" altLang="ko-KR" sz="1400" b="1" dirty="0"/>
              <a:t>, </a:t>
            </a:r>
            <a:r>
              <a:rPr lang="en-US" altLang="ko-KR" sz="1400" b="1" dirty="0" err="1"/>
              <a:t>LineItem</a:t>
            </a:r>
            <a:r>
              <a:rPr lang="ko-KR" altLang="en-US" sz="1400" b="1" dirty="0"/>
              <a:t>은 ‘주문 항목’을 의미한다</a:t>
            </a:r>
            <a:r>
              <a:rPr lang="en-US" altLang="ko-KR" sz="1400" b="1" dirty="0"/>
              <a:t>. </a:t>
            </a:r>
            <a:r>
              <a:rPr lang="ko-KR" altLang="en-US" sz="1400" b="1" dirty="0" smtClean="0"/>
              <a:t>그림에 </a:t>
            </a:r>
            <a:r>
              <a:rPr lang="ko-KR" altLang="en-US" sz="1400" b="1" dirty="0"/>
              <a:t>해당하는 테이블을 작성하시오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변환된 테이블의 </a:t>
            </a:r>
            <a:r>
              <a:rPr lang="ko-KR" altLang="en-US" sz="1400" b="1" dirty="0" err="1"/>
              <a:t>기본키는</a:t>
            </a:r>
            <a:r>
              <a:rPr lang="ko-KR" altLang="en-US" sz="1400" b="1" dirty="0"/>
              <a:t> 밑줄 실선</a:t>
            </a:r>
            <a:r>
              <a:rPr lang="en-US" altLang="ko-KR" sz="1400" b="1" dirty="0"/>
              <a:t>, </a:t>
            </a:r>
            <a:r>
              <a:rPr lang="ko-KR" altLang="en-US" sz="1400" b="1" dirty="0" err="1"/>
              <a:t>외래키는</a:t>
            </a:r>
            <a:r>
              <a:rPr lang="ko-KR" altLang="en-US" sz="1400" b="1" dirty="0"/>
              <a:t> 밑줄 </a:t>
            </a:r>
            <a:r>
              <a:rPr lang="ko-KR" altLang="en-US" sz="1400" b="1" dirty="0" smtClean="0"/>
              <a:t>점선으로 </a:t>
            </a:r>
            <a:r>
              <a:rPr lang="ko-KR" altLang="en-US" sz="1400" b="1" dirty="0"/>
              <a:t>표시한다</a:t>
            </a:r>
            <a:r>
              <a:rPr lang="en-US" altLang="ko-KR" sz="1400" b="1" dirty="0"/>
              <a:t>. </a:t>
            </a:r>
            <a:r>
              <a:rPr lang="ko-KR" altLang="en-US" sz="1400" b="1" dirty="0" err="1"/>
              <a:t>기본키인</a:t>
            </a:r>
            <a:r>
              <a:rPr lang="ko-KR" altLang="en-US" sz="1400" b="1" dirty="0"/>
              <a:t> 동시에 </a:t>
            </a:r>
            <a:r>
              <a:rPr lang="ko-KR" altLang="en-US" sz="1400" b="1" dirty="0" err="1"/>
              <a:t>외래키일</a:t>
            </a:r>
            <a:r>
              <a:rPr lang="ko-KR" altLang="en-US" sz="1400" b="1" dirty="0"/>
              <a:t> 경우에는 밑줄 실선으로 표시한다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테이블 변환을 </a:t>
            </a:r>
            <a:r>
              <a:rPr lang="ko-KR" altLang="en-US" sz="1400" b="1" dirty="0" smtClean="0"/>
              <a:t>위하여 </a:t>
            </a:r>
            <a:r>
              <a:rPr lang="ko-KR" altLang="en-US" sz="1400" b="1" dirty="0"/>
              <a:t>필요한 사항 중 설명되지 않은 것은 임의로 정하여 설계한다</a:t>
            </a:r>
            <a:r>
              <a:rPr lang="en-US" altLang="ko-KR" sz="1400" b="1" dirty="0" smtClean="0"/>
              <a:t>).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708920"/>
            <a:ext cx="67722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43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04.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기본 화면 및 툴 둘러보기</a:t>
            </a:r>
            <a:endParaRPr lang="en-US" altLang="ko-KR" dirty="0" smtClean="0"/>
          </a:p>
          <a:p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실습을 위한 기본 환경 설정하기</a:t>
            </a:r>
            <a:r>
              <a:rPr lang="en-US" altLang="ko-KR" dirty="0" smtClean="0"/>
              <a:t> </a:t>
            </a:r>
          </a:p>
          <a:p>
            <a:r>
              <a:rPr lang="ko-KR" altLang="en-US" dirty="0" smtClean="0"/>
              <a:t>마당서점 설계 실습</a:t>
            </a:r>
            <a:endParaRPr lang="en-US" altLang="ko-KR" dirty="0" smtClean="0"/>
          </a:p>
          <a:p>
            <a:r>
              <a:rPr lang="en-US" altLang="ko-KR" dirty="0" smtClean="0"/>
              <a:t>DBMS</a:t>
            </a:r>
            <a:r>
              <a:rPr lang="ko-KR" altLang="en-US" dirty="0" smtClean="0"/>
              <a:t>에 접속하여 테이블 생성하기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04.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ERwin</a:t>
            </a:r>
            <a:r>
              <a:rPr lang="en-US" altLang="ko-KR" dirty="0"/>
              <a:t> </a:t>
            </a:r>
            <a:r>
              <a:rPr lang="en-US" altLang="ko-KR" dirty="0" smtClean="0"/>
              <a:t>: </a:t>
            </a:r>
            <a:r>
              <a:rPr lang="ko-KR" altLang="en-US" b="0" dirty="0" smtClean="0"/>
              <a:t>데이터 모델링을 하기 위한 프로그램</a:t>
            </a:r>
            <a:r>
              <a:rPr lang="en-US" altLang="ko-KR" b="0" dirty="0" smtClean="0"/>
              <a:t>.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IE </a:t>
            </a:r>
            <a:r>
              <a:rPr lang="ko-KR" altLang="en-US" b="0" dirty="0" smtClean="0"/>
              <a:t>표기법을 지원</a:t>
            </a:r>
            <a:endParaRPr lang="ko-KR" altLang="en-US" b="0" dirty="0"/>
          </a:p>
        </p:txBody>
      </p:sp>
      <p:sp>
        <p:nvSpPr>
          <p:cNvPr id="4" name="직사각형 3"/>
          <p:cNvSpPr/>
          <p:nvPr/>
        </p:nvSpPr>
        <p:spPr>
          <a:xfrm>
            <a:off x="971601" y="1916833"/>
            <a:ext cx="1296144" cy="3392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도서번호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71601" y="2256119"/>
            <a:ext cx="1296144" cy="8848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출판사이름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(FK)</a:t>
            </a: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도서이름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도서단가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1628800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도서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613799" y="1916833"/>
            <a:ext cx="1296144" cy="3392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주문번호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613799" y="2256118"/>
            <a:ext cx="1296144" cy="1058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고객번호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(FK)</a:t>
            </a: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도서번호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(FK)</a:t>
            </a: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주문일자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주문금액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9980" y="1628800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주문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2267744" y="2348880"/>
            <a:ext cx="1337144" cy="615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2411760" y="2204864"/>
            <a:ext cx="0" cy="307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3248424" y="2258584"/>
            <a:ext cx="184769" cy="1959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3451872" y="2259728"/>
            <a:ext cx="161779" cy="213593"/>
            <a:chOff x="5076056" y="5517232"/>
            <a:chExt cx="161779" cy="213593"/>
          </a:xfrm>
          <a:scene3d>
            <a:camera prst="orthographicFront">
              <a:rot lat="0" lon="0" rev="10800000"/>
            </a:camera>
            <a:lightRig rig="threePt" dir="t"/>
          </a:scene3d>
        </p:grpSpPr>
        <p:cxnSp>
          <p:nvCxnSpPr>
            <p:cNvPr id="14" name="직선 연결선 13"/>
            <p:cNvCxnSpPr/>
            <p:nvPr/>
          </p:nvCxnSpPr>
          <p:spPr>
            <a:xfrm>
              <a:off x="5076056" y="5627080"/>
              <a:ext cx="1617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5076056" y="5517232"/>
              <a:ext cx="161779" cy="1098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 flipV="1">
              <a:off x="5076056" y="5627080"/>
              <a:ext cx="161779" cy="103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직선 연결선 18"/>
          <p:cNvCxnSpPr/>
          <p:nvPr/>
        </p:nvCxnSpPr>
        <p:spPr>
          <a:xfrm>
            <a:off x="4932040" y="2366024"/>
            <a:ext cx="1337144" cy="615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6084168" y="2222008"/>
            <a:ext cx="0" cy="307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/>
          <p:cNvSpPr/>
          <p:nvPr/>
        </p:nvSpPr>
        <p:spPr>
          <a:xfrm>
            <a:off x="5107311" y="2275728"/>
            <a:ext cx="184769" cy="1959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4932040" y="2276872"/>
            <a:ext cx="161779" cy="213593"/>
            <a:chOff x="5076056" y="5517232"/>
            <a:chExt cx="161779" cy="213593"/>
          </a:xfrm>
          <a:scene3d>
            <a:camera prst="orthographicFront">
              <a:rot lat="0" lon="0" rev="21594000"/>
            </a:camera>
            <a:lightRig rig="threePt" dir="t"/>
          </a:scene3d>
        </p:grpSpPr>
        <p:cxnSp>
          <p:nvCxnSpPr>
            <p:cNvPr id="23" name="직선 연결선 22"/>
            <p:cNvCxnSpPr/>
            <p:nvPr/>
          </p:nvCxnSpPr>
          <p:spPr>
            <a:xfrm>
              <a:off x="5076056" y="5627080"/>
              <a:ext cx="1617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5076056" y="5517232"/>
              <a:ext cx="161779" cy="1098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 flipV="1">
              <a:off x="5076056" y="5627080"/>
              <a:ext cx="161779" cy="103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직사각형 25"/>
          <p:cNvSpPr/>
          <p:nvPr/>
        </p:nvSpPr>
        <p:spPr>
          <a:xfrm>
            <a:off x="6228185" y="1916833"/>
            <a:ext cx="1296144" cy="3392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고객번호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228185" y="2256119"/>
            <a:ext cx="1296144" cy="8848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고객이름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주소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전화번호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56176" y="1628800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고객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1290640" y="3923531"/>
            <a:ext cx="1337144" cy="6151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963095" y="4293865"/>
            <a:ext cx="0" cy="307368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/>
          <p:cNvSpPr/>
          <p:nvPr/>
        </p:nvSpPr>
        <p:spPr>
          <a:xfrm>
            <a:off x="1866704" y="3419475"/>
            <a:ext cx="184769" cy="1959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/>
          <p:cNvGrpSpPr/>
          <p:nvPr/>
        </p:nvGrpSpPr>
        <p:grpSpPr>
          <a:xfrm>
            <a:off x="1885754" y="3212976"/>
            <a:ext cx="161779" cy="213593"/>
            <a:chOff x="5076056" y="5517232"/>
            <a:chExt cx="161779" cy="213593"/>
          </a:xfrm>
          <a:scene3d>
            <a:camera prst="orthographicFront">
              <a:rot lat="0" lon="0" rev="16200000"/>
            </a:camera>
            <a:lightRig rig="threePt" dir="t"/>
          </a:scene3d>
        </p:grpSpPr>
        <p:cxnSp>
          <p:nvCxnSpPr>
            <p:cNvPr id="34" name="직선 연결선 33"/>
            <p:cNvCxnSpPr/>
            <p:nvPr/>
          </p:nvCxnSpPr>
          <p:spPr>
            <a:xfrm>
              <a:off x="5076056" y="5627080"/>
              <a:ext cx="1617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5076056" y="5517232"/>
              <a:ext cx="161779" cy="1098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 flipV="1">
              <a:off x="5076056" y="5627080"/>
              <a:ext cx="161779" cy="103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직사각형 36"/>
          <p:cNvSpPr/>
          <p:nvPr/>
        </p:nvSpPr>
        <p:spPr>
          <a:xfrm>
            <a:off x="971601" y="4590654"/>
            <a:ext cx="1296144" cy="3392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출판사이름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971601" y="4929940"/>
            <a:ext cx="1296144" cy="7056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담당자이름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전화번호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9592" y="4302621"/>
            <a:ext cx="646331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출판사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7584" y="569820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마당서점의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기본 화면 및 툴 둘러보기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168236"/>
            <a:ext cx="8064896" cy="4627165"/>
          </a:xfrm>
        </p:spPr>
        <p:txBody>
          <a:bodyPr/>
          <a:lstStyle/>
          <a:p>
            <a:pPr>
              <a:buNone/>
            </a:pPr>
            <a:r>
              <a:rPr lang="en-US" altLang="ko-KR" dirty="0" smtClean="0"/>
              <a:t>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Data Modeler </a:t>
            </a:r>
            <a:r>
              <a:rPr lang="ko-KR" altLang="en-US" dirty="0" smtClean="0"/>
              <a:t>실행</a:t>
            </a:r>
            <a:endParaRPr lang="ko-KR" altLang="en-US" dirty="0"/>
          </a:p>
        </p:txBody>
      </p:sp>
      <p:pic>
        <p:nvPicPr>
          <p:cNvPr id="1026" name="Picture 2" descr="C:\Documents and Settings\Administrator\바탕 화면\DB_개론과_실습_강의교안_제작\04. 캡처 이미지\6장 이미지\ch06_3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5799" y="1700808"/>
            <a:ext cx="2322212" cy="30243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95536" y="1206536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</a:t>
            </a:r>
            <a:endParaRPr lang="ko-KR" alt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7" name="Picture 3" descr="C:\Documents and Settings\Administrator\바탕 화면\DB_개론과_실습_강의교안_제작\04. 캡처 이미지\6장 이미지\ch06_3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33337" y="1678938"/>
            <a:ext cx="5379711" cy="37657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887924" y="1261958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</a:t>
            </a:r>
            <a:endParaRPr lang="ko-KR" alt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88718" y="1155175"/>
            <a:ext cx="3024336" cy="41074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b="1" dirty="0" err="1" smtClean="0">
                <a:latin typeface="+mj-ea"/>
                <a:ea typeface="+mj-ea"/>
              </a:rPr>
              <a:t>ERwin</a:t>
            </a:r>
            <a:r>
              <a:rPr lang="ko-KR" altLang="en-US" sz="1600" b="1" dirty="0" smtClean="0">
                <a:latin typeface="+mj-ea"/>
                <a:ea typeface="+mj-ea"/>
              </a:rPr>
              <a:t>의 기본 화면</a:t>
            </a:r>
            <a:endParaRPr lang="en-US" altLang="ko-KR" sz="1600" b="1" dirty="0" smtClean="0">
              <a:latin typeface="+mj-ea"/>
              <a:ea typeface="+mj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755576" y="3861048"/>
            <a:ext cx="1296144" cy="14401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>
            <a:spLocks/>
          </p:cNvSpPr>
          <p:nvPr/>
        </p:nvSpPr>
        <p:spPr>
          <a:xfrm>
            <a:off x="5672618" y="1681492"/>
            <a:ext cx="556587" cy="27241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메뉴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13029" y="1675539"/>
            <a:ext cx="432048" cy="2880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sym typeface="Wingdings 2"/>
              </a:rPr>
              <a:t></a:t>
            </a:r>
            <a:endParaRPr lang="ko-KR" altLang="en-US" sz="1600" dirty="0" smtClean="0">
              <a:solidFill>
                <a:srgbClr val="FF0000"/>
              </a:solidFill>
            </a:endParaRPr>
          </a:p>
        </p:txBody>
      </p:sp>
      <p:sp>
        <p:nvSpPr>
          <p:cNvPr id="12" name="모서리가 둥근 직사각형 11"/>
          <p:cNvSpPr>
            <a:spLocks/>
          </p:cNvSpPr>
          <p:nvPr/>
        </p:nvSpPr>
        <p:spPr>
          <a:xfrm>
            <a:off x="8587413" y="1972436"/>
            <a:ext cx="556587" cy="27241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000" b="1" dirty="0" err="1" smtClean="0">
                <a:solidFill>
                  <a:schemeClr val="tx1"/>
                </a:solidFill>
                <a:latin typeface="+mn-ea"/>
              </a:rPr>
              <a:t>툴바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23795" y="1966483"/>
            <a:ext cx="432048" cy="2880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sym typeface="Wingdings 2"/>
              </a:rPr>
              <a:t></a:t>
            </a:r>
            <a:endParaRPr lang="ko-KR" altLang="en-US" sz="1600" dirty="0" smtClean="0">
              <a:solidFill>
                <a:srgbClr val="FF0000"/>
              </a:solidFill>
            </a:endParaRPr>
          </a:p>
        </p:txBody>
      </p:sp>
      <p:sp>
        <p:nvSpPr>
          <p:cNvPr id="14" name="모서리가 둥근 직사각형 13"/>
          <p:cNvSpPr>
            <a:spLocks/>
          </p:cNvSpPr>
          <p:nvPr/>
        </p:nvSpPr>
        <p:spPr>
          <a:xfrm>
            <a:off x="5719788" y="3149944"/>
            <a:ext cx="1533050" cy="27241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다이어그램 작성 영역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16566" y="3165643"/>
            <a:ext cx="432048" cy="2880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sym typeface="Wingdings 2"/>
              </a:rPr>
              <a:t></a:t>
            </a:r>
            <a:endParaRPr lang="ko-KR" altLang="en-US" sz="1600" dirty="0" smtClean="0">
              <a:solidFill>
                <a:srgbClr val="FF0000"/>
              </a:solidFill>
            </a:endParaRPr>
          </a:p>
        </p:txBody>
      </p:sp>
      <p:sp>
        <p:nvSpPr>
          <p:cNvPr id="16" name="모서리가 둥근 직사각형 15"/>
          <p:cNvSpPr>
            <a:spLocks/>
          </p:cNvSpPr>
          <p:nvPr/>
        </p:nvSpPr>
        <p:spPr>
          <a:xfrm>
            <a:off x="3434730" y="3861048"/>
            <a:ext cx="979099" cy="27241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모델 탐색기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46437" y="3873070"/>
            <a:ext cx="432048" cy="2880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sym typeface="Wingdings 2"/>
              </a:rPr>
              <a:t>               </a:t>
            </a:r>
            <a:endParaRPr lang="ko-KR" altLang="en-US" sz="16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기본 화면 및 툴 둘러보기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툴바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algn="just">
              <a:buFont typeface="Wingdings" pitchFamily="2" charset="2"/>
              <a:buChar char=""/>
            </a:pPr>
            <a:r>
              <a:rPr lang="ko-KR" altLang="en-US" sz="1200" dirty="0" smtClean="0"/>
              <a:t>개체 </a:t>
            </a:r>
            <a:r>
              <a:rPr lang="en-US" altLang="ko-KR" sz="1200" dirty="0" smtClean="0"/>
              <a:t>: </a:t>
            </a:r>
            <a:r>
              <a:rPr lang="ko-KR" altLang="en-US" sz="1200" b="0" dirty="0" smtClean="0"/>
              <a:t>개체 타입의 이름</a:t>
            </a:r>
            <a:r>
              <a:rPr lang="en-US" altLang="ko-KR" sz="1200" b="0" dirty="0" smtClean="0"/>
              <a:t>, </a:t>
            </a:r>
            <a:r>
              <a:rPr lang="ko-KR" altLang="en-US" sz="1200" b="0" dirty="0" err="1" smtClean="0"/>
              <a:t>식별자</a:t>
            </a:r>
            <a:r>
              <a:rPr lang="en-US" altLang="ko-KR" sz="1200" b="0" dirty="0" smtClean="0"/>
              <a:t>, </a:t>
            </a:r>
            <a:r>
              <a:rPr lang="ko-KR" altLang="en-US" sz="1200" b="0" dirty="0" smtClean="0"/>
              <a:t>속성을 표현</a:t>
            </a:r>
            <a:endParaRPr lang="en-US" altLang="ko-KR" sz="1200" b="0" dirty="0" smtClean="0"/>
          </a:p>
          <a:p>
            <a:pPr algn="just">
              <a:buFont typeface="Wingdings" pitchFamily="2" charset="2"/>
              <a:buChar char=""/>
            </a:pPr>
            <a:r>
              <a:rPr lang="en-US" altLang="ko-KR" sz="1200" dirty="0" smtClean="0"/>
              <a:t>SUB </a:t>
            </a:r>
            <a:r>
              <a:rPr lang="ko-KR" altLang="en-US" sz="1200" dirty="0" smtClean="0"/>
              <a:t>타입 </a:t>
            </a:r>
            <a:r>
              <a:rPr lang="en-US" altLang="ko-KR" sz="1200" dirty="0" smtClean="0"/>
              <a:t>: </a:t>
            </a:r>
            <a:r>
              <a:rPr lang="en-US" altLang="ko-KR" sz="1200" b="0" dirty="0" smtClean="0"/>
              <a:t>ISA </a:t>
            </a:r>
            <a:r>
              <a:rPr lang="ko-KR" altLang="en-US" sz="1200" b="0" dirty="0" smtClean="0"/>
              <a:t>모델의 슈퍼클래스와 서브클래스처럼 부모</a:t>
            </a:r>
            <a:r>
              <a:rPr lang="en-US" altLang="ko-KR" sz="1200" b="0" dirty="0" smtClean="0"/>
              <a:t>, </a:t>
            </a:r>
            <a:r>
              <a:rPr lang="ko-KR" altLang="en-US" sz="1200" b="0" dirty="0" smtClean="0"/>
              <a:t>자식 관계에서 자식 개체가 서로 배타적인 관계를 가지는 여러 서브 개체 타입을 표현</a:t>
            </a:r>
            <a:endParaRPr lang="en-US" altLang="ko-KR" sz="1200" b="0" dirty="0" smtClean="0"/>
          </a:p>
          <a:p>
            <a:pPr algn="just">
              <a:buFont typeface="Wingdings" pitchFamily="2" charset="2"/>
              <a:buChar char=""/>
            </a:pPr>
            <a:r>
              <a:rPr lang="en-US" altLang="ko-KR" sz="1200" dirty="0" smtClean="0"/>
              <a:t>1:N(</a:t>
            </a:r>
            <a:r>
              <a:rPr lang="ko-KR" altLang="en-US" sz="1200" dirty="0" smtClean="0"/>
              <a:t>식별</a:t>
            </a:r>
            <a:r>
              <a:rPr lang="en-US" altLang="ko-KR" sz="1200" dirty="0" smtClean="0"/>
              <a:t>), N:M(</a:t>
            </a:r>
            <a:r>
              <a:rPr lang="ko-KR" altLang="en-US" sz="1200" dirty="0" smtClean="0"/>
              <a:t>식별</a:t>
            </a:r>
            <a:r>
              <a:rPr lang="en-US" altLang="ko-KR" sz="1200" dirty="0" smtClean="0"/>
              <a:t>), 1:N(</a:t>
            </a:r>
            <a:r>
              <a:rPr lang="ko-KR" altLang="en-US" sz="1200" dirty="0" err="1" smtClean="0"/>
              <a:t>비식별</a:t>
            </a:r>
            <a:r>
              <a:rPr lang="en-US" altLang="ko-KR" sz="1200" dirty="0" smtClean="0"/>
              <a:t>) : </a:t>
            </a:r>
            <a:r>
              <a:rPr lang="en-US" altLang="ko-KR" sz="1200" b="0" dirty="0" smtClean="0"/>
              <a:t>1, N, M</a:t>
            </a:r>
            <a:r>
              <a:rPr lang="ko-KR" altLang="en-US" sz="1200" b="0" dirty="0" smtClean="0"/>
              <a:t>은 두 개체 간의 관계에서 관계 </a:t>
            </a:r>
            <a:r>
              <a:rPr lang="ko-KR" altLang="en-US" sz="1200" b="0" dirty="0" err="1" smtClean="0"/>
              <a:t>대응수를</a:t>
            </a:r>
            <a:r>
              <a:rPr lang="ko-KR" altLang="en-US" sz="1200" b="0" dirty="0" smtClean="0"/>
              <a:t> 말함</a:t>
            </a:r>
            <a:r>
              <a:rPr lang="en-US" altLang="ko-KR" sz="1200" b="0" dirty="0" smtClean="0"/>
              <a:t>. </a:t>
            </a:r>
            <a:r>
              <a:rPr lang="ko-KR" altLang="en-US" sz="1200" b="0" dirty="0" smtClean="0"/>
              <a:t>식별 관계는 두 개체가 부모</a:t>
            </a:r>
            <a:r>
              <a:rPr lang="en-US" altLang="ko-KR" sz="1200" b="0" dirty="0" smtClean="0"/>
              <a:t>(1), </a:t>
            </a:r>
            <a:r>
              <a:rPr lang="ko-KR" altLang="en-US" sz="1200" b="0" dirty="0" smtClean="0"/>
              <a:t>자식</a:t>
            </a:r>
            <a:r>
              <a:rPr lang="en-US" altLang="ko-KR" sz="1200" b="0" dirty="0" smtClean="0"/>
              <a:t>(N) </a:t>
            </a:r>
            <a:r>
              <a:rPr lang="ko-KR" altLang="en-US" sz="1200" b="0" dirty="0" smtClean="0"/>
              <a:t>관계일 때 부모의 </a:t>
            </a:r>
            <a:r>
              <a:rPr lang="ko-KR" altLang="en-US" sz="1200" b="0" dirty="0" err="1" smtClean="0"/>
              <a:t>기본키가</a:t>
            </a:r>
            <a:r>
              <a:rPr lang="ko-KR" altLang="en-US" sz="1200" b="0" dirty="0" smtClean="0"/>
              <a:t> 자식의 </a:t>
            </a:r>
            <a:r>
              <a:rPr lang="ko-KR" altLang="en-US" sz="1200" b="0" dirty="0" err="1" smtClean="0"/>
              <a:t>기본키가</a:t>
            </a:r>
            <a:r>
              <a:rPr lang="ko-KR" altLang="en-US" sz="1200" b="0" dirty="0" smtClean="0"/>
              <a:t> 되거나 </a:t>
            </a:r>
            <a:r>
              <a:rPr lang="ko-KR" altLang="en-US" sz="1200" b="0" dirty="0" err="1" smtClean="0"/>
              <a:t>기본키의</a:t>
            </a:r>
            <a:r>
              <a:rPr lang="ko-KR" altLang="en-US" sz="1200" b="0" dirty="0" smtClean="0"/>
              <a:t> 구성원으로 사용되는 관계로 실선으로 나타냄</a:t>
            </a:r>
            <a:r>
              <a:rPr lang="en-US" altLang="ko-KR" sz="1200" b="0" dirty="0" smtClean="0"/>
              <a:t>. </a:t>
            </a:r>
            <a:r>
              <a:rPr lang="ko-KR" altLang="en-US" sz="1200" b="0" dirty="0" err="1" smtClean="0"/>
              <a:t>비식별</a:t>
            </a:r>
            <a:r>
              <a:rPr lang="ko-KR" altLang="en-US" sz="1200" b="0" dirty="0" smtClean="0"/>
              <a:t> 관계는 부모의 </a:t>
            </a:r>
            <a:r>
              <a:rPr lang="ko-KR" altLang="en-US" sz="1200" b="0" dirty="0" err="1" smtClean="0"/>
              <a:t>기본키가</a:t>
            </a:r>
            <a:r>
              <a:rPr lang="ko-KR" altLang="en-US" sz="1200" b="0" dirty="0" smtClean="0"/>
              <a:t> 자식의 </a:t>
            </a:r>
            <a:r>
              <a:rPr lang="ko-KR" altLang="en-US" sz="1200" b="0" dirty="0" err="1" smtClean="0"/>
              <a:t>기본키가</a:t>
            </a:r>
            <a:r>
              <a:rPr lang="ko-KR" altLang="en-US" sz="1200" b="0" dirty="0" smtClean="0"/>
              <a:t> 아닌 속성의 일부로 전이되는 관계로 점선으로 나타냄</a:t>
            </a:r>
            <a:r>
              <a:rPr lang="en-US" altLang="ko-KR" sz="1200" b="0" dirty="0" smtClean="0"/>
              <a:t>. </a:t>
            </a:r>
            <a:r>
              <a:rPr lang="ko-KR" altLang="en-US" sz="1200" b="0" dirty="0" smtClean="0"/>
              <a:t>관계의 필수</a:t>
            </a:r>
            <a:r>
              <a:rPr lang="en-US" altLang="ko-KR" sz="1200" b="0" dirty="0" smtClean="0"/>
              <a:t>(1)</a:t>
            </a:r>
            <a:r>
              <a:rPr lang="ko-KR" altLang="en-US" sz="1200" b="0" dirty="0" smtClean="0"/>
              <a:t>와 선택</a:t>
            </a:r>
            <a:r>
              <a:rPr lang="en-US" altLang="ko-KR" sz="1200" b="0" dirty="0" smtClean="0"/>
              <a:t>(0)</a:t>
            </a:r>
            <a:r>
              <a:rPr lang="ko-KR" altLang="en-US" sz="1200" b="0" dirty="0" smtClean="0"/>
              <a:t>은 관계선의 옵션을 통해 선택할 수 있음</a:t>
            </a:r>
            <a:endParaRPr lang="ko-KR" altLang="en-US" sz="1200" b="0" dirty="0"/>
          </a:p>
        </p:txBody>
      </p:sp>
      <p:pic>
        <p:nvPicPr>
          <p:cNvPr id="2051" name="Picture 3" descr="C:\Documents and Settings\Administrator\바탕 화면\DB_개론과_실습_강의교안_제작\04. 캡처 이미지\6장 이미지\ch06_3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0808"/>
            <a:ext cx="3151136" cy="792089"/>
          </a:xfrm>
          <a:prstGeom prst="rect">
            <a:avLst/>
          </a:prstGeom>
          <a:noFill/>
        </p:spPr>
      </p:pic>
      <p:cxnSp>
        <p:nvCxnSpPr>
          <p:cNvPr id="6" name="직선 화살표 연결선 5"/>
          <p:cNvCxnSpPr/>
          <p:nvPr/>
        </p:nvCxnSpPr>
        <p:spPr>
          <a:xfrm flipH="1">
            <a:off x="1354842" y="2455831"/>
            <a:ext cx="794" cy="3571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8574" y="2849614"/>
            <a:ext cx="492444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개체</a:t>
            </a:r>
            <a:endParaRPr lang="ko-KR" altLang="en-US" sz="1200" dirty="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08430" y="3327375"/>
            <a:ext cx="881973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+mn-ea"/>
              </a:rPr>
              <a:t>SUB </a:t>
            </a:r>
            <a:r>
              <a:rPr lang="ko-KR" altLang="en-US" sz="1200" dirty="0" smtClean="0">
                <a:latin typeface="+mn-ea"/>
              </a:rPr>
              <a:t>타입 </a:t>
            </a:r>
            <a:r>
              <a:rPr lang="en-US" altLang="ko-KR" sz="1200" dirty="0" smtClean="0">
                <a:latin typeface="+mn-ea"/>
              </a:rPr>
              <a:t/>
            </a:r>
            <a:br>
              <a:rPr lang="en-US" altLang="ko-KR" sz="1200" dirty="0" smtClean="0">
                <a:latin typeface="+mn-ea"/>
              </a:rPr>
            </a:br>
            <a:r>
              <a:rPr lang="en-US" altLang="ko-KR" sz="1200" dirty="0" smtClean="0">
                <a:latin typeface="+mn-ea"/>
              </a:rPr>
              <a:t>(ISA)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 flipH="1">
            <a:off x="1740194" y="2455831"/>
            <a:ext cx="794" cy="8572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51082" y="2884459"/>
            <a:ext cx="875561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+mn-ea"/>
              </a:rPr>
              <a:t>1:N (</a:t>
            </a:r>
            <a:r>
              <a:rPr lang="ko-KR" altLang="en-US" sz="1200" dirty="0" smtClean="0">
                <a:latin typeface="+mn-ea"/>
              </a:rPr>
              <a:t>식별</a:t>
            </a:r>
            <a:r>
              <a:rPr lang="en-US" altLang="ko-KR" sz="1200" dirty="0" smtClean="0">
                <a:latin typeface="+mn-ea"/>
              </a:rPr>
              <a:t>)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9536" y="3334785"/>
            <a:ext cx="93166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+mn-ea"/>
              </a:rPr>
              <a:t>N:M (</a:t>
            </a:r>
            <a:r>
              <a:rPr lang="ko-KR" altLang="en-US" sz="1200" dirty="0" smtClean="0">
                <a:latin typeface="+mn-ea"/>
              </a:rPr>
              <a:t>식별</a:t>
            </a:r>
            <a:r>
              <a:rPr lang="en-US" altLang="ko-KR" sz="1200" dirty="0" smtClean="0">
                <a:latin typeface="+mn-ea"/>
              </a:rPr>
              <a:t>)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99209" y="2887879"/>
            <a:ext cx="1029449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+mn-ea"/>
              </a:rPr>
              <a:t>1:N (</a:t>
            </a:r>
            <a:r>
              <a:rPr lang="ko-KR" altLang="en-US" sz="1200" dirty="0" err="1" smtClean="0">
                <a:latin typeface="+mn-ea"/>
              </a:rPr>
              <a:t>비식별</a:t>
            </a:r>
            <a:r>
              <a:rPr lang="en-US" altLang="ko-KR" sz="1200" dirty="0" smtClean="0">
                <a:latin typeface="+mn-ea"/>
              </a:rPr>
              <a:t>)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2194942" y="2507116"/>
            <a:ext cx="794" cy="3571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2579365" y="2455831"/>
            <a:ext cx="794" cy="8572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flipH="1">
            <a:off x="2934866" y="2527839"/>
            <a:ext cx="794" cy="3571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실습을 위한 기본 환경 설정하기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 목적과 대상에 맞는 모델</a:t>
            </a:r>
            <a:r>
              <a:rPr lang="en-US" altLang="ko-KR" dirty="0" smtClean="0"/>
              <a:t>, DBMS, </a:t>
            </a:r>
            <a:r>
              <a:rPr lang="ko-KR" altLang="en-US" dirty="0" smtClean="0"/>
              <a:t>표기법을 선택해야 함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기본 환경 설정 순서</a:t>
            </a:r>
            <a:r>
              <a:rPr lang="en-US" altLang="ko-KR" dirty="0" smtClean="0"/>
              <a:t>(</a:t>
            </a:r>
            <a:r>
              <a:rPr lang="ko-KR" altLang="en-US" dirty="0" smtClean="0"/>
              <a:t>교재 </a:t>
            </a:r>
            <a:r>
              <a:rPr lang="en-US" altLang="ko-KR" dirty="0" smtClean="0"/>
              <a:t>341</a:t>
            </a:r>
            <a:r>
              <a:rPr lang="ko-KR" altLang="en-US" dirty="0" smtClean="0"/>
              <a:t>쪽</a:t>
            </a:r>
            <a:r>
              <a:rPr lang="en-US" altLang="ko-KR" dirty="0" smtClean="0"/>
              <a:t>~345</a:t>
            </a:r>
            <a:r>
              <a:rPr lang="ko-KR" altLang="en-US" dirty="0" smtClean="0"/>
              <a:t>쪽 참고</a:t>
            </a:r>
            <a:r>
              <a:rPr lang="en-US" altLang="ko-KR" dirty="0" smtClean="0"/>
              <a:t>)</a:t>
            </a:r>
          </a:p>
          <a:p>
            <a:pPr marL="495300" lvl="1" indent="-228600">
              <a:buClr>
                <a:schemeClr val="tx1">
                  <a:lumMod val="65000"/>
                  <a:lumOff val="35000"/>
                </a:schemeClr>
              </a:buClr>
              <a:buFont typeface="+mj-ea"/>
              <a:buAutoNum type="circleNumDbPlain"/>
            </a:pPr>
            <a:r>
              <a:rPr lang="ko-KR" altLang="en-US" sz="1400" dirty="0"/>
              <a:t>모델 타입</a:t>
            </a:r>
            <a:r>
              <a:rPr lang="en-US" altLang="ko-KR" sz="1400" dirty="0"/>
              <a:t>, DBMS </a:t>
            </a:r>
            <a:r>
              <a:rPr lang="ko-KR" altLang="en-US" sz="1400" dirty="0" smtClean="0"/>
              <a:t>선택하기</a:t>
            </a:r>
            <a:endParaRPr lang="en-US" altLang="ko-KR" sz="1400" dirty="0" smtClean="0"/>
          </a:p>
          <a:p>
            <a:pPr marL="495300" lvl="1" indent="-228600">
              <a:buClr>
                <a:schemeClr val="tx1">
                  <a:lumMod val="65000"/>
                  <a:lumOff val="35000"/>
                </a:schemeClr>
              </a:buClr>
              <a:buFont typeface="+mj-ea"/>
              <a:buAutoNum type="circleNumDbPlain"/>
            </a:pPr>
            <a:r>
              <a:rPr lang="en-US" altLang="ko-KR" sz="1400" dirty="0"/>
              <a:t>IE </a:t>
            </a:r>
            <a:r>
              <a:rPr lang="ko-KR" altLang="en-US" sz="1400" dirty="0"/>
              <a:t>표기법으로 </a:t>
            </a:r>
            <a:r>
              <a:rPr lang="ko-KR" altLang="en-US" sz="1400" dirty="0" smtClean="0"/>
              <a:t>변경하기</a:t>
            </a:r>
            <a:endParaRPr lang="en-US" altLang="ko-KR" sz="1400" dirty="0" smtClean="0"/>
          </a:p>
          <a:p>
            <a:pPr marL="495300" lvl="1" indent="-228600">
              <a:buClr>
                <a:schemeClr val="tx1">
                  <a:lumMod val="65000"/>
                  <a:lumOff val="35000"/>
                </a:schemeClr>
              </a:buClr>
              <a:buFont typeface="+mj-ea"/>
              <a:buAutoNum type="circleNumDbPlain"/>
            </a:pPr>
            <a:r>
              <a:rPr lang="ko-KR" altLang="en-US" sz="1400" dirty="0" err="1"/>
              <a:t>툴바에</a:t>
            </a:r>
            <a:r>
              <a:rPr lang="ko-KR" altLang="en-US" sz="1400" dirty="0"/>
              <a:t> 메뉴 추가하기</a:t>
            </a:r>
            <a:r>
              <a:rPr lang="en-US" altLang="ko-KR" sz="1400" dirty="0"/>
              <a:t>(</a:t>
            </a:r>
            <a:r>
              <a:rPr lang="ko-KR" altLang="en-US" sz="1400" dirty="0"/>
              <a:t>선택사항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645140"/>
              </p:ext>
            </p:extLst>
          </p:nvPr>
        </p:nvGraphicFramePr>
        <p:xfrm>
          <a:off x="941213" y="1991571"/>
          <a:ext cx="3558779" cy="829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067"/>
                <a:gridCol w="2240712"/>
              </a:tblGrid>
              <a:tr h="2345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모델 타입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Logical/Physical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74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DBMS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SQL Server</a:t>
                      </a:r>
                      <a:endParaRPr lang="ko-KR" altLang="en-US" sz="1200" b="0" kern="0" spc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7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표기법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IE</a:t>
                      </a:r>
                      <a:r>
                        <a:rPr lang="en-US" altLang="ko-KR" sz="1200" b="0" kern="0" spc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kern="0" spc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표기법</a:t>
                      </a:r>
                      <a:endParaRPr lang="ko-KR" altLang="en-US" sz="1200" b="0" kern="0" spc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9592" y="162880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6-13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Erwin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실습을 위한 기본 환경 설정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마당서점 설계 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마당서점의 논리적 모델링</a:t>
            </a: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400" dirty="0" smtClean="0">
                <a:latin typeface="+mn-ea"/>
              </a:rPr>
              <a:t>마당서점의 요구사항 분석 후 개체 만들기</a:t>
            </a: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400" dirty="0" smtClean="0">
                <a:latin typeface="+mn-ea"/>
              </a:rPr>
              <a:t>개체 간 관계 표현하기 </a:t>
            </a: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266700" lvl="1" indent="0">
              <a:lnSpc>
                <a:spcPct val="150000"/>
              </a:lnSpc>
              <a:buNone/>
            </a:pPr>
            <a:endParaRPr lang="en-US" altLang="ko-KR" sz="14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sz="1400" dirty="0" smtClean="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5" y="1911474"/>
            <a:ext cx="2952327" cy="11655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11960" y="2789003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출판사 개체 생성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573016"/>
            <a:ext cx="3600400" cy="207119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913" y="3573016"/>
            <a:ext cx="3612503" cy="20707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520" y="56678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출판사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도서 개체의 관계 설정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(1:N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비식별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)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88024" y="56678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6-54 </a:t>
            </a:r>
            <a:r>
              <a:rPr lang="ko-KR" altLang="en-US" sz="1400" b="1" dirty="0">
                <a:latin typeface="돋움" pitchFamily="50" charset="-127"/>
                <a:ea typeface="돋움" pitchFamily="50" charset="-127"/>
              </a:rPr>
              <a:t>출판사 </a:t>
            </a:r>
            <a:r>
              <a:rPr lang="en-US" altLang="ko-KR" sz="1400" b="1" dirty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>
                <a:latin typeface="돋움" pitchFamily="50" charset="-127"/>
                <a:ea typeface="돋움" pitchFamily="50" charset="-127"/>
              </a:rPr>
              <a:t>도서 개체의 관계 설정</a:t>
            </a:r>
            <a:r>
              <a:rPr lang="en-US" altLang="ko-KR" sz="1400" b="1" dirty="0">
                <a:latin typeface="돋움" pitchFamily="50" charset="-127"/>
                <a:ea typeface="돋움" pitchFamily="50" charset="-127"/>
              </a:rPr>
              <a:t>(1:N </a:t>
            </a:r>
            <a:r>
              <a:rPr lang="ko-KR" altLang="en-US" sz="1400" b="1" dirty="0" err="1">
                <a:latin typeface="돋움" pitchFamily="50" charset="-127"/>
                <a:ea typeface="돋움" pitchFamily="50" charset="-127"/>
              </a:rPr>
              <a:t>비식별</a:t>
            </a:r>
            <a:r>
              <a:rPr lang="en-US" altLang="ko-KR" sz="1400" b="1" dirty="0">
                <a:latin typeface="돋움" pitchFamily="50" charset="-127"/>
                <a:ea typeface="돋움" pitchFamily="50" charset="-127"/>
              </a:rPr>
              <a:t>)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en-US" altLang="ko-KR" sz="1400" dirty="0">
                <a:latin typeface="+mn-ea"/>
              </a:rPr>
              <a:t>N:M </a:t>
            </a:r>
            <a:r>
              <a:rPr lang="ko-KR" altLang="en-US" sz="1400" dirty="0">
                <a:latin typeface="+mn-ea"/>
              </a:rPr>
              <a:t>관계 </a:t>
            </a:r>
            <a:r>
              <a:rPr lang="ko-KR" altLang="en-US" sz="1400" dirty="0" smtClean="0">
                <a:latin typeface="+mn-ea"/>
              </a:rPr>
              <a:t>해소하기</a:t>
            </a: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ko-KR" altLang="en-US" sz="1400" dirty="0" smtClean="0">
                <a:latin typeface="+mn-ea"/>
              </a:rPr>
              <a:t>식별 </a:t>
            </a:r>
            <a:r>
              <a:rPr lang="ko-KR" altLang="en-US" sz="1400" dirty="0">
                <a:latin typeface="+mn-ea"/>
              </a:rPr>
              <a:t>관계 및 관계 대응 수 변경하기</a:t>
            </a:r>
            <a:endParaRPr lang="en-US" altLang="ko-KR" sz="1400" dirty="0">
              <a:latin typeface="+mn-ea"/>
            </a:endParaRPr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0" y="1488420"/>
            <a:ext cx="4242276" cy="21182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85886" y="152279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6-55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N:M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해소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54" y="4009581"/>
            <a:ext cx="3960439" cy="235256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008" y="3026132"/>
            <a:ext cx="3109424" cy="37152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4605" y="638132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간 식별 관계 변경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39227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도메인 정의하기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7" y="1052737"/>
            <a:ext cx="8584657" cy="5472608"/>
          </a:xfrm>
        </p:spPr>
        <p:txBody>
          <a:bodyPr/>
          <a:lstStyle/>
          <a:p>
            <a:r>
              <a:rPr lang="ko-KR" altLang="en-US" sz="1500" dirty="0"/>
              <a:t>도메인이란 속성이 가질 수 있는 값을 정의하는 </a:t>
            </a:r>
            <a:r>
              <a:rPr lang="ko-KR" altLang="en-US" sz="1500" dirty="0" smtClean="0"/>
              <a:t>것</a:t>
            </a:r>
            <a:r>
              <a:rPr lang="en-US" altLang="ko-KR" sz="1500" dirty="0" smtClean="0"/>
              <a:t>.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ER </a:t>
            </a:r>
            <a:r>
              <a:rPr lang="ko-KR" altLang="en-US" sz="1500" dirty="0" smtClean="0"/>
              <a:t>다이어그램이 완성 후 도메인을 정의</a:t>
            </a:r>
            <a:endParaRPr lang="ko-KR" alt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408330" y="384950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마당서점의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도메인별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데이터 타입 정의표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12" y="1511357"/>
            <a:ext cx="3090507" cy="232180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30" y="4168071"/>
            <a:ext cx="4940055" cy="212617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597" y="1501231"/>
            <a:ext cx="3437588" cy="40507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3528" y="6355227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6-60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도메인 정의표에 따라 생성한 도메인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39811" y="5650997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6-61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도메인별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데이터 타입 설정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</a:t>
            </a:r>
            <a:r>
              <a:rPr lang="ko-KR" altLang="en-US" dirty="0" smtClean="0"/>
              <a:t>마당서점의 물리적 모델링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ea"/>
              <a:buAutoNum type="circleNumDbPlain"/>
            </a:pPr>
            <a:r>
              <a:rPr lang="en-US" altLang="ko-KR" sz="1400" dirty="0" smtClean="0"/>
              <a:t>ER </a:t>
            </a:r>
            <a:r>
              <a:rPr lang="ko-KR" altLang="en-US" sz="1400" dirty="0" smtClean="0"/>
              <a:t>다이어그램 불러오기</a:t>
            </a:r>
            <a:r>
              <a:rPr lang="en-US" altLang="ko-KR" sz="1400" dirty="0" smtClean="0"/>
              <a:t> : [File] –[Open] </a:t>
            </a:r>
          </a:p>
          <a:p>
            <a:pPr>
              <a:buFont typeface="+mj-ea"/>
              <a:buAutoNum type="circleNumDbPlain"/>
            </a:pPr>
            <a:endParaRPr lang="en-US" altLang="ko-KR" sz="1400" dirty="0" smtClean="0"/>
          </a:p>
          <a:p>
            <a:pPr>
              <a:buFont typeface="+mj-ea"/>
              <a:buAutoNum type="circleNumDbPlain"/>
            </a:pPr>
            <a:r>
              <a:rPr lang="en-US" altLang="ko-KR" sz="1400" dirty="0" smtClean="0"/>
              <a:t>Physical </a:t>
            </a:r>
            <a:r>
              <a:rPr lang="ko-KR" altLang="en-US" sz="1400" dirty="0" smtClean="0"/>
              <a:t>타입으로 변경하기 </a:t>
            </a:r>
            <a:r>
              <a:rPr lang="en-US" altLang="ko-KR" sz="1400" dirty="0" smtClean="0"/>
              <a:t>: [View] – [Physical Model]</a:t>
            </a:r>
          </a:p>
          <a:p>
            <a:pPr>
              <a:buFont typeface="+mj-ea"/>
              <a:buAutoNum type="circleNumDbPlain"/>
            </a:pPr>
            <a:endParaRPr lang="en-US" altLang="ko-KR" sz="1400" dirty="0"/>
          </a:p>
          <a:p>
            <a:pPr>
              <a:buFont typeface="+mj-ea"/>
              <a:buAutoNum type="circleNumDbPlain"/>
            </a:pPr>
            <a:endParaRPr lang="en-US" altLang="ko-KR" sz="1400" dirty="0" smtClean="0"/>
          </a:p>
          <a:p>
            <a:pPr>
              <a:buFont typeface="+mj-ea"/>
              <a:buAutoNum type="circleNumDbPlain"/>
            </a:pPr>
            <a:endParaRPr lang="en-US" altLang="ko-KR" sz="1400" dirty="0"/>
          </a:p>
          <a:p>
            <a:pPr>
              <a:buFont typeface="+mj-ea"/>
              <a:buAutoNum type="circleNumDbPlain"/>
            </a:pPr>
            <a:endParaRPr lang="en-US" altLang="ko-KR" sz="1400" dirty="0" smtClean="0"/>
          </a:p>
          <a:p>
            <a:pPr>
              <a:buFont typeface="+mj-ea"/>
              <a:buAutoNum type="circleNumDbPlain"/>
            </a:pPr>
            <a:endParaRPr lang="en-US" altLang="ko-KR" sz="1400" dirty="0"/>
          </a:p>
          <a:p>
            <a:pPr>
              <a:buFont typeface="+mj-ea"/>
              <a:buAutoNum type="circleNumDbPlain"/>
            </a:pPr>
            <a:endParaRPr lang="en-US" altLang="ko-KR" sz="1400" dirty="0" smtClean="0"/>
          </a:p>
          <a:p>
            <a:pPr>
              <a:buFont typeface="+mj-ea"/>
              <a:buAutoNum type="circleNumDbPlain"/>
            </a:pPr>
            <a:endParaRPr lang="en-US" altLang="ko-KR" sz="1400" dirty="0"/>
          </a:p>
          <a:p>
            <a:pPr>
              <a:buFont typeface="+mj-ea"/>
              <a:buAutoNum type="circleNumDbPlain"/>
            </a:pPr>
            <a:endParaRPr lang="en-US" altLang="ko-KR" sz="1400" dirty="0" smtClean="0"/>
          </a:p>
          <a:p>
            <a:pPr marL="0" indent="0">
              <a:buNone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865837" y="5204073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모델 타입의 변경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2165714"/>
            <a:ext cx="5536749" cy="299147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270148"/>
            <a:ext cx="5871333" cy="409698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</a:t>
            </a:r>
            <a:r>
              <a:rPr lang="ko-KR" altLang="en-US" dirty="0"/>
              <a:t>마당서점의 물리적 모델링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ea"/>
              <a:buAutoNum type="circleNumDbPlain" startAt="3"/>
            </a:pPr>
            <a:r>
              <a:rPr lang="ko-KR" altLang="en-US" dirty="0" smtClean="0"/>
              <a:t>물리적 모델링</a:t>
            </a: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endParaRPr lang="en-US" altLang="ko-KR" dirty="0"/>
          </a:p>
          <a:p>
            <a:pPr>
              <a:buFont typeface="+mj-ea"/>
              <a:buAutoNum type="circleNumDbPlain" startAt="3"/>
            </a:pP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endParaRPr lang="en-US" altLang="ko-KR" dirty="0"/>
          </a:p>
          <a:p>
            <a:pPr>
              <a:buFont typeface="+mj-ea"/>
              <a:buAutoNum type="circleNumDbPlain" startAt="3"/>
            </a:pP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endParaRPr lang="en-US" altLang="ko-KR" dirty="0"/>
          </a:p>
          <a:p>
            <a:pPr>
              <a:buFont typeface="+mj-ea"/>
              <a:buAutoNum type="circleNumDbPlain" startAt="3"/>
            </a:pP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r>
              <a:rPr lang="ko-KR" altLang="en-US" dirty="0" err="1" smtClean="0"/>
              <a:t>컬럼의</a:t>
            </a:r>
            <a:r>
              <a:rPr lang="ko-KR" altLang="en-US" dirty="0" smtClean="0"/>
              <a:t> 속성 확인하기</a:t>
            </a: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484784"/>
            <a:ext cx="4248472" cy="2391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36096" y="160918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마당서점의 테이블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602128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6-65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컬럼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속성 확인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8760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990292" y="1700808"/>
            <a:ext cx="3221668" cy="146889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3.4 DBMS</a:t>
            </a:r>
            <a:r>
              <a:rPr lang="ko-KR" altLang="en-US" dirty="0" smtClean="0"/>
              <a:t>에 접속하여 테이블 생성하기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Char char=""/>
            </a:pPr>
            <a:r>
              <a:rPr lang="en-US" altLang="ko-KR" dirty="0" smtClean="0"/>
              <a:t>DBMS</a:t>
            </a:r>
            <a:r>
              <a:rPr lang="ko-KR" altLang="en-US" dirty="0" smtClean="0"/>
              <a:t>에 접속하기</a:t>
            </a:r>
            <a:endParaRPr lang="en-US" altLang="ko-KR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 smtClean="0"/>
              <a:t>      </a:t>
            </a:r>
            <a:r>
              <a:rPr lang="en-US" altLang="ko-KR" sz="1200" b="0" dirty="0" smtClean="0"/>
              <a:t>[Actions]–[Database Connection] </a:t>
            </a:r>
            <a:r>
              <a:rPr lang="ko-KR" altLang="en-US" sz="1200" b="0" dirty="0" smtClean="0"/>
              <a:t>메뉴 선택 후 </a:t>
            </a:r>
            <a:r>
              <a:rPr lang="en-US" altLang="ko-KR" sz="1200" b="0" dirty="0" smtClean="0"/>
              <a:t> [SQL Server Connection] </a:t>
            </a:r>
            <a:r>
              <a:rPr lang="ko-KR" altLang="en-US" sz="1200" b="0" dirty="0" smtClean="0"/>
              <a:t>창에서 다음과 같이 설정</a:t>
            </a:r>
            <a:endParaRPr lang="en-US" altLang="ko-KR" sz="1200" b="0" dirty="0" smtClean="0"/>
          </a:p>
          <a:p>
            <a:pPr marL="0" indent="0">
              <a:buNone/>
            </a:pPr>
            <a:endParaRPr lang="en-US" altLang="ko-KR" sz="1200" b="0" dirty="0"/>
          </a:p>
          <a:p>
            <a:pPr marL="0" indent="0">
              <a:buNone/>
            </a:pPr>
            <a:endParaRPr lang="en-US" altLang="ko-KR" sz="1200" b="0" dirty="0" smtClean="0"/>
          </a:p>
          <a:p>
            <a:pPr marL="0" indent="0">
              <a:buNone/>
            </a:pPr>
            <a:endParaRPr lang="en-US" altLang="ko-KR" sz="1200" b="0" dirty="0"/>
          </a:p>
          <a:p>
            <a:pPr marL="0" indent="0">
              <a:buNone/>
            </a:pPr>
            <a:endParaRPr lang="en-US" altLang="ko-KR" sz="1200" b="0" dirty="0" smtClean="0"/>
          </a:p>
          <a:p>
            <a:pPr marL="0" indent="0">
              <a:buNone/>
            </a:pPr>
            <a:endParaRPr lang="en-US" altLang="ko-KR" sz="1200" b="0" dirty="0"/>
          </a:p>
          <a:p>
            <a:pPr marL="0" indent="0">
              <a:buNone/>
            </a:pPr>
            <a:endParaRPr lang="en-US" altLang="ko-KR" sz="1200" b="0" dirty="0" smtClean="0"/>
          </a:p>
          <a:p>
            <a:pPr lvl="0">
              <a:lnSpc>
                <a:spcPct val="100000"/>
              </a:lnSpc>
              <a:buFont typeface="Wingdings" pitchFamily="2" charset="2"/>
              <a:buChar char=""/>
            </a:pPr>
            <a:r>
              <a:rPr lang="ko-KR" altLang="en-US" dirty="0" smtClean="0">
                <a:solidFill>
                  <a:prstClr val="black"/>
                </a:solidFill>
              </a:rPr>
              <a:t>테이블 </a:t>
            </a:r>
            <a:r>
              <a:rPr lang="ko-KR" altLang="en-US" dirty="0">
                <a:solidFill>
                  <a:prstClr val="black"/>
                </a:solidFill>
              </a:rPr>
              <a:t>생성하기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altLang="ko-KR" dirty="0">
                <a:solidFill>
                  <a:prstClr val="black"/>
                </a:solidFill>
              </a:rPr>
              <a:t>	</a:t>
            </a:r>
            <a:r>
              <a:rPr lang="ko-KR" altLang="en-US" sz="1200" b="0" dirty="0" smtClean="0">
                <a:solidFill>
                  <a:prstClr val="black"/>
                </a:solidFill>
              </a:rPr>
              <a:t> </a:t>
            </a:r>
            <a:r>
              <a:rPr lang="en-US" altLang="ko-KR" sz="1200" b="0" dirty="0">
                <a:solidFill>
                  <a:prstClr val="black"/>
                </a:solidFill>
              </a:rPr>
              <a:t>[Actions]–[Forward Engineer]–[Schema] </a:t>
            </a:r>
            <a:r>
              <a:rPr lang="ko-KR" altLang="en-US" sz="1200" b="0" dirty="0" smtClean="0">
                <a:solidFill>
                  <a:prstClr val="black"/>
                </a:solidFill>
              </a:rPr>
              <a:t>메뉴 선택</a:t>
            </a:r>
            <a:r>
              <a:rPr lang="en-US" altLang="ko-KR" sz="1200" b="0" dirty="0" smtClean="0">
                <a:solidFill>
                  <a:prstClr val="black"/>
                </a:solidFill>
              </a:rPr>
              <a:t>-&gt; </a:t>
            </a:r>
            <a:r>
              <a:rPr lang="ko-KR" altLang="en-US" sz="1200" b="0" dirty="0" smtClean="0">
                <a:solidFill>
                  <a:prstClr val="black"/>
                </a:solidFill>
              </a:rPr>
              <a:t>각 </a:t>
            </a:r>
            <a:r>
              <a:rPr lang="ko-KR" altLang="en-US" sz="1200" b="0" dirty="0" err="1" smtClean="0">
                <a:solidFill>
                  <a:prstClr val="black"/>
                </a:solidFill>
              </a:rPr>
              <a:t>대상별로</a:t>
            </a:r>
            <a:r>
              <a:rPr lang="ko-KR" altLang="en-US" sz="1200" b="0" dirty="0" smtClean="0">
                <a:solidFill>
                  <a:prstClr val="black"/>
                </a:solidFill>
              </a:rPr>
              <a:t> </a:t>
            </a:r>
            <a:r>
              <a:rPr lang="ko-KR" altLang="en-US" sz="1200" b="0" dirty="0" err="1" smtClean="0">
                <a:solidFill>
                  <a:prstClr val="black"/>
                </a:solidFill>
              </a:rPr>
              <a:t>오라클에</a:t>
            </a:r>
            <a:r>
              <a:rPr lang="ko-KR" altLang="en-US" sz="1200" b="0" dirty="0" smtClean="0">
                <a:solidFill>
                  <a:prstClr val="black"/>
                </a:solidFill>
              </a:rPr>
              <a:t> 적용할 내용 설정함</a:t>
            </a:r>
            <a:r>
              <a:rPr lang="en-US" altLang="ko-KR" sz="1200" b="0" dirty="0" smtClean="0">
                <a:solidFill>
                  <a:prstClr val="black"/>
                </a:solidFill>
              </a:rPr>
              <a:t>-&gt; </a:t>
            </a:r>
          </a:p>
          <a:p>
            <a:pPr lvl="0">
              <a:lnSpc>
                <a:spcPct val="100000"/>
              </a:lnSpc>
              <a:buNone/>
            </a:pPr>
            <a:r>
              <a:rPr lang="ko-KR" altLang="en-US" sz="1200" b="0" dirty="0" smtClean="0">
                <a:solidFill>
                  <a:prstClr val="black"/>
                </a:solidFill>
              </a:rPr>
              <a:t>       테이블과 인덱스를 제외한 모든 부분의 체크 해제</a:t>
            </a:r>
            <a:r>
              <a:rPr lang="en-US" altLang="ko-KR" sz="1200" b="0" dirty="0" smtClean="0">
                <a:solidFill>
                  <a:prstClr val="black"/>
                </a:solidFill>
              </a:rPr>
              <a:t>-</a:t>
            </a:r>
            <a:endParaRPr lang="ko-KR" altLang="en-US" sz="1200" b="0" dirty="0"/>
          </a:p>
        </p:txBody>
      </p:sp>
      <p:sp>
        <p:nvSpPr>
          <p:cNvPr id="4" name="직사각형 3"/>
          <p:cNvSpPr/>
          <p:nvPr/>
        </p:nvSpPr>
        <p:spPr>
          <a:xfrm>
            <a:off x="1172381" y="1784709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 smtClean="0"/>
              <a:t>Database : SQL Server 2008/2012</a:t>
            </a:r>
          </a:p>
          <a:p>
            <a:r>
              <a:rPr lang="en-US" altLang="ko-KR" sz="1200" dirty="0" smtClean="0"/>
              <a:t>Authentication : Database Authentication</a:t>
            </a:r>
          </a:p>
          <a:p>
            <a:r>
              <a:rPr lang="en-US" altLang="ko-KR" sz="1200" dirty="0" smtClean="0"/>
              <a:t>User Name : </a:t>
            </a:r>
            <a:r>
              <a:rPr lang="en-US" altLang="ko-KR" sz="1200" dirty="0" err="1" smtClean="0"/>
              <a:t>mduser</a:t>
            </a:r>
            <a:endParaRPr lang="en-US" altLang="ko-KR" sz="1200" dirty="0" smtClean="0"/>
          </a:p>
          <a:p>
            <a:r>
              <a:rPr lang="en-US" altLang="ko-KR" sz="1200" dirty="0" smtClean="0"/>
              <a:t>Password : </a:t>
            </a:r>
            <a:r>
              <a:rPr lang="en-US" altLang="ko-KR" sz="1200" dirty="0" err="1" smtClean="0"/>
              <a:t>mdpass</a:t>
            </a:r>
            <a:endParaRPr lang="en-US" altLang="ko-KR" sz="1200" dirty="0" smtClean="0"/>
          </a:p>
          <a:p>
            <a:r>
              <a:rPr lang="en-US" altLang="ko-KR" sz="1200" dirty="0" smtClean="0"/>
              <a:t>Connection Type : Use Native Connection</a:t>
            </a:r>
          </a:p>
          <a:p>
            <a:r>
              <a:rPr lang="en-US" altLang="ko-KR" sz="1200" dirty="0" smtClean="0"/>
              <a:t>Server : </a:t>
            </a:r>
            <a:r>
              <a:rPr lang="en-US" altLang="ko-KR" sz="1200" dirty="0" err="1" smtClean="0"/>
              <a:t>localhost</a:t>
            </a:r>
            <a:endParaRPr lang="en-US" altLang="ko-KR" sz="1200" dirty="0" smtClean="0"/>
          </a:p>
          <a:p>
            <a:r>
              <a:rPr lang="en-US" altLang="ko-KR" sz="1200" dirty="0" smtClean="0"/>
              <a:t>Database : </a:t>
            </a:r>
            <a:r>
              <a:rPr lang="en-US" altLang="ko-KR" sz="1200" dirty="0" err="1" smtClean="0"/>
              <a:t>Madang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499992" y="288167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6-69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데이터베이스 스키마 생성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00" y="4005064"/>
            <a:ext cx="5022962" cy="27020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69862" y="6089265"/>
            <a:ext cx="1872208" cy="46884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6-70 </a:t>
            </a:r>
            <a:r>
              <a:rPr lang="en-US" altLang="ko-KR" sz="1400" b="1" dirty="0" err="1" smtClean="0">
                <a:latin typeface="돋움" pitchFamily="50" charset="-127"/>
                <a:ea typeface="돋움" pitchFamily="50" charset="-127"/>
              </a:rPr>
              <a:t>madang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데이터베이스에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추가된 테이블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05. </a:t>
            </a:r>
            <a:r>
              <a:rPr lang="ko-KR" altLang="en-US" dirty="0" smtClean="0"/>
              <a:t>모델링 연습</a:t>
            </a:r>
            <a:r>
              <a:rPr lang="en-US" altLang="ko-KR" dirty="0" smtClean="0"/>
              <a:t>(</a:t>
            </a:r>
            <a:r>
              <a:rPr lang="ko-KR" altLang="en-US" dirty="0" smtClean="0"/>
              <a:t>마당대학 데이터베이스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마당대학의 요구사항</a:t>
            </a:r>
            <a:endParaRPr lang="en-US" altLang="ko-KR" dirty="0" smtClean="0"/>
          </a:p>
          <a:p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575556" y="1412776"/>
            <a:ext cx="7992888" cy="48965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마당대학의 요구사항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55576" y="1556792"/>
            <a:ext cx="7632848" cy="459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① 교수</a:t>
            </a:r>
            <a:r>
              <a:rPr lang="en-US" altLang="ko-KR" sz="1300" dirty="0" smtClean="0">
                <a:latin typeface="+mn-ea"/>
                <a:ea typeface="+mn-ea"/>
              </a:rPr>
              <a:t>(Professor)</a:t>
            </a:r>
            <a:r>
              <a:rPr lang="ko-KR" altLang="en-US" sz="1300" dirty="0" smtClean="0">
                <a:latin typeface="+mn-ea"/>
                <a:ea typeface="+mn-ea"/>
              </a:rPr>
              <a:t>는 아이디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ssn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이름</a:t>
            </a:r>
            <a:r>
              <a:rPr lang="en-US" altLang="ko-KR" sz="1300" dirty="0" smtClean="0">
                <a:latin typeface="+mn-ea"/>
                <a:ea typeface="+mn-ea"/>
              </a:rPr>
              <a:t>(name), </a:t>
            </a:r>
            <a:r>
              <a:rPr lang="ko-KR" altLang="en-US" sz="1300" dirty="0" smtClean="0">
                <a:latin typeface="+mn-ea"/>
                <a:ea typeface="+mn-ea"/>
              </a:rPr>
              <a:t>나이</a:t>
            </a:r>
            <a:r>
              <a:rPr lang="en-US" altLang="ko-KR" sz="1300" dirty="0" smtClean="0">
                <a:latin typeface="+mn-ea"/>
                <a:ea typeface="+mn-ea"/>
              </a:rPr>
              <a:t>(age), </a:t>
            </a:r>
            <a:r>
              <a:rPr lang="ko-KR" altLang="en-US" sz="1300" dirty="0" smtClean="0">
                <a:latin typeface="+mn-ea"/>
                <a:ea typeface="+mn-ea"/>
              </a:rPr>
              <a:t>직위</a:t>
            </a:r>
            <a:r>
              <a:rPr lang="en-US" altLang="ko-KR" sz="1300" dirty="0" smtClean="0">
                <a:latin typeface="+mn-ea"/>
                <a:ea typeface="+mn-ea"/>
              </a:rPr>
              <a:t>(rank), </a:t>
            </a:r>
            <a:r>
              <a:rPr lang="ko-KR" altLang="en-US" sz="1300" dirty="0" smtClean="0">
                <a:latin typeface="+mn-ea"/>
                <a:ea typeface="+mn-ea"/>
              </a:rPr>
              <a:t>연구 분야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speciality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를 가진다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② 학과</a:t>
            </a:r>
            <a:r>
              <a:rPr lang="en-US" altLang="ko-KR" sz="1300" dirty="0" smtClean="0">
                <a:latin typeface="+mn-ea"/>
                <a:ea typeface="+mn-ea"/>
              </a:rPr>
              <a:t>(Department)</a:t>
            </a:r>
            <a:r>
              <a:rPr lang="ko-KR" altLang="en-US" sz="1300" dirty="0" smtClean="0">
                <a:latin typeface="+mn-ea"/>
                <a:ea typeface="+mn-ea"/>
              </a:rPr>
              <a:t>에는 학과번호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dno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학과이름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dname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학과사무실</a:t>
            </a:r>
            <a:r>
              <a:rPr lang="en-US" altLang="ko-KR" sz="1300" dirty="0" smtClean="0">
                <a:latin typeface="+mn-ea"/>
                <a:ea typeface="+mn-ea"/>
              </a:rPr>
              <a:t>(office)</a:t>
            </a:r>
            <a:r>
              <a:rPr lang="ko-KR" altLang="en-US" sz="1300" dirty="0" smtClean="0">
                <a:latin typeface="+mn-ea"/>
                <a:ea typeface="+mn-ea"/>
              </a:rPr>
              <a:t>이 있다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③ 대학원생</a:t>
            </a:r>
            <a:r>
              <a:rPr lang="en-US" altLang="ko-KR" sz="1300" dirty="0" smtClean="0">
                <a:latin typeface="+mn-ea"/>
                <a:ea typeface="+mn-ea"/>
              </a:rPr>
              <a:t>(Graduate)</a:t>
            </a:r>
            <a:r>
              <a:rPr lang="ko-KR" altLang="en-US" sz="1300" dirty="0" smtClean="0">
                <a:latin typeface="+mn-ea"/>
                <a:ea typeface="+mn-ea"/>
              </a:rPr>
              <a:t>은 아이디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ssn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이름</a:t>
            </a:r>
            <a:r>
              <a:rPr lang="en-US" altLang="ko-KR" sz="1300" dirty="0" smtClean="0">
                <a:latin typeface="+mn-ea"/>
                <a:ea typeface="+mn-ea"/>
              </a:rPr>
              <a:t>(name), </a:t>
            </a:r>
            <a:r>
              <a:rPr lang="ko-KR" altLang="en-US" sz="1300" dirty="0" smtClean="0">
                <a:latin typeface="+mn-ea"/>
                <a:ea typeface="+mn-ea"/>
              </a:rPr>
              <a:t>나이</a:t>
            </a:r>
            <a:r>
              <a:rPr lang="en-US" altLang="ko-KR" sz="1300" dirty="0" smtClean="0">
                <a:latin typeface="+mn-ea"/>
                <a:ea typeface="+mn-ea"/>
              </a:rPr>
              <a:t>(age), </a:t>
            </a:r>
            <a:r>
              <a:rPr lang="ko-KR" altLang="en-US" sz="1300" dirty="0" smtClean="0">
                <a:latin typeface="+mn-ea"/>
                <a:ea typeface="+mn-ea"/>
              </a:rPr>
              <a:t>학위과정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deg_prog</a:t>
            </a:r>
            <a:r>
              <a:rPr lang="en-US" altLang="ko-KR" sz="1300" dirty="0" smtClean="0">
                <a:latin typeface="+mn-ea"/>
                <a:ea typeface="+mn-ea"/>
              </a:rPr>
              <a:t>, </a:t>
            </a:r>
            <a:r>
              <a:rPr lang="ko-KR" altLang="en-US" sz="1300" dirty="0" smtClean="0">
                <a:latin typeface="+mn-ea"/>
                <a:ea typeface="+mn-ea"/>
              </a:rPr>
              <a:t>석사</a:t>
            </a:r>
            <a:r>
              <a:rPr lang="en-US" altLang="ko-KR" sz="1300" dirty="0" smtClean="0">
                <a:latin typeface="+mn-ea"/>
                <a:ea typeface="+mn-ea"/>
              </a:rPr>
              <a:t>/</a:t>
            </a:r>
            <a:r>
              <a:rPr lang="ko-KR" altLang="en-US" sz="1300" dirty="0" smtClean="0">
                <a:latin typeface="+mn-ea"/>
                <a:ea typeface="+mn-ea"/>
              </a:rPr>
              <a:t>박사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을 가진다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④ 과제</a:t>
            </a:r>
            <a:r>
              <a:rPr lang="en-US" altLang="ko-KR" sz="1300" dirty="0" smtClean="0">
                <a:latin typeface="+mn-ea"/>
                <a:ea typeface="+mn-ea"/>
              </a:rPr>
              <a:t>(Project)</a:t>
            </a:r>
            <a:r>
              <a:rPr lang="ko-KR" altLang="en-US" sz="1300" dirty="0" smtClean="0">
                <a:latin typeface="+mn-ea"/>
                <a:ea typeface="+mn-ea"/>
              </a:rPr>
              <a:t>는 과제번호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pid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지원기관</a:t>
            </a:r>
            <a:r>
              <a:rPr lang="en-US" altLang="ko-KR" sz="1300" dirty="0" smtClean="0">
                <a:latin typeface="+mn-ea"/>
                <a:ea typeface="+mn-ea"/>
              </a:rPr>
              <a:t>(sponsor), </a:t>
            </a:r>
            <a:r>
              <a:rPr lang="ko-KR" altLang="en-US" sz="1300" dirty="0" smtClean="0">
                <a:latin typeface="+mn-ea"/>
                <a:ea typeface="+mn-ea"/>
              </a:rPr>
              <a:t>개시일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start_date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종료일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end_date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예산액</a:t>
            </a:r>
            <a:r>
              <a:rPr lang="en-US" altLang="ko-KR" sz="1300" dirty="0" smtClean="0">
                <a:latin typeface="+mn-ea"/>
                <a:ea typeface="+mn-ea"/>
              </a:rPr>
              <a:t>(budget)</a:t>
            </a:r>
            <a:r>
              <a:rPr lang="ko-KR" altLang="en-US" sz="1300" dirty="0" smtClean="0">
                <a:latin typeface="+mn-ea"/>
                <a:ea typeface="+mn-ea"/>
              </a:rPr>
              <a:t>이 있다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⑤ 학과마다 그 학과를 운영</a:t>
            </a:r>
            <a:r>
              <a:rPr lang="en-US" altLang="ko-KR" sz="1300" dirty="0" smtClean="0">
                <a:latin typeface="+mn-ea"/>
                <a:ea typeface="+mn-ea"/>
              </a:rPr>
              <a:t>(run)</a:t>
            </a:r>
            <a:r>
              <a:rPr lang="ko-KR" altLang="en-US" sz="1300" dirty="0" smtClean="0">
                <a:latin typeface="+mn-ea"/>
                <a:ea typeface="+mn-ea"/>
              </a:rPr>
              <a:t>하는 교수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ko-KR" altLang="en-US" sz="1300" dirty="0" smtClean="0">
                <a:latin typeface="+mn-ea"/>
                <a:ea typeface="+mn-ea"/>
              </a:rPr>
              <a:t>학과장이라고 한다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가 한 명씩 있다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⑥ 한 교수가 여러 학과에서 근무</a:t>
            </a:r>
            <a:r>
              <a:rPr lang="en-US" altLang="ko-KR" sz="1300" dirty="0" smtClean="0">
                <a:latin typeface="+mn-ea"/>
                <a:ea typeface="+mn-ea"/>
              </a:rPr>
              <a:t>(work-dept)</a:t>
            </a:r>
            <a:r>
              <a:rPr lang="ko-KR" altLang="en-US" sz="1300" dirty="0" smtClean="0">
                <a:latin typeface="+mn-ea"/>
                <a:ea typeface="+mn-ea"/>
              </a:rPr>
              <a:t>할 수 있는데</a:t>
            </a:r>
            <a:r>
              <a:rPr lang="en-US" altLang="ko-KR" sz="1300" dirty="0" smtClean="0">
                <a:latin typeface="+mn-ea"/>
                <a:ea typeface="+mn-ea"/>
              </a:rPr>
              <a:t>, </a:t>
            </a:r>
            <a:r>
              <a:rPr lang="ko-KR" altLang="en-US" sz="1300" dirty="0" smtClean="0">
                <a:latin typeface="+mn-ea"/>
                <a:ea typeface="+mn-ea"/>
              </a:rPr>
              <a:t>이때 각 학과별로 참여백분율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pct_time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이 기록된다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⑦ 대학원생에게는 학위 과정을 밟을 전공학과</a:t>
            </a:r>
            <a:r>
              <a:rPr lang="en-US" altLang="ko-KR" sz="1300" dirty="0" smtClean="0">
                <a:latin typeface="+mn-ea"/>
                <a:ea typeface="+mn-ea"/>
              </a:rPr>
              <a:t>(major)</a:t>
            </a:r>
            <a:r>
              <a:rPr lang="ko-KR" altLang="en-US" sz="1300" dirty="0" smtClean="0">
                <a:latin typeface="+mn-ea"/>
                <a:ea typeface="+mn-ea"/>
              </a:rPr>
              <a:t>가 하나씩 있다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⑧ 대학원생에게는 어떤 과목을 들으면 좋을지 조언</a:t>
            </a:r>
            <a:r>
              <a:rPr lang="en-US" altLang="ko-KR" sz="1300" dirty="0" smtClean="0">
                <a:latin typeface="+mn-ea"/>
                <a:ea typeface="+mn-ea"/>
              </a:rPr>
              <a:t>(advisor)</a:t>
            </a:r>
            <a:r>
              <a:rPr lang="ko-KR" altLang="en-US" sz="1300" dirty="0" smtClean="0">
                <a:latin typeface="+mn-ea"/>
                <a:ea typeface="+mn-ea"/>
              </a:rPr>
              <a:t>해주는 선임 대학원생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ko-KR" altLang="en-US" sz="1300" dirty="0" smtClean="0">
                <a:latin typeface="+mn-ea"/>
                <a:ea typeface="+mn-ea"/>
              </a:rPr>
              <a:t>학생조언자라고 한다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이 있다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⑨ 과제는 한 교수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ko-KR" altLang="en-US" sz="1300" dirty="0" smtClean="0">
                <a:latin typeface="+mn-ea"/>
                <a:ea typeface="+mn-ea"/>
              </a:rPr>
              <a:t>연구책임자라고 한다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에 의해 관리</a:t>
            </a:r>
            <a:r>
              <a:rPr lang="en-US" altLang="ko-KR" sz="1300" dirty="0" smtClean="0">
                <a:latin typeface="+mn-ea"/>
                <a:ea typeface="+mn-ea"/>
              </a:rPr>
              <a:t>(manage)</a:t>
            </a:r>
            <a:r>
              <a:rPr lang="ko-KR" altLang="en-US" sz="1300" dirty="0" smtClean="0">
                <a:latin typeface="+mn-ea"/>
                <a:ea typeface="+mn-ea"/>
              </a:rPr>
              <a:t>된다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⑩ 과제는 한 사람 이상의 교수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ko-KR" altLang="en-US" sz="1300" dirty="0" smtClean="0">
                <a:latin typeface="+mn-ea"/>
                <a:ea typeface="+mn-ea"/>
              </a:rPr>
              <a:t>공동연구책임자라고 한다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에 의해 수행</a:t>
            </a:r>
            <a:r>
              <a:rPr lang="en-US" altLang="ko-KR" sz="1300" dirty="0" smtClean="0">
                <a:latin typeface="+mn-ea"/>
                <a:ea typeface="+mn-ea"/>
              </a:rPr>
              <a:t>(work-in)</a:t>
            </a:r>
            <a:r>
              <a:rPr lang="ko-KR" altLang="en-US" sz="1300" dirty="0" smtClean="0">
                <a:latin typeface="+mn-ea"/>
                <a:ea typeface="+mn-ea"/>
              </a:rPr>
              <a:t>된다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⑪ 한 과제는 한 명 이상의 대학원생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ko-KR" altLang="en-US" sz="1300" dirty="0" smtClean="0">
                <a:latin typeface="+mn-ea"/>
                <a:ea typeface="+mn-ea"/>
              </a:rPr>
              <a:t>연구조교라고 한다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에 의해 수행</a:t>
            </a:r>
            <a:r>
              <a:rPr lang="en-US" altLang="ko-KR" sz="1300" dirty="0" smtClean="0">
                <a:latin typeface="+mn-ea"/>
                <a:ea typeface="+mn-ea"/>
              </a:rPr>
              <a:t>(work-</a:t>
            </a:r>
            <a:r>
              <a:rPr lang="en-US" altLang="ko-KR" sz="1300" dirty="0" err="1" smtClean="0">
                <a:latin typeface="+mn-ea"/>
                <a:ea typeface="+mn-ea"/>
              </a:rPr>
              <a:t>prog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된다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  <a:endParaRPr lang="ko-KR" altLang="en-US" sz="13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교수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(Professor)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아이디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ssn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(name),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나이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(age),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(rank),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 분야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speciality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가진다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411760" y="2994695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Professor</a:t>
            </a:r>
          </a:p>
        </p:txBody>
      </p:sp>
      <p:sp>
        <p:nvSpPr>
          <p:cNvPr id="7" name="Oval 13"/>
          <p:cNvSpPr>
            <a:spLocks noChangeArrowheads="1"/>
          </p:cNvSpPr>
          <p:nvPr/>
        </p:nvSpPr>
        <p:spPr bwMode="auto">
          <a:xfrm>
            <a:off x="1344960" y="1700882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age</a:t>
            </a:r>
          </a:p>
        </p:txBody>
      </p:sp>
      <p:sp>
        <p:nvSpPr>
          <p:cNvPr id="8" name="Oval 15"/>
          <p:cNvSpPr>
            <a:spLocks noChangeArrowheads="1"/>
          </p:cNvSpPr>
          <p:nvPr/>
        </p:nvSpPr>
        <p:spPr bwMode="auto">
          <a:xfrm>
            <a:off x="582960" y="2108870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ssn</a:t>
            </a:r>
          </a:p>
        </p:txBody>
      </p: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2183160" y="2108870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rank</a:t>
            </a:r>
          </a:p>
        </p:txBody>
      </p:sp>
      <p:sp>
        <p:nvSpPr>
          <p:cNvPr id="10" name="Oval 17"/>
          <p:cNvSpPr>
            <a:spLocks noChangeArrowheads="1"/>
          </p:cNvSpPr>
          <p:nvPr/>
        </p:nvSpPr>
        <p:spPr bwMode="auto">
          <a:xfrm>
            <a:off x="2640360" y="1700882"/>
            <a:ext cx="12192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speciality</a:t>
            </a:r>
          </a:p>
        </p:txBody>
      </p:sp>
      <p:sp>
        <p:nvSpPr>
          <p:cNvPr id="11" name="Oval 13"/>
          <p:cNvSpPr>
            <a:spLocks noChangeArrowheads="1"/>
          </p:cNvSpPr>
          <p:nvPr/>
        </p:nvSpPr>
        <p:spPr bwMode="auto">
          <a:xfrm>
            <a:off x="952848" y="3139157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name</a:t>
            </a:r>
          </a:p>
        </p:txBody>
      </p:sp>
      <p:cxnSp>
        <p:nvCxnSpPr>
          <p:cNvPr id="12" name="직선 연결선 11"/>
          <p:cNvCxnSpPr>
            <a:stCxn id="11" idx="6"/>
            <a:endCxn id="6" idx="1"/>
          </p:cNvCxnSpPr>
          <p:nvPr/>
        </p:nvCxnSpPr>
        <p:spPr>
          <a:xfrm flipV="1">
            <a:off x="1714848" y="3232820"/>
            <a:ext cx="696912" cy="110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8" idx="5"/>
            <a:endCxn id="6" idx="1"/>
          </p:cNvCxnSpPr>
          <p:nvPr/>
        </p:nvCxnSpPr>
        <p:spPr>
          <a:xfrm>
            <a:off x="1233368" y="2458464"/>
            <a:ext cx="1178392" cy="774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7" idx="4"/>
          </p:cNvCxnSpPr>
          <p:nvPr/>
        </p:nvCxnSpPr>
        <p:spPr>
          <a:xfrm>
            <a:off x="1725960" y="2108870"/>
            <a:ext cx="685800" cy="885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9" idx="4"/>
          </p:cNvCxnSpPr>
          <p:nvPr/>
        </p:nvCxnSpPr>
        <p:spPr>
          <a:xfrm>
            <a:off x="2564160" y="2518445"/>
            <a:ext cx="189384" cy="476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>
            <a:stCxn id="10" idx="4"/>
            <a:endCxn id="6" idx="0"/>
          </p:cNvCxnSpPr>
          <p:nvPr/>
        </p:nvCxnSpPr>
        <p:spPr>
          <a:xfrm flipH="1">
            <a:off x="3021360" y="2108870"/>
            <a:ext cx="228600" cy="885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9552" y="364276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교수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(Professor)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18" name="내용 개체 틀 3"/>
          <p:cNvGraphicFramePr>
            <a:graphicFrameLocks/>
          </p:cNvGraphicFramePr>
          <p:nvPr/>
        </p:nvGraphicFramePr>
        <p:xfrm>
          <a:off x="539750" y="4149080"/>
          <a:ext cx="80645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학과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(Department)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에는 학과번호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dno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학과이름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dname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학과사무실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(office)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있다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1498104" y="4650879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 err="1"/>
              <a:t>Dept</a:t>
            </a:r>
            <a:endParaRPr lang="en-US" altLang="ko-KR" sz="1400" dirty="0"/>
          </a:p>
        </p:txBody>
      </p:sp>
      <p:sp>
        <p:nvSpPr>
          <p:cNvPr id="35" name="Line 59"/>
          <p:cNvSpPr>
            <a:spLocks noChangeShapeType="1"/>
          </p:cNvSpPr>
          <p:nvPr/>
        </p:nvSpPr>
        <p:spPr bwMode="auto">
          <a:xfrm flipH="1">
            <a:off x="964704" y="5127129"/>
            <a:ext cx="6858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6" name="Line 60"/>
          <p:cNvSpPr>
            <a:spLocks noChangeShapeType="1"/>
          </p:cNvSpPr>
          <p:nvPr/>
        </p:nvSpPr>
        <p:spPr bwMode="auto">
          <a:xfrm>
            <a:off x="2107704" y="5127129"/>
            <a:ext cx="762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7" name="Line 61"/>
          <p:cNvSpPr>
            <a:spLocks noChangeShapeType="1"/>
          </p:cNvSpPr>
          <p:nvPr/>
        </p:nvSpPr>
        <p:spPr bwMode="auto">
          <a:xfrm>
            <a:off x="2564904" y="5127129"/>
            <a:ext cx="7620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539552" y="638132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학과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(Dept)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2" name="Oval 56"/>
          <p:cNvSpPr>
            <a:spLocks noChangeArrowheads="1"/>
          </p:cNvSpPr>
          <p:nvPr/>
        </p:nvSpPr>
        <p:spPr bwMode="auto">
          <a:xfrm>
            <a:off x="583704" y="5877272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dno</a:t>
            </a:r>
          </a:p>
        </p:txBody>
      </p:sp>
      <p:sp>
        <p:nvSpPr>
          <p:cNvPr id="33" name="Oval 57"/>
          <p:cNvSpPr>
            <a:spLocks noChangeArrowheads="1"/>
          </p:cNvSpPr>
          <p:nvPr/>
        </p:nvSpPr>
        <p:spPr bwMode="auto">
          <a:xfrm>
            <a:off x="2945904" y="5877272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office</a:t>
            </a:r>
          </a:p>
        </p:txBody>
      </p:sp>
      <p:sp>
        <p:nvSpPr>
          <p:cNvPr id="34" name="Oval 58"/>
          <p:cNvSpPr>
            <a:spLocks noChangeArrowheads="1"/>
          </p:cNvSpPr>
          <p:nvPr/>
        </p:nvSpPr>
        <p:spPr bwMode="auto">
          <a:xfrm>
            <a:off x="1802904" y="5877272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dname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 대학원생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(Graduate)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은 아이디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ssn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(name),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나이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(age),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학위과정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deg_prog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석사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가진다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39552" y="357301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대학원생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(Graduate)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18" name="내용 개체 틀 3"/>
          <p:cNvGraphicFramePr>
            <a:graphicFrameLocks/>
          </p:cNvGraphicFramePr>
          <p:nvPr/>
        </p:nvGraphicFramePr>
        <p:xfrm>
          <a:off x="539750" y="4079329"/>
          <a:ext cx="80646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698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④ 과제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(Project)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과제번호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pid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지원기관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(sponsor),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개시일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start_date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end_date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예산액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(budget)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있다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39552" y="63496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과제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(Project)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668288" y="1628800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Graduate</a:t>
            </a:r>
          </a:p>
        </p:txBody>
      </p:sp>
      <p:sp>
        <p:nvSpPr>
          <p:cNvPr id="26" name="Oval 11"/>
          <p:cNvSpPr>
            <a:spLocks noChangeArrowheads="1"/>
          </p:cNvSpPr>
          <p:nvPr/>
        </p:nvSpPr>
        <p:spPr bwMode="auto">
          <a:xfrm>
            <a:off x="896888" y="2514625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ssn</a:t>
            </a:r>
          </a:p>
        </p:txBody>
      </p:sp>
      <p:sp>
        <p:nvSpPr>
          <p:cNvPr id="27" name="Oval 37"/>
          <p:cNvSpPr>
            <a:spLocks noChangeArrowheads="1"/>
          </p:cNvSpPr>
          <p:nvPr/>
        </p:nvSpPr>
        <p:spPr bwMode="auto">
          <a:xfrm>
            <a:off x="1354088" y="3059138"/>
            <a:ext cx="7620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age</a:t>
            </a:r>
          </a:p>
        </p:txBody>
      </p:sp>
      <p:sp>
        <p:nvSpPr>
          <p:cNvPr id="28" name="Oval 38"/>
          <p:cNvSpPr>
            <a:spLocks noChangeArrowheads="1"/>
          </p:cNvSpPr>
          <p:nvPr/>
        </p:nvSpPr>
        <p:spPr bwMode="auto">
          <a:xfrm>
            <a:off x="2573288" y="3059138"/>
            <a:ext cx="9906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deg_prog</a:t>
            </a:r>
          </a:p>
        </p:txBody>
      </p:sp>
      <p:sp>
        <p:nvSpPr>
          <p:cNvPr id="29" name="Oval 39"/>
          <p:cNvSpPr>
            <a:spLocks noChangeArrowheads="1"/>
          </p:cNvSpPr>
          <p:nvPr/>
        </p:nvSpPr>
        <p:spPr bwMode="auto">
          <a:xfrm>
            <a:off x="2725688" y="2514625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name</a:t>
            </a:r>
          </a:p>
        </p:txBody>
      </p:sp>
      <p:sp>
        <p:nvSpPr>
          <p:cNvPr id="30" name="Line 42"/>
          <p:cNvSpPr>
            <a:spLocks noChangeShapeType="1"/>
          </p:cNvSpPr>
          <p:nvPr/>
        </p:nvSpPr>
        <p:spPr bwMode="auto">
          <a:xfrm>
            <a:off x="1354088" y="2105050"/>
            <a:ext cx="1588" cy="409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1582688" y="2105050"/>
            <a:ext cx="228600" cy="954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" name="Line 44"/>
          <p:cNvSpPr>
            <a:spLocks noChangeShapeType="1"/>
          </p:cNvSpPr>
          <p:nvPr/>
        </p:nvSpPr>
        <p:spPr bwMode="auto">
          <a:xfrm flipH="1" flipV="1">
            <a:off x="1735088" y="2105050"/>
            <a:ext cx="914400" cy="1057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" name="Line 45"/>
          <p:cNvSpPr>
            <a:spLocks noChangeShapeType="1"/>
          </p:cNvSpPr>
          <p:nvPr/>
        </p:nvSpPr>
        <p:spPr bwMode="auto">
          <a:xfrm>
            <a:off x="1887488" y="2105050"/>
            <a:ext cx="838200" cy="61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812304" y="5804495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Project</a:t>
            </a:r>
          </a:p>
        </p:txBody>
      </p:sp>
      <p:sp>
        <p:nvSpPr>
          <p:cNvPr id="43" name="Oval 25"/>
          <p:cNvSpPr>
            <a:spLocks noChangeArrowheads="1"/>
          </p:cNvSpPr>
          <p:nvPr/>
        </p:nvSpPr>
        <p:spPr bwMode="auto">
          <a:xfrm>
            <a:off x="583704" y="4578945"/>
            <a:ext cx="7620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pid</a:t>
            </a:r>
          </a:p>
        </p:txBody>
      </p:sp>
      <p:sp>
        <p:nvSpPr>
          <p:cNvPr id="44" name="Oval 26"/>
          <p:cNvSpPr>
            <a:spLocks noChangeArrowheads="1"/>
          </p:cNvSpPr>
          <p:nvPr/>
        </p:nvSpPr>
        <p:spPr bwMode="auto">
          <a:xfrm>
            <a:off x="1193304" y="5055195"/>
            <a:ext cx="8382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sponsor</a:t>
            </a:r>
          </a:p>
        </p:txBody>
      </p:sp>
      <p:sp>
        <p:nvSpPr>
          <p:cNvPr id="45" name="Oval 27"/>
          <p:cNvSpPr>
            <a:spLocks noChangeArrowheads="1"/>
          </p:cNvSpPr>
          <p:nvPr/>
        </p:nvSpPr>
        <p:spPr bwMode="auto">
          <a:xfrm>
            <a:off x="2717304" y="4850407"/>
            <a:ext cx="9906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end_date</a:t>
            </a:r>
          </a:p>
        </p:txBody>
      </p:sp>
      <p:sp>
        <p:nvSpPr>
          <p:cNvPr id="46" name="Oval 28"/>
          <p:cNvSpPr>
            <a:spLocks noChangeArrowheads="1"/>
          </p:cNvSpPr>
          <p:nvPr/>
        </p:nvSpPr>
        <p:spPr bwMode="auto">
          <a:xfrm>
            <a:off x="1802904" y="4578945"/>
            <a:ext cx="9906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start_date</a:t>
            </a:r>
          </a:p>
        </p:txBody>
      </p:sp>
      <p:sp>
        <p:nvSpPr>
          <p:cNvPr id="47" name="Oval 29"/>
          <p:cNvSpPr>
            <a:spLocks noChangeArrowheads="1"/>
          </p:cNvSpPr>
          <p:nvPr/>
        </p:nvSpPr>
        <p:spPr bwMode="auto">
          <a:xfrm>
            <a:off x="2717304" y="5463182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budget</a:t>
            </a:r>
          </a:p>
        </p:txBody>
      </p:sp>
      <p:sp>
        <p:nvSpPr>
          <p:cNvPr id="48" name="Line 30"/>
          <p:cNvSpPr>
            <a:spLocks noChangeShapeType="1"/>
          </p:cNvSpPr>
          <p:nvPr/>
        </p:nvSpPr>
        <p:spPr bwMode="auto">
          <a:xfrm>
            <a:off x="964704" y="4986932"/>
            <a:ext cx="1588" cy="817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" name="Line 31"/>
          <p:cNvSpPr>
            <a:spLocks noChangeShapeType="1"/>
          </p:cNvSpPr>
          <p:nvPr/>
        </p:nvSpPr>
        <p:spPr bwMode="auto">
          <a:xfrm flipH="1">
            <a:off x="1421904" y="5463182"/>
            <a:ext cx="15240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0" name="Line 32"/>
          <p:cNvSpPr>
            <a:spLocks noChangeShapeType="1"/>
          </p:cNvSpPr>
          <p:nvPr/>
        </p:nvSpPr>
        <p:spPr bwMode="auto">
          <a:xfrm flipH="1">
            <a:off x="1955304" y="4986932"/>
            <a:ext cx="228600" cy="817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" name="Line 33"/>
          <p:cNvSpPr>
            <a:spLocks noChangeShapeType="1"/>
          </p:cNvSpPr>
          <p:nvPr/>
        </p:nvSpPr>
        <p:spPr bwMode="auto">
          <a:xfrm flipH="1">
            <a:off x="2031504" y="5191720"/>
            <a:ext cx="762000" cy="681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2" name="Line 34"/>
          <p:cNvSpPr>
            <a:spLocks noChangeShapeType="1"/>
          </p:cNvSpPr>
          <p:nvPr/>
        </p:nvSpPr>
        <p:spPr bwMode="auto">
          <a:xfrm flipH="1">
            <a:off x="2031504" y="5804495"/>
            <a:ext cx="76200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⑤ 학과마다 그 학과를 운영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(run)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하는 교수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학과장이라고 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한 명씩 있다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⑥ 한 교수가 여러 학과에서 근무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(work-dept)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 수 있는데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이때 각 학과별로 참여백분율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pct_time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기록된다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63" name="그룹 62"/>
          <p:cNvGrpSpPr/>
          <p:nvPr/>
        </p:nvGrpSpPr>
        <p:grpSpPr>
          <a:xfrm>
            <a:off x="611560" y="1776238"/>
            <a:ext cx="3960440" cy="4533082"/>
            <a:chOff x="611560" y="1776238"/>
            <a:chExt cx="4114800" cy="5037138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2440360" y="5043313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Dept</a:t>
              </a:r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2440360" y="3070051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/>
                <a:t>Professor</a:t>
              </a:r>
            </a:p>
          </p:txBody>
        </p:sp>
        <p:sp>
          <p:nvSpPr>
            <p:cNvPr id="27" name="Oval 9"/>
            <p:cNvSpPr>
              <a:spLocks noChangeArrowheads="1"/>
            </p:cNvSpPr>
            <p:nvPr/>
          </p:nvSpPr>
          <p:spPr bwMode="auto">
            <a:xfrm>
              <a:off x="1373560" y="1776238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age</a:t>
              </a:r>
            </a:p>
          </p:txBody>
        </p:sp>
        <p:sp>
          <p:nvSpPr>
            <p:cNvPr id="28" name="Oval 10"/>
            <p:cNvSpPr>
              <a:spLocks noChangeArrowheads="1"/>
            </p:cNvSpPr>
            <p:nvPr/>
          </p:nvSpPr>
          <p:spPr bwMode="auto">
            <a:xfrm>
              <a:off x="611560" y="2184226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/>
                <a:t>ssn</a:t>
              </a:r>
            </a:p>
          </p:txBody>
        </p:sp>
        <p:sp>
          <p:nvSpPr>
            <p:cNvPr id="29" name="Oval 11"/>
            <p:cNvSpPr>
              <a:spLocks noChangeArrowheads="1"/>
            </p:cNvSpPr>
            <p:nvPr/>
          </p:nvSpPr>
          <p:spPr bwMode="auto">
            <a:xfrm>
              <a:off x="2211760" y="2184226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/>
                <a:t>rank</a:t>
              </a:r>
            </a:p>
          </p:txBody>
        </p:sp>
        <p:sp>
          <p:nvSpPr>
            <p:cNvPr id="30" name="Oval 12"/>
            <p:cNvSpPr>
              <a:spLocks noChangeArrowheads="1"/>
            </p:cNvSpPr>
            <p:nvPr/>
          </p:nvSpPr>
          <p:spPr bwMode="auto">
            <a:xfrm>
              <a:off x="2668960" y="1776238"/>
              <a:ext cx="12192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speciality</a:t>
              </a:r>
            </a:p>
          </p:txBody>
        </p:sp>
        <p:sp>
          <p:nvSpPr>
            <p:cNvPr id="39" name="Line 13"/>
            <p:cNvSpPr>
              <a:spLocks noChangeShapeType="1"/>
            </p:cNvSpPr>
            <p:nvPr/>
          </p:nvSpPr>
          <p:spPr bwMode="auto">
            <a:xfrm>
              <a:off x="1221160" y="2593801"/>
              <a:ext cx="1219200" cy="679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0" name="Line 14"/>
            <p:cNvSpPr>
              <a:spLocks noChangeShapeType="1"/>
            </p:cNvSpPr>
            <p:nvPr/>
          </p:nvSpPr>
          <p:spPr bwMode="auto">
            <a:xfrm>
              <a:off x="1830760" y="2184226"/>
              <a:ext cx="6096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1" name="Line 15"/>
            <p:cNvSpPr>
              <a:spLocks noChangeShapeType="1"/>
            </p:cNvSpPr>
            <p:nvPr/>
          </p:nvSpPr>
          <p:spPr bwMode="auto">
            <a:xfrm>
              <a:off x="2592760" y="2593801"/>
              <a:ext cx="1588" cy="476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2" name="Line 16"/>
            <p:cNvSpPr>
              <a:spLocks noChangeShapeType="1"/>
            </p:cNvSpPr>
            <p:nvPr/>
          </p:nvSpPr>
          <p:spPr bwMode="auto">
            <a:xfrm>
              <a:off x="3278560" y="2184226"/>
              <a:ext cx="1588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3" name="Oval 36"/>
            <p:cNvSpPr>
              <a:spLocks noChangeArrowheads="1"/>
            </p:cNvSpPr>
            <p:nvPr/>
          </p:nvSpPr>
          <p:spPr bwMode="auto">
            <a:xfrm>
              <a:off x="1525960" y="6405388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/>
                <a:t>dno</a:t>
              </a: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3888160" y="6405388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office</a:t>
              </a:r>
            </a:p>
          </p:txBody>
        </p:sp>
        <p:sp>
          <p:nvSpPr>
            <p:cNvPr id="45" name="Oval 38"/>
            <p:cNvSpPr>
              <a:spLocks noChangeArrowheads="1"/>
            </p:cNvSpPr>
            <p:nvPr/>
          </p:nvSpPr>
          <p:spPr bwMode="auto">
            <a:xfrm>
              <a:off x="2745160" y="6405388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dname</a:t>
              </a:r>
            </a:p>
          </p:txBody>
        </p:sp>
        <p:sp>
          <p:nvSpPr>
            <p:cNvPr id="46" name="Line 39"/>
            <p:cNvSpPr>
              <a:spLocks noChangeShapeType="1"/>
            </p:cNvSpPr>
            <p:nvPr/>
          </p:nvSpPr>
          <p:spPr bwMode="auto">
            <a:xfrm flipH="1">
              <a:off x="1906960" y="5519563"/>
              <a:ext cx="6858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3049960" y="5519563"/>
              <a:ext cx="762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8" name="Line 41"/>
            <p:cNvSpPr>
              <a:spLocks noChangeShapeType="1"/>
            </p:cNvSpPr>
            <p:nvPr/>
          </p:nvSpPr>
          <p:spPr bwMode="auto">
            <a:xfrm>
              <a:off x="3507160" y="5519563"/>
              <a:ext cx="7620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9" name="AutoShape 55"/>
            <p:cNvSpPr>
              <a:spLocks noChangeArrowheads="1"/>
            </p:cNvSpPr>
            <p:nvPr/>
          </p:nvSpPr>
          <p:spPr bwMode="auto">
            <a:xfrm>
              <a:off x="3126160" y="4022551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smtClean="0"/>
                <a:t>run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1:1</a:t>
              </a:r>
            </a:p>
          </p:txBody>
        </p:sp>
        <p:sp>
          <p:nvSpPr>
            <p:cNvPr id="50" name="AutoShape 56"/>
            <p:cNvSpPr>
              <a:spLocks noChangeArrowheads="1"/>
            </p:cNvSpPr>
            <p:nvPr/>
          </p:nvSpPr>
          <p:spPr bwMode="auto">
            <a:xfrm>
              <a:off x="1373560" y="4022551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err="1"/>
                <a:t>work_dept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N:M</a:t>
              </a:r>
            </a:p>
          </p:txBody>
        </p:sp>
        <p:sp>
          <p:nvSpPr>
            <p:cNvPr id="51" name="Text Box 61"/>
            <p:cNvSpPr txBox="1">
              <a:spLocks noChangeArrowheads="1"/>
            </p:cNvSpPr>
            <p:nvPr/>
          </p:nvSpPr>
          <p:spPr bwMode="auto">
            <a:xfrm>
              <a:off x="1906960" y="3528838"/>
              <a:ext cx="6096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/>
                <a:t>(1,n)</a:t>
              </a:r>
            </a:p>
          </p:txBody>
        </p:sp>
        <p:sp>
          <p:nvSpPr>
            <p:cNvPr id="52" name="Text Box 62"/>
            <p:cNvSpPr txBox="1">
              <a:spLocks noChangeArrowheads="1"/>
            </p:cNvSpPr>
            <p:nvPr/>
          </p:nvSpPr>
          <p:spPr bwMode="auto">
            <a:xfrm>
              <a:off x="1830760" y="4671838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/>
                <a:t>(0,n)</a:t>
              </a:r>
            </a:p>
          </p:txBody>
        </p:sp>
        <p:sp>
          <p:nvSpPr>
            <p:cNvPr id="53" name="Text Box 63"/>
            <p:cNvSpPr txBox="1">
              <a:spLocks noChangeArrowheads="1"/>
            </p:cNvSpPr>
            <p:nvPr/>
          </p:nvSpPr>
          <p:spPr bwMode="auto">
            <a:xfrm>
              <a:off x="2973760" y="4595638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/>
                <a:t>(1,1)</a:t>
              </a:r>
            </a:p>
          </p:txBody>
        </p:sp>
        <p:sp>
          <p:nvSpPr>
            <p:cNvPr id="54" name="Text Box 64"/>
            <p:cNvSpPr txBox="1">
              <a:spLocks noChangeArrowheads="1"/>
            </p:cNvSpPr>
            <p:nvPr/>
          </p:nvSpPr>
          <p:spPr bwMode="auto">
            <a:xfrm>
              <a:off x="2973760" y="3681238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/>
                <a:t>(0,1)</a:t>
              </a:r>
            </a:p>
          </p:txBody>
        </p:sp>
        <p:sp>
          <p:nvSpPr>
            <p:cNvPr id="55" name="Oval 65"/>
            <p:cNvSpPr>
              <a:spLocks noChangeArrowheads="1"/>
            </p:cNvSpPr>
            <p:nvPr/>
          </p:nvSpPr>
          <p:spPr bwMode="auto">
            <a:xfrm>
              <a:off x="840160" y="4824238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pct_time</a:t>
              </a:r>
            </a:p>
          </p:txBody>
        </p:sp>
        <p:sp>
          <p:nvSpPr>
            <p:cNvPr id="56" name="Line 66"/>
            <p:cNvSpPr>
              <a:spLocks noChangeShapeType="1"/>
            </p:cNvSpPr>
            <p:nvPr/>
          </p:nvSpPr>
          <p:spPr bwMode="auto">
            <a:xfrm flipH="1">
              <a:off x="1297360" y="4443238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57" name="Oval 13"/>
            <p:cNvSpPr>
              <a:spLocks noChangeArrowheads="1"/>
            </p:cNvSpPr>
            <p:nvPr/>
          </p:nvSpPr>
          <p:spPr bwMode="auto">
            <a:xfrm>
              <a:off x="981448" y="3214513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name</a:t>
              </a:r>
            </a:p>
          </p:txBody>
        </p:sp>
        <p:sp>
          <p:nvSpPr>
            <p:cNvPr id="58" name="Line 19"/>
            <p:cNvSpPr>
              <a:spLocks noChangeShapeType="1"/>
            </p:cNvSpPr>
            <p:nvPr/>
          </p:nvSpPr>
          <p:spPr bwMode="auto">
            <a:xfrm flipV="1">
              <a:off x="1773610" y="3358976"/>
              <a:ext cx="649288" cy="71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cxnSp>
          <p:nvCxnSpPr>
            <p:cNvPr id="59" name="직선 연결선 58"/>
            <p:cNvCxnSpPr/>
            <p:nvPr/>
          </p:nvCxnSpPr>
          <p:spPr>
            <a:xfrm flipH="1">
              <a:off x="3469060" y="4635326"/>
              <a:ext cx="457200" cy="392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>
              <a:off x="3469060" y="3546301"/>
              <a:ext cx="457200" cy="476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 flipV="1">
              <a:off x="2173660" y="3528838"/>
              <a:ext cx="571500" cy="4937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/>
            <p:cNvCxnSpPr/>
            <p:nvPr/>
          </p:nvCxnSpPr>
          <p:spPr>
            <a:xfrm>
              <a:off x="2173660" y="4635326"/>
              <a:ext cx="495300" cy="392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/>
          <p:cNvSpPr txBox="1"/>
          <p:nvPr/>
        </p:nvSpPr>
        <p:spPr>
          <a:xfrm>
            <a:off x="539552" y="63496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6-75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운영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(run)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관계와 근무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(work-dept)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⑦ 대학원생에게는 학위 과정을 밟을 전공학과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(major)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하나씩 있다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⑧ 대학원생에게는 어떤 과목을 들으면 좋을지 조언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(advisor)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해주는 선임 대학원생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학생조언자라고 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1" name="Rectangle 3"/>
          <p:cNvSpPr>
            <a:spLocks noChangeArrowheads="1"/>
          </p:cNvSpPr>
          <p:nvPr/>
        </p:nvSpPr>
        <p:spPr bwMode="auto">
          <a:xfrm>
            <a:off x="1509092" y="2219474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Dept</a:t>
            </a:r>
          </a:p>
        </p:txBody>
      </p:sp>
      <p:sp>
        <p:nvSpPr>
          <p:cNvPr id="62" name="Oval 36"/>
          <p:cNvSpPr>
            <a:spLocks noChangeArrowheads="1"/>
          </p:cNvSpPr>
          <p:nvPr/>
        </p:nvSpPr>
        <p:spPr bwMode="auto">
          <a:xfrm>
            <a:off x="594692" y="3581549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dno</a:t>
            </a:r>
          </a:p>
        </p:txBody>
      </p:sp>
      <p:sp>
        <p:nvSpPr>
          <p:cNvPr id="63" name="Oval 37"/>
          <p:cNvSpPr>
            <a:spLocks noChangeArrowheads="1"/>
          </p:cNvSpPr>
          <p:nvPr/>
        </p:nvSpPr>
        <p:spPr bwMode="auto">
          <a:xfrm>
            <a:off x="2956892" y="3581549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office</a:t>
            </a:r>
          </a:p>
        </p:txBody>
      </p:sp>
      <p:sp>
        <p:nvSpPr>
          <p:cNvPr id="64" name="Oval 38"/>
          <p:cNvSpPr>
            <a:spLocks noChangeArrowheads="1"/>
          </p:cNvSpPr>
          <p:nvPr/>
        </p:nvSpPr>
        <p:spPr bwMode="auto">
          <a:xfrm>
            <a:off x="1813892" y="3581549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dname</a:t>
            </a:r>
          </a:p>
        </p:txBody>
      </p:sp>
      <p:sp>
        <p:nvSpPr>
          <p:cNvPr id="65" name="Line 39"/>
          <p:cNvSpPr>
            <a:spLocks noChangeShapeType="1"/>
          </p:cNvSpPr>
          <p:nvPr/>
        </p:nvSpPr>
        <p:spPr bwMode="auto">
          <a:xfrm flipH="1">
            <a:off x="975692" y="2695724"/>
            <a:ext cx="6858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6" name="Line 40"/>
          <p:cNvSpPr>
            <a:spLocks noChangeShapeType="1"/>
          </p:cNvSpPr>
          <p:nvPr/>
        </p:nvSpPr>
        <p:spPr bwMode="auto">
          <a:xfrm>
            <a:off x="2118692" y="2695724"/>
            <a:ext cx="762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7" name="Line 41"/>
          <p:cNvSpPr>
            <a:spLocks noChangeShapeType="1"/>
          </p:cNvSpPr>
          <p:nvPr/>
        </p:nvSpPr>
        <p:spPr bwMode="auto">
          <a:xfrm>
            <a:off x="2575892" y="2695724"/>
            <a:ext cx="7620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8" name="AutoShape 67"/>
          <p:cNvSpPr>
            <a:spLocks noChangeArrowheads="1"/>
          </p:cNvSpPr>
          <p:nvPr/>
        </p:nvSpPr>
        <p:spPr bwMode="auto">
          <a:xfrm>
            <a:off x="3080390" y="2151212"/>
            <a:ext cx="1524000" cy="612775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major</a:t>
            </a:r>
          </a:p>
          <a:p>
            <a:pPr algn="ctr"/>
            <a:r>
              <a:rPr lang="en-US" altLang="ko-KR" sz="1400" dirty="0"/>
              <a:t>1:N</a:t>
            </a:r>
          </a:p>
        </p:txBody>
      </p:sp>
      <p:sp>
        <p:nvSpPr>
          <p:cNvPr id="69" name="Text Box 77"/>
          <p:cNvSpPr txBox="1">
            <a:spLocks noChangeArrowheads="1"/>
          </p:cNvSpPr>
          <p:nvPr/>
        </p:nvSpPr>
        <p:spPr bwMode="auto">
          <a:xfrm>
            <a:off x="2728292" y="2533799"/>
            <a:ext cx="685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/>
              <a:t>(0,n)</a:t>
            </a:r>
          </a:p>
        </p:txBody>
      </p:sp>
      <p:sp>
        <p:nvSpPr>
          <p:cNvPr id="70" name="Text Box 78"/>
          <p:cNvSpPr txBox="1">
            <a:spLocks noChangeArrowheads="1"/>
          </p:cNvSpPr>
          <p:nvPr/>
        </p:nvSpPr>
        <p:spPr bwMode="auto">
          <a:xfrm>
            <a:off x="4404692" y="2533799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dirty="0"/>
              <a:t>(1,1)</a:t>
            </a:r>
          </a:p>
        </p:txBody>
      </p:sp>
      <p:sp>
        <p:nvSpPr>
          <p:cNvPr id="71" name="Rectangle 2"/>
          <p:cNvSpPr>
            <a:spLocks noChangeArrowheads="1"/>
          </p:cNvSpPr>
          <p:nvPr/>
        </p:nvSpPr>
        <p:spPr bwMode="auto">
          <a:xfrm>
            <a:off x="5042540" y="2219474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Graduate</a:t>
            </a:r>
          </a:p>
        </p:txBody>
      </p:sp>
      <p:sp>
        <p:nvSpPr>
          <p:cNvPr id="72" name="Oval 7"/>
          <p:cNvSpPr>
            <a:spLocks noChangeArrowheads="1"/>
          </p:cNvSpPr>
          <p:nvPr/>
        </p:nvSpPr>
        <p:spPr bwMode="auto">
          <a:xfrm>
            <a:off x="5166692" y="3105299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ssn</a:t>
            </a:r>
          </a:p>
        </p:txBody>
      </p:sp>
      <p:sp>
        <p:nvSpPr>
          <p:cNvPr id="73" name="Oval 29"/>
          <p:cNvSpPr>
            <a:spLocks noChangeArrowheads="1"/>
          </p:cNvSpPr>
          <p:nvPr/>
        </p:nvSpPr>
        <p:spPr bwMode="auto">
          <a:xfrm>
            <a:off x="5623892" y="3649812"/>
            <a:ext cx="7620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age</a:t>
            </a:r>
          </a:p>
        </p:txBody>
      </p:sp>
      <p:sp>
        <p:nvSpPr>
          <p:cNvPr id="74" name="Oval 30"/>
          <p:cNvSpPr>
            <a:spLocks noChangeArrowheads="1"/>
          </p:cNvSpPr>
          <p:nvPr/>
        </p:nvSpPr>
        <p:spPr bwMode="auto">
          <a:xfrm>
            <a:off x="6843092" y="3649812"/>
            <a:ext cx="9906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deg_prog</a:t>
            </a:r>
          </a:p>
        </p:txBody>
      </p:sp>
      <p:sp>
        <p:nvSpPr>
          <p:cNvPr id="75" name="Oval 31"/>
          <p:cNvSpPr>
            <a:spLocks noChangeArrowheads="1"/>
          </p:cNvSpPr>
          <p:nvPr/>
        </p:nvSpPr>
        <p:spPr bwMode="auto">
          <a:xfrm>
            <a:off x="6995492" y="3105299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name</a:t>
            </a:r>
          </a:p>
        </p:txBody>
      </p:sp>
      <p:sp>
        <p:nvSpPr>
          <p:cNvPr id="76" name="Line 32"/>
          <p:cNvSpPr>
            <a:spLocks noChangeShapeType="1"/>
          </p:cNvSpPr>
          <p:nvPr/>
        </p:nvSpPr>
        <p:spPr bwMode="auto">
          <a:xfrm>
            <a:off x="5623892" y="2695724"/>
            <a:ext cx="1588" cy="409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7" name="Line 33"/>
          <p:cNvSpPr>
            <a:spLocks noChangeShapeType="1"/>
          </p:cNvSpPr>
          <p:nvPr/>
        </p:nvSpPr>
        <p:spPr bwMode="auto">
          <a:xfrm>
            <a:off x="5852492" y="2695724"/>
            <a:ext cx="228600" cy="954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8" name="Line 34"/>
          <p:cNvSpPr>
            <a:spLocks noChangeShapeType="1"/>
          </p:cNvSpPr>
          <p:nvPr/>
        </p:nvSpPr>
        <p:spPr bwMode="auto">
          <a:xfrm flipH="1" flipV="1">
            <a:off x="6004892" y="2695724"/>
            <a:ext cx="914400" cy="1057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9" name="Line 35"/>
          <p:cNvSpPr>
            <a:spLocks noChangeShapeType="1"/>
          </p:cNvSpPr>
          <p:nvPr/>
        </p:nvSpPr>
        <p:spPr bwMode="auto">
          <a:xfrm>
            <a:off x="6157292" y="2695724"/>
            <a:ext cx="838200" cy="61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cxnSp>
        <p:nvCxnSpPr>
          <p:cNvPr id="80" name="직선 연결선 79"/>
          <p:cNvCxnSpPr>
            <a:stCxn id="61" idx="3"/>
            <a:endCxn id="68" idx="1"/>
          </p:cNvCxnSpPr>
          <p:nvPr/>
        </p:nvCxnSpPr>
        <p:spPr>
          <a:xfrm>
            <a:off x="2728292" y="2457599"/>
            <a:ext cx="35209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>
            <a:stCxn id="68" idx="3"/>
            <a:endCxn id="71" idx="1"/>
          </p:cNvCxnSpPr>
          <p:nvPr/>
        </p:nvCxnSpPr>
        <p:spPr>
          <a:xfrm flipV="1">
            <a:off x="4604390" y="2457599"/>
            <a:ext cx="4381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AutoShape 67"/>
          <p:cNvSpPr>
            <a:spLocks noChangeArrowheads="1"/>
          </p:cNvSpPr>
          <p:nvPr/>
        </p:nvSpPr>
        <p:spPr bwMode="auto">
          <a:xfrm>
            <a:off x="6576392" y="2151212"/>
            <a:ext cx="1524000" cy="612775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 smtClean="0"/>
              <a:t>advisor</a:t>
            </a:r>
          </a:p>
          <a:p>
            <a:pPr algn="ctr"/>
            <a:r>
              <a:rPr lang="en-US" altLang="ko-KR" sz="1400" dirty="0" smtClean="0"/>
              <a:t>1:N</a:t>
            </a:r>
            <a:endParaRPr lang="en-US" altLang="ko-KR" sz="1400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6263709" y="2313790"/>
            <a:ext cx="655583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flipV="1">
            <a:off x="6289981" y="2623850"/>
            <a:ext cx="655583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8"/>
          <p:cNvSpPr txBox="1">
            <a:spLocks noChangeArrowheads="1"/>
          </p:cNvSpPr>
          <p:nvPr/>
        </p:nvSpPr>
        <p:spPr bwMode="auto">
          <a:xfrm>
            <a:off x="6288008" y="2030671"/>
            <a:ext cx="7563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dirty="0" smtClean="0"/>
              <a:t>advise</a:t>
            </a:r>
            <a:endParaRPr lang="en-US" altLang="ko-KR" sz="1200" dirty="0"/>
          </a:p>
        </p:txBody>
      </p:sp>
      <p:sp>
        <p:nvSpPr>
          <p:cNvPr id="86" name="Text Box 78"/>
          <p:cNvSpPr txBox="1">
            <a:spLocks noChangeArrowheads="1"/>
          </p:cNvSpPr>
          <p:nvPr/>
        </p:nvSpPr>
        <p:spPr bwMode="auto">
          <a:xfrm>
            <a:off x="6377344" y="2608753"/>
            <a:ext cx="7563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dirty="0" smtClean="0"/>
              <a:t>advised</a:t>
            </a:r>
            <a:endParaRPr lang="en-US" altLang="ko-KR" sz="1200" dirty="0"/>
          </a:p>
        </p:txBody>
      </p:sp>
      <p:sp>
        <p:nvSpPr>
          <p:cNvPr id="87" name="Text Box 55"/>
          <p:cNvSpPr txBox="1">
            <a:spLocks noChangeArrowheads="1"/>
          </p:cNvSpPr>
          <p:nvPr/>
        </p:nvSpPr>
        <p:spPr bwMode="auto">
          <a:xfrm>
            <a:off x="6678864" y="1844824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dirty="0"/>
              <a:t>(0,n)</a:t>
            </a:r>
          </a:p>
        </p:txBody>
      </p:sp>
      <p:sp>
        <p:nvSpPr>
          <p:cNvPr id="88" name="Text Box 78"/>
          <p:cNvSpPr txBox="1">
            <a:spLocks noChangeArrowheads="1"/>
          </p:cNvSpPr>
          <p:nvPr/>
        </p:nvSpPr>
        <p:spPr bwMode="auto">
          <a:xfrm>
            <a:off x="6747655" y="2830661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dirty="0"/>
              <a:t>(1,1)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7544" y="4196705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전공학과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(major)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관계와 조언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(advisor)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⑨ 과제는 한 교수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연구책임자라고 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관리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(manage)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⑩ 과제는 한 사람 이상의 교수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공동연구책임자라고 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수행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(work-in)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5829300" y="3282653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Project</a:t>
            </a:r>
          </a:p>
        </p:txBody>
      </p:sp>
      <p:sp>
        <p:nvSpPr>
          <p:cNvPr id="34" name="AutoShape 5"/>
          <p:cNvSpPr>
            <a:spLocks noChangeArrowheads="1"/>
          </p:cNvSpPr>
          <p:nvPr/>
        </p:nvSpPr>
        <p:spPr bwMode="auto">
          <a:xfrm>
            <a:off x="3848100" y="2396828"/>
            <a:ext cx="1600200" cy="612775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work-in</a:t>
            </a:r>
          </a:p>
          <a:p>
            <a:pPr algn="ctr"/>
            <a:r>
              <a:rPr lang="en-US" altLang="ko-KR" sz="1400" dirty="0"/>
              <a:t>N:M</a:t>
            </a:r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auto">
          <a:xfrm>
            <a:off x="3848100" y="3214390"/>
            <a:ext cx="1600200" cy="612775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 smtClean="0"/>
              <a:t>manage</a:t>
            </a:r>
            <a:endParaRPr lang="en-US" altLang="ko-KR" sz="1400" dirty="0"/>
          </a:p>
          <a:p>
            <a:pPr algn="ctr"/>
            <a:r>
              <a:rPr lang="en-US" altLang="ko-KR" sz="1400" dirty="0"/>
              <a:t>1:N</a:t>
            </a:r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2324100" y="3282653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Professor</a:t>
            </a:r>
          </a:p>
        </p:txBody>
      </p:sp>
      <p:sp>
        <p:nvSpPr>
          <p:cNvPr id="37" name="Oval 9"/>
          <p:cNvSpPr>
            <a:spLocks noChangeArrowheads="1"/>
          </p:cNvSpPr>
          <p:nvPr/>
        </p:nvSpPr>
        <p:spPr bwMode="auto">
          <a:xfrm>
            <a:off x="1257300" y="1988840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age</a:t>
            </a:r>
          </a:p>
        </p:txBody>
      </p:sp>
      <p:sp>
        <p:nvSpPr>
          <p:cNvPr id="38" name="Oval 10"/>
          <p:cNvSpPr>
            <a:spLocks noChangeArrowheads="1"/>
          </p:cNvSpPr>
          <p:nvPr/>
        </p:nvSpPr>
        <p:spPr bwMode="auto">
          <a:xfrm>
            <a:off x="495300" y="2396828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ssn</a:t>
            </a:r>
          </a:p>
        </p:txBody>
      </p:sp>
      <p:sp>
        <p:nvSpPr>
          <p:cNvPr id="39" name="Oval 11"/>
          <p:cNvSpPr>
            <a:spLocks noChangeArrowheads="1"/>
          </p:cNvSpPr>
          <p:nvPr/>
        </p:nvSpPr>
        <p:spPr bwMode="auto">
          <a:xfrm>
            <a:off x="2095500" y="2396828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rank</a:t>
            </a:r>
          </a:p>
        </p:txBody>
      </p:sp>
      <p:sp>
        <p:nvSpPr>
          <p:cNvPr id="40" name="Oval 12"/>
          <p:cNvSpPr>
            <a:spLocks noChangeArrowheads="1"/>
          </p:cNvSpPr>
          <p:nvPr/>
        </p:nvSpPr>
        <p:spPr bwMode="auto">
          <a:xfrm>
            <a:off x="2552700" y="1988840"/>
            <a:ext cx="12192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speciality</a:t>
            </a:r>
          </a:p>
        </p:txBody>
      </p:sp>
      <p:sp>
        <p:nvSpPr>
          <p:cNvPr id="41" name="Line 13"/>
          <p:cNvSpPr>
            <a:spLocks noChangeShapeType="1"/>
          </p:cNvSpPr>
          <p:nvPr/>
        </p:nvSpPr>
        <p:spPr bwMode="auto">
          <a:xfrm>
            <a:off x="1104900" y="2806403"/>
            <a:ext cx="1219200" cy="67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2" name="Line 14"/>
          <p:cNvSpPr>
            <a:spLocks noChangeShapeType="1"/>
          </p:cNvSpPr>
          <p:nvPr/>
        </p:nvSpPr>
        <p:spPr bwMode="auto">
          <a:xfrm>
            <a:off x="1714500" y="2396828"/>
            <a:ext cx="6096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" name="Line 15"/>
          <p:cNvSpPr>
            <a:spLocks noChangeShapeType="1"/>
          </p:cNvSpPr>
          <p:nvPr/>
        </p:nvSpPr>
        <p:spPr bwMode="auto">
          <a:xfrm>
            <a:off x="2476500" y="2806403"/>
            <a:ext cx="1588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4" name="Line 16"/>
          <p:cNvSpPr>
            <a:spLocks noChangeShapeType="1"/>
          </p:cNvSpPr>
          <p:nvPr/>
        </p:nvSpPr>
        <p:spPr bwMode="auto">
          <a:xfrm>
            <a:off x="3162300" y="2396828"/>
            <a:ext cx="1588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5" name="Oval 19"/>
          <p:cNvSpPr>
            <a:spLocks noChangeArrowheads="1"/>
          </p:cNvSpPr>
          <p:nvPr/>
        </p:nvSpPr>
        <p:spPr bwMode="auto">
          <a:xfrm>
            <a:off x="5600700" y="2057103"/>
            <a:ext cx="7620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pid</a:t>
            </a:r>
          </a:p>
        </p:txBody>
      </p:sp>
      <p:sp>
        <p:nvSpPr>
          <p:cNvPr id="46" name="Oval 20"/>
          <p:cNvSpPr>
            <a:spLocks noChangeArrowheads="1"/>
          </p:cNvSpPr>
          <p:nvPr/>
        </p:nvSpPr>
        <p:spPr bwMode="auto">
          <a:xfrm>
            <a:off x="6210300" y="2533353"/>
            <a:ext cx="8382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sponsor</a:t>
            </a:r>
          </a:p>
        </p:txBody>
      </p:sp>
      <p:sp>
        <p:nvSpPr>
          <p:cNvPr id="47" name="Oval 21"/>
          <p:cNvSpPr>
            <a:spLocks noChangeArrowheads="1"/>
          </p:cNvSpPr>
          <p:nvPr/>
        </p:nvSpPr>
        <p:spPr bwMode="auto">
          <a:xfrm>
            <a:off x="7734300" y="2328565"/>
            <a:ext cx="9906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end_date</a:t>
            </a:r>
          </a:p>
        </p:txBody>
      </p:sp>
      <p:sp>
        <p:nvSpPr>
          <p:cNvPr id="48" name="Oval 22"/>
          <p:cNvSpPr>
            <a:spLocks noChangeArrowheads="1"/>
          </p:cNvSpPr>
          <p:nvPr/>
        </p:nvSpPr>
        <p:spPr bwMode="auto">
          <a:xfrm>
            <a:off x="6819900" y="2057103"/>
            <a:ext cx="9906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start_date</a:t>
            </a:r>
          </a:p>
        </p:txBody>
      </p:sp>
      <p:sp>
        <p:nvSpPr>
          <p:cNvPr id="49" name="Oval 23"/>
          <p:cNvSpPr>
            <a:spLocks noChangeArrowheads="1"/>
          </p:cNvSpPr>
          <p:nvPr/>
        </p:nvSpPr>
        <p:spPr bwMode="auto">
          <a:xfrm>
            <a:off x="7734300" y="2941340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budget</a:t>
            </a:r>
          </a:p>
        </p:txBody>
      </p:sp>
      <p:sp>
        <p:nvSpPr>
          <p:cNvPr id="50" name="Line 24"/>
          <p:cNvSpPr>
            <a:spLocks noChangeShapeType="1"/>
          </p:cNvSpPr>
          <p:nvPr/>
        </p:nvSpPr>
        <p:spPr bwMode="auto">
          <a:xfrm>
            <a:off x="5981700" y="2465090"/>
            <a:ext cx="1588" cy="817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" name="Line 25"/>
          <p:cNvSpPr>
            <a:spLocks noChangeShapeType="1"/>
          </p:cNvSpPr>
          <p:nvPr/>
        </p:nvSpPr>
        <p:spPr bwMode="auto">
          <a:xfrm flipH="1">
            <a:off x="6438900" y="2941340"/>
            <a:ext cx="15240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2" name="Line 26"/>
          <p:cNvSpPr>
            <a:spLocks noChangeShapeType="1"/>
          </p:cNvSpPr>
          <p:nvPr/>
        </p:nvSpPr>
        <p:spPr bwMode="auto">
          <a:xfrm flipH="1">
            <a:off x="6972300" y="2465090"/>
            <a:ext cx="228600" cy="817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 flipH="1">
            <a:off x="7048500" y="2669878"/>
            <a:ext cx="762000" cy="681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 flipH="1">
            <a:off x="7048500" y="3282653"/>
            <a:ext cx="76200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Box 46"/>
          <p:cNvSpPr txBox="1">
            <a:spLocks noChangeArrowheads="1"/>
          </p:cNvSpPr>
          <p:nvPr/>
        </p:nvSpPr>
        <p:spPr bwMode="auto">
          <a:xfrm>
            <a:off x="3543300" y="3589040"/>
            <a:ext cx="609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/>
              <a:t>(0,n)</a:t>
            </a:r>
          </a:p>
        </p:txBody>
      </p:sp>
      <p:sp>
        <p:nvSpPr>
          <p:cNvPr id="56" name="Text Box 47"/>
          <p:cNvSpPr txBox="1">
            <a:spLocks noChangeArrowheads="1"/>
          </p:cNvSpPr>
          <p:nvPr/>
        </p:nvSpPr>
        <p:spPr bwMode="auto">
          <a:xfrm>
            <a:off x="5219700" y="3665240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/>
              <a:t>(1,1)</a:t>
            </a:r>
          </a:p>
        </p:txBody>
      </p:sp>
      <p:sp>
        <p:nvSpPr>
          <p:cNvPr id="57" name="Text Box 48"/>
          <p:cNvSpPr txBox="1">
            <a:spLocks noChangeArrowheads="1"/>
          </p:cNvSpPr>
          <p:nvPr/>
        </p:nvSpPr>
        <p:spPr bwMode="auto">
          <a:xfrm>
            <a:off x="5067300" y="3055640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/>
              <a:t>(1,n)</a:t>
            </a:r>
          </a:p>
        </p:txBody>
      </p:sp>
      <p:sp>
        <p:nvSpPr>
          <p:cNvPr id="58" name="Text Box 49"/>
          <p:cNvSpPr txBox="1">
            <a:spLocks noChangeArrowheads="1"/>
          </p:cNvSpPr>
          <p:nvPr/>
        </p:nvSpPr>
        <p:spPr bwMode="auto">
          <a:xfrm>
            <a:off x="3543300" y="3055640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/>
              <a:t>(0,n)</a:t>
            </a:r>
          </a:p>
        </p:txBody>
      </p:sp>
      <p:sp>
        <p:nvSpPr>
          <p:cNvPr id="59" name="Oval 13"/>
          <p:cNvSpPr>
            <a:spLocks noChangeArrowheads="1"/>
          </p:cNvSpPr>
          <p:nvPr/>
        </p:nvSpPr>
        <p:spPr bwMode="auto">
          <a:xfrm>
            <a:off x="865188" y="3427115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name</a:t>
            </a:r>
          </a:p>
        </p:txBody>
      </p:sp>
      <p:sp>
        <p:nvSpPr>
          <p:cNvPr id="60" name="Line 19"/>
          <p:cNvSpPr>
            <a:spLocks noChangeShapeType="1"/>
          </p:cNvSpPr>
          <p:nvPr/>
        </p:nvSpPr>
        <p:spPr bwMode="auto">
          <a:xfrm flipV="1">
            <a:off x="1657350" y="3571578"/>
            <a:ext cx="649288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cxnSp>
        <p:nvCxnSpPr>
          <p:cNvPr id="90" name="직선 연결선 89"/>
          <p:cNvCxnSpPr/>
          <p:nvPr/>
        </p:nvCxnSpPr>
        <p:spPr>
          <a:xfrm>
            <a:off x="5448300" y="2703216"/>
            <a:ext cx="381000" cy="57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5448300" y="3520778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flipH="1">
            <a:off x="3390900" y="2703216"/>
            <a:ext cx="457200" cy="57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>
            <a:off x="3543300" y="3520778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67544" y="4196705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관리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(manage)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관계와 수행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(work-in)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⑪ 한 과제는 한 명 이상의 대학원생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연구조교라고 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수행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(work-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prog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65" name="그룹 64"/>
          <p:cNvGrpSpPr/>
          <p:nvPr/>
        </p:nvGrpSpPr>
        <p:grpSpPr>
          <a:xfrm>
            <a:off x="611560" y="1657375"/>
            <a:ext cx="3226668" cy="4608512"/>
            <a:chOff x="2857500" y="1560215"/>
            <a:chExt cx="3314700" cy="5037137"/>
          </a:xfrm>
        </p:grpSpPr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3086100" y="2785765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Project</a:t>
              </a:r>
            </a:p>
          </p:txBody>
        </p:sp>
        <p:sp>
          <p:nvSpPr>
            <p:cNvPr id="26" name="Oval 19"/>
            <p:cNvSpPr>
              <a:spLocks noChangeArrowheads="1"/>
            </p:cNvSpPr>
            <p:nvPr/>
          </p:nvSpPr>
          <p:spPr bwMode="auto">
            <a:xfrm>
              <a:off x="2857500" y="1560215"/>
              <a:ext cx="7620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pid</a:t>
              </a:r>
            </a:p>
          </p:txBody>
        </p:sp>
        <p:sp>
          <p:nvSpPr>
            <p:cNvPr id="27" name="Oval 20"/>
            <p:cNvSpPr>
              <a:spLocks noChangeArrowheads="1"/>
            </p:cNvSpPr>
            <p:nvPr/>
          </p:nvSpPr>
          <p:spPr bwMode="auto">
            <a:xfrm>
              <a:off x="3467100" y="2036465"/>
              <a:ext cx="8382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sponsor</a:t>
              </a:r>
            </a:p>
          </p:txBody>
        </p:sp>
        <p:sp>
          <p:nvSpPr>
            <p:cNvPr id="28" name="Oval 21"/>
            <p:cNvSpPr>
              <a:spLocks noChangeArrowheads="1"/>
            </p:cNvSpPr>
            <p:nvPr/>
          </p:nvSpPr>
          <p:spPr bwMode="auto">
            <a:xfrm>
              <a:off x="4991100" y="1831677"/>
              <a:ext cx="9906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end_date</a:t>
              </a:r>
            </a:p>
          </p:txBody>
        </p:sp>
        <p:sp>
          <p:nvSpPr>
            <p:cNvPr id="29" name="Oval 22"/>
            <p:cNvSpPr>
              <a:spLocks noChangeArrowheads="1"/>
            </p:cNvSpPr>
            <p:nvPr/>
          </p:nvSpPr>
          <p:spPr bwMode="auto">
            <a:xfrm>
              <a:off x="4076700" y="1560215"/>
              <a:ext cx="9906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start_date</a:t>
              </a:r>
            </a:p>
          </p:txBody>
        </p:sp>
        <p:sp>
          <p:nvSpPr>
            <p:cNvPr id="30" name="Oval 23"/>
            <p:cNvSpPr>
              <a:spLocks noChangeArrowheads="1"/>
            </p:cNvSpPr>
            <p:nvPr/>
          </p:nvSpPr>
          <p:spPr bwMode="auto">
            <a:xfrm>
              <a:off x="4991100" y="2444452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budget</a:t>
              </a:r>
            </a:p>
          </p:txBody>
        </p:sp>
        <p:sp>
          <p:nvSpPr>
            <p:cNvPr id="39" name="Line 24"/>
            <p:cNvSpPr>
              <a:spLocks noChangeShapeType="1"/>
            </p:cNvSpPr>
            <p:nvPr/>
          </p:nvSpPr>
          <p:spPr bwMode="auto">
            <a:xfrm>
              <a:off x="3238500" y="1968202"/>
              <a:ext cx="1588" cy="817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0" name="Line 25"/>
            <p:cNvSpPr>
              <a:spLocks noChangeShapeType="1"/>
            </p:cNvSpPr>
            <p:nvPr/>
          </p:nvSpPr>
          <p:spPr bwMode="auto">
            <a:xfrm flipH="1">
              <a:off x="3695700" y="2444452"/>
              <a:ext cx="152400" cy="341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1" name="Line 26"/>
            <p:cNvSpPr>
              <a:spLocks noChangeShapeType="1"/>
            </p:cNvSpPr>
            <p:nvPr/>
          </p:nvSpPr>
          <p:spPr bwMode="auto">
            <a:xfrm flipH="1">
              <a:off x="4229100" y="1968202"/>
              <a:ext cx="228600" cy="817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 flipH="1">
              <a:off x="4305300" y="2172990"/>
              <a:ext cx="762000" cy="681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3" name="Line 28"/>
            <p:cNvSpPr>
              <a:spLocks noChangeShapeType="1"/>
            </p:cNvSpPr>
            <p:nvPr/>
          </p:nvSpPr>
          <p:spPr bwMode="auto">
            <a:xfrm flipH="1">
              <a:off x="4305300" y="2785765"/>
              <a:ext cx="7620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4" name="Rectangle 2"/>
            <p:cNvSpPr>
              <a:spLocks noChangeArrowheads="1"/>
            </p:cNvSpPr>
            <p:nvPr/>
          </p:nvSpPr>
          <p:spPr bwMode="auto">
            <a:xfrm>
              <a:off x="3114348" y="4759027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Graduate</a:t>
              </a:r>
            </a:p>
          </p:txBody>
        </p:sp>
        <p:sp>
          <p:nvSpPr>
            <p:cNvPr id="45" name="Oval 7"/>
            <p:cNvSpPr>
              <a:spLocks noChangeArrowheads="1"/>
            </p:cNvSpPr>
            <p:nvPr/>
          </p:nvSpPr>
          <p:spPr bwMode="auto">
            <a:xfrm>
              <a:off x="3238500" y="5644852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ssn</a:t>
              </a:r>
            </a:p>
          </p:txBody>
        </p:sp>
        <p:sp>
          <p:nvSpPr>
            <p:cNvPr id="46" name="Oval 29"/>
            <p:cNvSpPr>
              <a:spLocks noChangeArrowheads="1"/>
            </p:cNvSpPr>
            <p:nvPr/>
          </p:nvSpPr>
          <p:spPr bwMode="auto">
            <a:xfrm>
              <a:off x="3695700" y="6189365"/>
              <a:ext cx="7620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age</a:t>
              </a:r>
            </a:p>
          </p:txBody>
        </p:sp>
        <p:sp>
          <p:nvSpPr>
            <p:cNvPr id="47" name="Oval 30"/>
            <p:cNvSpPr>
              <a:spLocks noChangeArrowheads="1"/>
            </p:cNvSpPr>
            <p:nvPr/>
          </p:nvSpPr>
          <p:spPr bwMode="auto">
            <a:xfrm>
              <a:off x="4914900" y="6189365"/>
              <a:ext cx="9906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deg_prog</a:t>
              </a:r>
            </a:p>
          </p:txBody>
        </p:sp>
        <p:sp>
          <p:nvSpPr>
            <p:cNvPr id="48" name="Oval 31"/>
            <p:cNvSpPr>
              <a:spLocks noChangeArrowheads="1"/>
            </p:cNvSpPr>
            <p:nvPr/>
          </p:nvSpPr>
          <p:spPr bwMode="auto">
            <a:xfrm>
              <a:off x="5067300" y="5644852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name</a:t>
              </a:r>
            </a:p>
          </p:txBody>
        </p:sp>
        <p:sp>
          <p:nvSpPr>
            <p:cNvPr id="49" name="Line 32"/>
            <p:cNvSpPr>
              <a:spLocks noChangeShapeType="1"/>
            </p:cNvSpPr>
            <p:nvPr/>
          </p:nvSpPr>
          <p:spPr bwMode="auto">
            <a:xfrm>
              <a:off x="3695700" y="5235277"/>
              <a:ext cx="1588" cy="409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50" name="Line 33"/>
            <p:cNvSpPr>
              <a:spLocks noChangeShapeType="1"/>
            </p:cNvSpPr>
            <p:nvPr/>
          </p:nvSpPr>
          <p:spPr bwMode="auto">
            <a:xfrm>
              <a:off x="3924300" y="5235277"/>
              <a:ext cx="228600" cy="954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51" name="Line 34"/>
            <p:cNvSpPr>
              <a:spLocks noChangeShapeType="1"/>
            </p:cNvSpPr>
            <p:nvPr/>
          </p:nvSpPr>
          <p:spPr bwMode="auto">
            <a:xfrm flipH="1" flipV="1">
              <a:off x="4076700" y="5235277"/>
              <a:ext cx="914400" cy="1057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52" name="Line 35"/>
            <p:cNvSpPr>
              <a:spLocks noChangeShapeType="1"/>
            </p:cNvSpPr>
            <p:nvPr/>
          </p:nvSpPr>
          <p:spPr bwMode="auto">
            <a:xfrm>
              <a:off x="4229100" y="5235277"/>
              <a:ext cx="838200" cy="612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53" name="AutoShape 50"/>
            <p:cNvSpPr>
              <a:spLocks noChangeArrowheads="1"/>
            </p:cNvSpPr>
            <p:nvPr/>
          </p:nvSpPr>
          <p:spPr bwMode="auto">
            <a:xfrm>
              <a:off x="2904798" y="3738265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work-</a:t>
              </a:r>
              <a:r>
                <a:rPr lang="en-US" altLang="ko-KR" sz="1100" dirty="0" err="1">
                  <a:latin typeface="+mn-ea"/>
                  <a:ea typeface="+mn-ea"/>
                </a:rPr>
                <a:t>prog</a:t>
              </a:r>
              <a:endParaRPr lang="en-US" altLang="ko-KR" sz="11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N:M</a:t>
              </a:r>
            </a:p>
          </p:txBody>
        </p:sp>
        <p:sp>
          <p:nvSpPr>
            <p:cNvPr id="54" name="Text Box 54"/>
            <p:cNvSpPr txBox="1">
              <a:spLocks noChangeArrowheads="1"/>
            </p:cNvSpPr>
            <p:nvPr/>
          </p:nvSpPr>
          <p:spPr bwMode="auto">
            <a:xfrm>
              <a:off x="3695700" y="3320752"/>
              <a:ext cx="5334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(1,n)</a:t>
              </a:r>
            </a:p>
          </p:txBody>
        </p:sp>
        <p:sp>
          <p:nvSpPr>
            <p:cNvPr id="55" name="Text Box 55"/>
            <p:cNvSpPr txBox="1">
              <a:spLocks noChangeArrowheads="1"/>
            </p:cNvSpPr>
            <p:nvPr/>
          </p:nvSpPr>
          <p:spPr bwMode="auto">
            <a:xfrm>
              <a:off x="3771900" y="4387552"/>
              <a:ext cx="5334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(0,n)</a:t>
              </a:r>
            </a:p>
          </p:txBody>
        </p:sp>
        <p:cxnSp>
          <p:nvCxnSpPr>
            <p:cNvPr id="56" name="직선 연결선 55"/>
            <p:cNvCxnSpPr>
              <a:stCxn id="25" idx="2"/>
              <a:endCxn id="53" idx="0"/>
            </p:cNvCxnSpPr>
            <p:nvPr/>
          </p:nvCxnSpPr>
          <p:spPr>
            <a:xfrm>
              <a:off x="3695700" y="3262015"/>
              <a:ext cx="9198" cy="476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>
              <a:stCxn id="44" idx="0"/>
              <a:endCxn id="53" idx="2"/>
            </p:cNvCxnSpPr>
            <p:nvPr/>
          </p:nvCxnSpPr>
          <p:spPr>
            <a:xfrm flipH="1" flipV="1">
              <a:off x="3704898" y="4351040"/>
              <a:ext cx="19050" cy="4079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AutoShape 67"/>
            <p:cNvSpPr>
              <a:spLocks noChangeArrowheads="1"/>
            </p:cNvSpPr>
            <p:nvPr/>
          </p:nvSpPr>
          <p:spPr bwMode="auto">
            <a:xfrm>
              <a:off x="4648200" y="4690765"/>
              <a:ext cx="15240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advisor</a:t>
              </a:r>
            </a:p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1:N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cxnSp>
          <p:nvCxnSpPr>
            <p:cNvPr id="59" name="직선 연결선 58"/>
            <p:cNvCxnSpPr/>
            <p:nvPr/>
          </p:nvCxnSpPr>
          <p:spPr>
            <a:xfrm flipV="1">
              <a:off x="4335517" y="4853343"/>
              <a:ext cx="655583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flipV="1">
              <a:off x="4361789" y="5163403"/>
              <a:ext cx="655583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 Box 78"/>
            <p:cNvSpPr txBox="1">
              <a:spLocks noChangeArrowheads="1"/>
            </p:cNvSpPr>
            <p:nvPr/>
          </p:nvSpPr>
          <p:spPr bwMode="auto">
            <a:xfrm>
              <a:off x="4359816" y="4570224"/>
              <a:ext cx="75638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 smtClean="0">
                  <a:latin typeface="+mn-ea"/>
                  <a:ea typeface="+mn-ea"/>
                </a:rPr>
                <a:t>advise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sp>
          <p:nvSpPr>
            <p:cNvPr id="62" name="Text Box 78"/>
            <p:cNvSpPr txBox="1">
              <a:spLocks noChangeArrowheads="1"/>
            </p:cNvSpPr>
            <p:nvPr/>
          </p:nvSpPr>
          <p:spPr bwMode="auto">
            <a:xfrm>
              <a:off x="4449152" y="5148306"/>
              <a:ext cx="75638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 smtClean="0">
                  <a:latin typeface="+mn-ea"/>
                  <a:ea typeface="+mn-ea"/>
                </a:rPr>
                <a:t>advised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sp>
          <p:nvSpPr>
            <p:cNvPr id="63" name="Text Box 55"/>
            <p:cNvSpPr txBox="1">
              <a:spLocks noChangeArrowheads="1"/>
            </p:cNvSpPr>
            <p:nvPr/>
          </p:nvSpPr>
          <p:spPr bwMode="auto">
            <a:xfrm>
              <a:off x="4750672" y="4384377"/>
              <a:ext cx="5334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64" name="Text Box 78"/>
            <p:cNvSpPr txBox="1">
              <a:spLocks noChangeArrowheads="1"/>
            </p:cNvSpPr>
            <p:nvPr/>
          </p:nvSpPr>
          <p:spPr bwMode="auto">
            <a:xfrm>
              <a:off x="4819463" y="5370214"/>
              <a:ext cx="5334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(1,1)</a:t>
              </a: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539552" y="63496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6-78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수행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(work-</a:t>
            </a:r>
            <a:r>
              <a:rPr lang="en-US" altLang="ko-KR" sz="1400" b="1" dirty="0" err="1" smtClean="0">
                <a:latin typeface="돋움" pitchFamily="50" charset="-127"/>
                <a:ea typeface="돋움" pitchFamily="50" charset="-127"/>
              </a:rPr>
              <a:t>prog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 dirty="0" smtClean="0"/>
              <a:t>요구사항에 맞게 생성된 최종 </a:t>
            </a:r>
            <a:r>
              <a:rPr lang="en-US" altLang="ko-KR" sz="1400" dirty="0" smtClean="0"/>
              <a:t>ER </a:t>
            </a:r>
            <a:r>
              <a:rPr lang="ko-KR" altLang="en-US" sz="1400" dirty="0" smtClean="0"/>
              <a:t>다이어그램</a:t>
            </a:r>
            <a:endParaRPr lang="ko-KR" altLang="en-US" sz="1400" dirty="0"/>
          </a:p>
        </p:txBody>
      </p:sp>
      <p:grpSp>
        <p:nvGrpSpPr>
          <p:cNvPr id="81" name="그룹 80"/>
          <p:cNvGrpSpPr/>
          <p:nvPr/>
        </p:nvGrpSpPr>
        <p:grpSpPr>
          <a:xfrm>
            <a:off x="609413" y="1630635"/>
            <a:ext cx="7912361" cy="4529336"/>
            <a:chOff x="476063" y="1563960"/>
            <a:chExt cx="8401237" cy="510540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2286000" y="4831035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Dept</a:t>
              </a: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5791200" y="2857773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Project</a:t>
              </a:r>
            </a:p>
          </p:txBody>
        </p:sp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3810000" y="1971948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work-in</a:t>
              </a:r>
            </a:p>
            <a:p>
              <a:pPr algn="ctr"/>
              <a:r>
                <a:rPr lang="en-US" altLang="ko-KR" sz="1100">
                  <a:latin typeface="+mn-ea"/>
                  <a:ea typeface="+mn-ea"/>
                </a:rPr>
                <a:t>N:M</a:t>
              </a:r>
            </a:p>
          </p:txBody>
        </p:sp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>
              <a:off x="3810000" y="2789510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manage</a:t>
              </a:r>
              <a:endParaRPr lang="en-US" altLang="ko-KR" sz="11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1:N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286000" y="2857773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Professor</a:t>
              </a: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238063" y="156396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age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476063" y="1971948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ssn</a:t>
              </a: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2076263" y="1971948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rank</a:t>
              </a: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2533463" y="1563960"/>
              <a:ext cx="12192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speciality</a:t>
              </a: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066800" y="2381523"/>
              <a:ext cx="1219200" cy="679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676400" y="1971948"/>
              <a:ext cx="6096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438400" y="2381523"/>
              <a:ext cx="1588" cy="476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3124200" y="1971948"/>
              <a:ext cx="1588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5581463" y="1632223"/>
              <a:ext cx="7620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pid</a:t>
              </a:r>
            </a:p>
          </p:txBody>
        </p:sp>
        <p:sp>
          <p:nvSpPr>
            <p:cNvPr id="18" name="Oval 20"/>
            <p:cNvSpPr>
              <a:spLocks noChangeArrowheads="1"/>
            </p:cNvSpPr>
            <p:nvPr/>
          </p:nvSpPr>
          <p:spPr bwMode="auto">
            <a:xfrm>
              <a:off x="6191063" y="2108473"/>
              <a:ext cx="8382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sponsor</a:t>
              </a:r>
            </a:p>
          </p:txBody>
        </p:sp>
        <p:sp>
          <p:nvSpPr>
            <p:cNvPr id="19" name="Oval 21"/>
            <p:cNvSpPr>
              <a:spLocks noChangeArrowheads="1"/>
            </p:cNvSpPr>
            <p:nvPr/>
          </p:nvSpPr>
          <p:spPr bwMode="auto">
            <a:xfrm>
              <a:off x="7696200" y="1903685"/>
              <a:ext cx="9906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end_date</a:t>
              </a:r>
            </a:p>
          </p:txBody>
        </p:sp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6800663" y="1632223"/>
              <a:ext cx="9906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start_date</a:t>
              </a:r>
            </a:p>
          </p:txBody>
        </p:sp>
        <p:sp>
          <p:nvSpPr>
            <p:cNvPr id="21" name="Oval 23"/>
            <p:cNvSpPr>
              <a:spLocks noChangeArrowheads="1"/>
            </p:cNvSpPr>
            <p:nvPr/>
          </p:nvSpPr>
          <p:spPr bwMode="auto">
            <a:xfrm>
              <a:off x="7696200" y="2516460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budget</a:t>
              </a: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>
              <a:off x="5943600" y="2040210"/>
              <a:ext cx="1588" cy="817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 flipH="1">
              <a:off x="6400800" y="2516460"/>
              <a:ext cx="152400" cy="341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24" name="Line 26"/>
            <p:cNvSpPr>
              <a:spLocks noChangeShapeType="1"/>
            </p:cNvSpPr>
            <p:nvPr/>
          </p:nvSpPr>
          <p:spPr bwMode="auto">
            <a:xfrm flipH="1">
              <a:off x="6934200" y="2040210"/>
              <a:ext cx="228600" cy="817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25" name="Line 27"/>
            <p:cNvSpPr>
              <a:spLocks noChangeShapeType="1"/>
            </p:cNvSpPr>
            <p:nvPr/>
          </p:nvSpPr>
          <p:spPr bwMode="auto">
            <a:xfrm flipH="1">
              <a:off x="7010400" y="2244998"/>
              <a:ext cx="762000" cy="681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26" name="Line 28"/>
            <p:cNvSpPr>
              <a:spLocks noChangeShapeType="1"/>
            </p:cNvSpPr>
            <p:nvPr/>
          </p:nvSpPr>
          <p:spPr bwMode="auto">
            <a:xfrm flipH="1">
              <a:off x="7010400" y="2857773"/>
              <a:ext cx="7620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27" name="Oval 36"/>
            <p:cNvSpPr>
              <a:spLocks noChangeArrowheads="1"/>
            </p:cNvSpPr>
            <p:nvPr/>
          </p:nvSpPr>
          <p:spPr bwMode="auto">
            <a:xfrm>
              <a:off x="1371600" y="619311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dno</a:t>
              </a:r>
            </a:p>
          </p:txBody>
        </p:sp>
        <p:sp>
          <p:nvSpPr>
            <p:cNvPr id="28" name="Oval 37"/>
            <p:cNvSpPr>
              <a:spLocks noChangeArrowheads="1"/>
            </p:cNvSpPr>
            <p:nvPr/>
          </p:nvSpPr>
          <p:spPr bwMode="auto">
            <a:xfrm>
              <a:off x="3733800" y="619311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office</a:t>
              </a:r>
            </a:p>
          </p:txBody>
        </p:sp>
        <p:sp>
          <p:nvSpPr>
            <p:cNvPr id="29" name="Oval 38"/>
            <p:cNvSpPr>
              <a:spLocks noChangeArrowheads="1"/>
            </p:cNvSpPr>
            <p:nvPr/>
          </p:nvSpPr>
          <p:spPr bwMode="auto">
            <a:xfrm>
              <a:off x="2590800" y="619311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dname</a:t>
              </a:r>
            </a:p>
          </p:txBody>
        </p:sp>
        <p:sp>
          <p:nvSpPr>
            <p:cNvPr id="30" name="Line 39"/>
            <p:cNvSpPr>
              <a:spLocks noChangeShapeType="1"/>
            </p:cNvSpPr>
            <p:nvPr/>
          </p:nvSpPr>
          <p:spPr bwMode="auto">
            <a:xfrm flipH="1">
              <a:off x="1752600" y="5307285"/>
              <a:ext cx="6858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31" name="Line 40"/>
            <p:cNvSpPr>
              <a:spLocks noChangeShapeType="1"/>
            </p:cNvSpPr>
            <p:nvPr/>
          </p:nvSpPr>
          <p:spPr bwMode="auto">
            <a:xfrm>
              <a:off x="2895600" y="5307285"/>
              <a:ext cx="762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32" name="Line 41"/>
            <p:cNvSpPr>
              <a:spLocks noChangeShapeType="1"/>
            </p:cNvSpPr>
            <p:nvPr/>
          </p:nvSpPr>
          <p:spPr bwMode="auto">
            <a:xfrm>
              <a:off x="3352800" y="5307285"/>
              <a:ext cx="7620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33" name="Text Box 46"/>
            <p:cNvSpPr txBox="1">
              <a:spLocks noChangeArrowheads="1"/>
            </p:cNvSpPr>
            <p:nvPr/>
          </p:nvSpPr>
          <p:spPr bwMode="auto">
            <a:xfrm>
              <a:off x="3505200" y="3164160"/>
              <a:ext cx="6096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34" name="Text Box 47"/>
            <p:cNvSpPr txBox="1">
              <a:spLocks noChangeArrowheads="1"/>
            </p:cNvSpPr>
            <p:nvPr/>
          </p:nvSpPr>
          <p:spPr bwMode="auto">
            <a:xfrm>
              <a:off x="5181600" y="32403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(1,1)</a:t>
              </a:r>
            </a:p>
          </p:txBody>
        </p:sp>
        <p:sp>
          <p:nvSpPr>
            <p:cNvPr id="35" name="Text Box 48"/>
            <p:cNvSpPr txBox="1">
              <a:spLocks noChangeArrowheads="1"/>
            </p:cNvSpPr>
            <p:nvPr/>
          </p:nvSpPr>
          <p:spPr bwMode="auto">
            <a:xfrm>
              <a:off x="5029200" y="26307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(1,n)</a:t>
              </a:r>
            </a:p>
          </p:txBody>
        </p:sp>
        <p:sp>
          <p:nvSpPr>
            <p:cNvPr id="36" name="Text Box 49"/>
            <p:cNvSpPr txBox="1">
              <a:spLocks noChangeArrowheads="1"/>
            </p:cNvSpPr>
            <p:nvPr/>
          </p:nvSpPr>
          <p:spPr bwMode="auto">
            <a:xfrm>
              <a:off x="3505200" y="26307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37" name="AutoShape 55"/>
            <p:cNvSpPr>
              <a:spLocks noChangeArrowheads="1"/>
            </p:cNvSpPr>
            <p:nvPr/>
          </p:nvSpPr>
          <p:spPr bwMode="auto">
            <a:xfrm>
              <a:off x="2971800" y="3810273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run</a:t>
              </a:r>
              <a:endParaRPr lang="en-US" altLang="ko-KR" sz="11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1:1</a:t>
              </a:r>
            </a:p>
          </p:txBody>
        </p:sp>
        <p:sp>
          <p:nvSpPr>
            <p:cNvPr id="38" name="AutoShape 56"/>
            <p:cNvSpPr>
              <a:spLocks noChangeArrowheads="1"/>
            </p:cNvSpPr>
            <p:nvPr/>
          </p:nvSpPr>
          <p:spPr bwMode="auto">
            <a:xfrm>
              <a:off x="1219200" y="3810273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work_dept</a:t>
              </a:r>
            </a:p>
            <a:p>
              <a:pPr algn="ctr"/>
              <a:r>
                <a:rPr lang="en-US" altLang="ko-KR" sz="1100">
                  <a:latin typeface="+mn-ea"/>
                  <a:ea typeface="+mn-ea"/>
                </a:rPr>
                <a:t>N:M</a:t>
              </a:r>
            </a:p>
          </p:txBody>
        </p:sp>
        <p:sp>
          <p:nvSpPr>
            <p:cNvPr id="39" name="Text Box 61"/>
            <p:cNvSpPr txBox="1">
              <a:spLocks noChangeArrowheads="1"/>
            </p:cNvSpPr>
            <p:nvPr/>
          </p:nvSpPr>
          <p:spPr bwMode="auto">
            <a:xfrm>
              <a:off x="1752600" y="3316560"/>
              <a:ext cx="6096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(1,n)</a:t>
              </a:r>
            </a:p>
          </p:txBody>
        </p:sp>
        <p:sp>
          <p:nvSpPr>
            <p:cNvPr id="40" name="Text Box 62"/>
            <p:cNvSpPr txBox="1">
              <a:spLocks noChangeArrowheads="1"/>
            </p:cNvSpPr>
            <p:nvPr/>
          </p:nvSpPr>
          <p:spPr bwMode="auto">
            <a:xfrm>
              <a:off x="1676400" y="4459560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41" name="Text Box 63"/>
            <p:cNvSpPr txBox="1">
              <a:spLocks noChangeArrowheads="1"/>
            </p:cNvSpPr>
            <p:nvPr/>
          </p:nvSpPr>
          <p:spPr bwMode="auto">
            <a:xfrm>
              <a:off x="2819400" y="43833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(1,1)</a:t>
              </a:r>
            </a:p>
          </p:txBody>
        </p:sp>
        <p:sp>
          <p:nvSpPr>
            <p:cNvPr id="42" name="Text Box 64"/>
            <p:cNvSpPr txBox="1">
              <a:spLocks noChangeArrowheads="1"/>
            </p:cNvSpPr>
            <p:nvPr/>
          </p:nvSpPr>
          <p:spPr bwMode="auto">
            <a:xfrm>
              <a:off x="2819400" y="34689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(0,1)</a:t>
              </a:r>
            </a:p>
          </p:txBody>
        </p:sp>
        <p:sp>
          <p:nvSpPr>
            <p:cNvPr id="43" name="Oval 65"/>
            <p:cNvSpPr>
              <a:spLocks noChangeArrowheads="1"/>
            </p:cNvSpPr>
            <p:nvPr/>
          </p:nvSpPr>
          <p:spPr bwMode="auto">
            <a:xfrm>
              <a:off x="685800" y="461196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pct_time</a:t>
              </a:r>
            </a:p>
          </p:txBody>
        </p:sp>
        <p:sp>
          <p:nvSpPr>
            <p:cNvPr id="44" name="Line 66"/>
            <p:cNvSpPr>
              <a:spLocks noChangeShapeType="1"/>
            </p:cNvSpPr>
            <p:nvPr/>
          </p:nvSpPr>
          <p:spPr bwMode="auto">
            <a:xfrm flipH="1">
              <a:off x="1143000" y="4230960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5" name="AutoShape 67"/>
            <p:cNvSpPr>
              <a:spLocks noChangeArrowheads="1"/>
            </p:cNvSpPr>
            <p:nvPr/>
          </p:nvSpPr>
          <p:spPr bwMode="auto">
            <a:xfrm>
              <a:off x="3857298" y="4762773"/>
              <a:ext cx="15240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major</a:t>
              </a:r>
            </a:p>
            <a:p>
              <a:pPr algn="ctr"/>
              <a:r>
                <a:rPr lang="en-US" altLang="ko-KR" sz="1100">
                  <a:latin typeface="+mn-ea"/>
                  <a:ea typeface="+mn-ea"/>
                </a:rPr>
                <a:t>1:N</a:t>
              </a:r>
            </a:p>
          </p:txBody>
        </p:sp>
        <p:sp>
          <p:nvSpPr>
            <p:cNvPr id="46" name="Text Box 77"/>
            <p:cNvSpPr txBox="1">
              <a:spLocks noChangeArrowheads="1"/>
            </p:cNvSpPr>
            <p:nvPr/>
          </p:nvSpPr>
          <p:spPr bwMode="auto">
            <a:xfrm>
              <a:off x="3505200" y="5145360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47" name="Text Box 78"/>
            <p:cNvSpPr txBox="1">
              <a:spLocks noChangeArrowheads="1"/>
            </p:cNvSpPr>
            <p:nvPr/>
          </p:nvSpPr>
          <p:spPr bwMode="auto">
            <a:xfrm>
              <a:off x="5181600" y="51453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(1,1)</a:t>
              </a:r>
            </a:p>
          </p:txBody>
        </p:sp>
        <p:sp>
          <p:nvSpPr>
            <p:cNvPr id="48" name="Oval 13"/>
            <p:cNvSpPr>
              <a:spLocks noChangeArrowheads="1"/>
            </p:cNvSpPr>
            <p:nvPr/>
          </p:nvSpPr>
          <p:spPr bwMode="auto">
            <a:xfrm>
              <a:off x="845951" y="3002235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name</a:t>
              </a:r>
            </a:p>
          </p:txBody>
        </p:sp>
        <p:sp>
          <p:nvSpPr>
            <p:cNvPr id="49" name="Line 19"/>
            <p:cNvSpPr>
              <a:spLocks noChangeShapeType="1"/>
            </p:cNvSpPr>
            <p:nvPr/>
          </p:nvSpPr>
          <p:spPr bwMode="auto">
            <a:xfrm flipV="1">
              <a:off x="1619250" y="3146698"/>
              <a:ext cx="649288" cy="71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cxnSp>
          <p:nvCxnSpPr>
            <p:cNvPr id="50" name="직선 연결선 49"/>
            <p:cNvCxnSpPr/>
            <p:nvPr/>
          </p:nvCxnSpPr>
          <p:spPr>
            <a:xfrm>
              <a:off x="5410200" y="2278336"/>
              <a:ext cx="381000" cy="5794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/>
            <p:cNvCxnSpPr/>
            <p:nvPr/>
          </p:nvCxnSpPr>
          <p:spPr>
            <a:xfrm>
              <a:off x="5410200" y="3095898"/>
              <a:ext cx="381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H="1">
              <a:off x="3352800" y="2278336"/>
              <a:ext cx="457200" cy="5794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3505200" y="3095898"/>
              <a:ext cx="3048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2"/>
            <p:cNvSpPr>
              <a:spLocks noChangeArrowheads="1"/>
            </p:cNvSpPr>
            <p:nvPr/>
          </p:nvSpPr>
          <p:spPr bwMode="auto">
            <a:xfrm>
              <a:off x="5819448" y="4831035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Graduate</a:t>
              </a:r>
            </a:p>
          </p:txBody>
        </p:sp>
        <p:sp>
          <p:nvSpPr>
            <p:cNvPr id="55" name="Oval 7"/>
            <p:cNvSpPr>
              <a:spLocks noChangeArrowheads="1"/>
            </p:cNvSpPr>
            <p:nvPr/>
          </p:nvSpPr>
          <p:spPr bwMode="auto">
            <a:xfrm>
              <a:off x="5943600" y="571686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ssn</a:t>
              </a:r>
            </a:p>
          </p:txBody>
        </p:sp>
        <p:sp>
          <p:nvSpPr>
            <p:cNvPr id="56" name="Oval 29"/>
            <p:cNvSpPr>
              <a:spLocks noChangeArrowheads="1"/>
            </p:cNvSpPr>
            <p:nvPr/>
          </p:nvSpPr>
          <p:spPr bwMode="auto">
            <a:xfrm>
              <a:off x="6400800" y="6261373"/>
              <a:ext cx="7620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age</a:t>
              </a:r>
            </a:p>
          </p:txBody>
        </p:sp>
        <p:sp>
          <p:nvSpPr>
            <p:cNvPr id="57" name="Oval 30"/>
            <p:cNvSpPr>
              <a:spLocks noChangeArrowheads="1"/>
            </p:cNvSpPr>
            <p:nvPr/>
          </p:nvSpPr>
          <p:spPr bwMode="auto">
            <a:xfrm>
              <a:off x="7620000" y="6261373"/>
              <a:ext cx="9906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deg_prog</a:t>
              </a:r>
            </a:p>
          </p:txBody>
        </p:sp>
        <p:sp>
          <p:nvSpPr>
            <p:cNvPr id="58" name="Oval 31"/>
            <p:cNvSpPr>
              <a:spLocks noChangeArrowheads="1"/>
            </p:cNvSpPr>
            <p:nvPr/>
          </p:nvSpPr>
          <p:spPr bwMode="auto">
            <a:xfrm>
              <a:off x="7772400" y="571686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name</a:t>
              </a:r>
            </a:p>
          </p:txBody>
        </p:sp>
        <p:sp>
          <p:nvSpPr>
            <p:cNvPr id="59" name="Line 32"/>
            <p:cNvSpPr>
              <a:spLocks noChangeShapeType="1"/>
            </p:cNvSpPr>
            <p:nvPr/>
          </p:nvSpPr>
          <p:spPr bwMode="auto">
            <a:xfrm>
              <a:off x="6400800" y="5307285"/>
              <a:ext cx="1588" cy="409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60" name="Line 33"/>
            <p:cNvSpPr>
              <a:spLocks noChangeShapeType="1"/>
            </p:cNvSpPr>
            <p:nvPr/>
          </p:nvSpPr>
          <p:spPr bwMode="auto">
            <a:xfrm>
              <a:off x="6629400" y="5307285"/>
              <a:ext cx="228600" cy="954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61" name="Line 34"/>
            <p:cNvSpPr>
              <a:spLocks noChangeShapeType="1"/>
            </p:cNvSpPr>
            <p:nvPr/>
          </p:nvSpPr>
          <p:spPr bwMode="auto">
            <a:xfrm flipH="1" flipV="1">
              <a:off x="6781800" y="5307285"/>
              <a:ext cx="914400" cy="1057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62" name="Line 35"/>
            <p:cNvSpPr>
              <a:spLocks noChangeShapeType="1"/>
            </p:cNvSpPr>
            <p:nvPr/>
          </p:nvSpPr>
          <p:spPr bwMode="auto">
            <a:xfrm>
              <a:off x="6934200" y="5307285"/>
              <a:ext cx="838200" cy="612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63" name="AutoShape 50"/>
            <p:cNvSpPr>
              <a:spLocks noChangeArrowheads="1"/>
            </p:cNvSpPr>
            <p:nvPr/>
          </p:nvSpPr>
          <p:spPr bwMode="auto">
            <a:xfrm>
              <a:off x="5609898" y="3810273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work-</a:t>
              </a:r>
              <a:r>
                <a:rPr lang="en-US" altLang="ko-KR" sz="1100" dirty="0" err="1">
                  <a:latin typeface="+mn-ea"/>
                  <a:ea typeface="+mn-ea"/>
                </a:rPr>
                <a:t>prog</a:t>
              </a:r>
              <a:endParaRPr lang="en-US" altLang="ko-KR" sz="11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N:M</a:t>
              </a:r>
            </a:p>
          </p:txBody>
        </p:sp>
        <p:sp>
          <p:nvSpPr>
            <p:cNvPr id="64" name="Text Box 54"/>
            <p:cNvSpPr txBox="1">
              <a:spLocks noChangeArrowheads="1"/>
            </p:cNvSpPr>
            <p:nvPr/>
          </p:nvSpPr>
          <p:spPr bwMode="auto">
            <a:xfrm>
              <a:off x="6400800" y="33927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(1,n)</a:t>
              </a:r>
            </a:p>
          </p:txBody>
        </p:sp>
        <p:sp>
          <p:nvSpPr>
            <p:cNvPr id="65" name="Text Box 55"/>
            <p:cNvSpPr txBox="1">
              <a:spLocks noChangeArrowheads="1"/>
            </p:cNvSpPr>
            <p:nvPr/>
          </p:nvSpPr>
          <p:spPr bwMode="auto">
            <a:xfrm>
              <a:off x="6477000" y="44595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(0,n)</a:t>
              </a:r>
            </a:p>
          </p:txBody>
        </p:sp>
        <p:cxnSp>
          <p:nvCxnSpPr>
            <p:cNvPr id="66" name="직선 연결선 65"/>
            <p:cNvCxnSpPr>
              <a:stCxn id="5" idx="2"/>
              <a:endCxn id="63" idx="0"/>
            </p:cNvCxnSpPr>
            <p:nvPr/>
          </p:nvCxnSpPr>
          <p:spPr>
            <a:xfrm>
              <a:off x="6400800" y="3334023"/>
              <a:ext cx="9198" cy="476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>
              <a:stCxn id="54" idx="0"/>
              <a:endCxn id="63" idx="2"/>
            </p:cNvCxnSpPr>
            <p:nvPr/>
          </p:nvCxnSpPr>
          <p:spPr>
            <a:xfrm flipH="1" flipV="1">
              <a:off x="6409998" y="4423048"/>
              <a:ext cx="19050" cy="4079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 flipH="1">
              <a:off x="3314700" y="4423048"/>
              <a:ext cx="457200" cy="392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>
              <a:off x="3314700" y="3334023"/>
              <a:ext cx="457200" cy="476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/>
            <p:cNvCxnSpPr/>
            <p:nvPr/>
          </p:nvCxnSpPr>
          <p:spPr>
            <a:xfrm flipV="1">
              <a:off x="2019300" y="3316560"/>
              <a:ext cx="571500" cy="4937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2019300" y="4423048"/>
              <a:ext cx="495300" cy="392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>
              <a:stCxn id="4" idx="3"/>
              <a:endCxn id="45" idx="1"/>
            </p:cNvCxnSpPr>
            <p:nvPr/>
          </p:nvCxnSpPr>
          <p:spPr>
            <a:xfrm>
              <a:off x="3505200" y="5069160"/>
              <a:ext cx="35209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/>
            <p:cNvCxnSpPr>
              <a:stCxn id="45" idx="3"/>
              <a:endCxn id="54" idx="1"/>
            </p:cNvCxnSpPr>
            <p:nvPr/>
          </p:nvCxnSpPr>
          <p:spPr>
            <a:xfrm flipV="1">
              <a:off x="5381298" y="5069160"/>
              <a:ext cx="438150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AutoShape 67"/>
            <p:cNvSpPr>
              <a:spLocks noChangeArrowheads="1"/>
            </p:cNvSpPr>
            <p:nvPr/>
          </p:nvSpPr>
          <p:spPr bwMode="auto">
            <a:xfrm>
              <a:off x="7353300" y="4762773"/>
              <a:ext cx="15240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advisor</a:t>
              </a:r>
            </a:p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1:N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cxnSp>
          <p:nvCxnSpPr>
            <p:cNvPr id="75" name="직선 연결선 74"/>
            <p:cNvCxnSpPr/>
            <p:nvPr/>
          </p:nvCxnSpPr>
          <p:spPr>
            <a:xfrm flipV="1">
              <a:off x="7040617" y="4925351"/>
              <a:ext cx="655583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 flipV="1">
              <a:off x="7066889" y="5235411"/>
              <a:ext cx="655583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 Box 78"/>
            <p:cNvSpPr txBox="1">
              <a:spLocks noChangeArrowheads="1"/>
            </p:cNvSpPr>
            <p:nvPr/>
          </p:nvSpPr>
          <p:spPr bwMode="auto">
            <a:xfrm>
              <a:off x="7064916" y="4642232"/>
              <a:ext cx="75638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 smtClean="0">
                  <a:latin typeface="+mn-ea"/>
                  <a:ea typeface="+mn-ea"/>
                </a:rPr>
                <a:t>advise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sp>
          <p:nvSpPr>
            <p:cNvPr id="78" name="Text Box 78"/>
            <p:cNvSpPr txBox="1">
              <a:spLocks noChangeArrowheads="1"/>
            </p:cNvSpPr>
            <p:nvPr/>
          </p:nvSpPr>
          <p:spPr bwMode="auto">
            <a:xfrm>
              <a:off x="7154252" y="5220314"/>
              <a:ext cx="75638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 smtClean="0">
                  <a:latin typeface="+mn-ea"/>
                  <a:ea typeface="+mn-ea"/>
                </a:rPr>
                <a:t>advised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sp>
          <p:nvSpPr>
            <p:cNvPr id="79" name="Text Box 55"/>
            <p:cNvSpPr txBox="1">
              <a:spLocks noChangeArrowheads="1"/>
            </p:cNvSpPr>
            <p:nvPr/>
          </p:nvSpPr>
          <p:spPr bwMode="auto">
            <a:xfrm>
              <a:off x="7455772" y="4456385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80" name="Text Box 78"/>
            <p:cNvSpPr txBox="1">
              <a:spLocks noChangeArrowheads="1"/>
            </p:cNvSpPr>
            <p:nvPr/>
          </p:nvSpPr>
          <p:spPr bwMode="auto">
            <a:xfrm>
              <a:off x="7524563" y="5442222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(1,1)</a:t>
              </a: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539552" y="63496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마당대학의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980728"/>
            <a:ext cx="8064896" cy="5577383"/>
          </a:xfrm>
        </p:spPr>
        <p:txBody>
          <a:bodyPr/>
          <a:lstStyle/>
          <a:p>
            <a:r>
              <a:rPr lang="ko-KR" altLang="en-US" sz="1400" dirty="0" smtClean="0"/>
              <a:t>관계 데이터 모델로 변환한 마당대학의 </a:t>
            </a:r>
            <a:r>
              <a:rPr lang="en-US" altLang="ko-KR" sz="1400" dirty="0" smtClean="0"/>
              <a:t>ER </a:t>
            </a:r>
            <a:r>
              <a:rPr lang="ko-KR" altLang="en-US" sz="1400" dirty="0" smtClean="0"/>
              <a:t>다이어그램</a:t>
            </a:r>
            <a:endParaRPr lang="ko-KR" altLang="en-US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768152" y="1340768"/>
            <a:ext cx="7980312" cy="52184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 dirty="0" smtClean="0">
                <a:latin typeface="+mn-ea"/>
                <a:ea typeface="+mn-ea"/>
              </a:rPr>
              <a:t>[</a:t>
            </a:r>
            <a:r>
              <a:rPr lang="ko-KR" altLang="en-US" sz="1400" b="1" dirty="0" smtClean="0">
                <a:latin typeface="+mn-ea"/>
                <a:ea typeface="+mn-ea"/>
              </a:rPr>
              <a:t>개체</a:t>
            </a:r>
            <a:r>
              <a:rPr lang="en-US" altLang="ko-KR" sz="1400" b="1" dirty="0" smtClean="0">
                <a:latin typeface="+mn-ea"/>
                <a:ea typeface="+mn-ea"/>
              </a:rPr>
              <a:t>]</a:t>
            </a: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Professor(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name, age, rank,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speciality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</a:t>
            </a: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Dept(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dno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dname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office,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runprofessorssn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runprofessorssn</a:t>
            </a:r>
            <a:r>
              <a:rPr lang="en-US" altLang="ko-KR" sz="1400" dirty="0" smtClean="0">
                <a:latin typeface="+mn-ea"/>
                <a:ea typeface="+mn-ea"/>
              </a:rPr>
              <a:t> : Professor(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외래키로</a:t>
            </a:r>
            <a:r>
              <a:rPr lang="en-US" altLang="ko-KR" sz="1400" dirty="0" smtClean="0">
                <a:latin typeface="+mn-ea"/>
                <a:ea typeface="+mn-ea"/>
              </a:rPr>
              <a:t>, ⑤</a:t>
            </a:r>
            <a:r>
              <a:rPr lang="ko-KR" altLang="en-US" sz="1400" dirty="0" smtClean="0">
                <a:latin typeface="+mn-ea"/>
                <a:ea typeface="+mn-ea"/>
              </a:rPr>
              <a:t>번 요구사항의 </a:t>
            </a:r>
            <a:r>
              <a:rPr lang="en-US" altLang="ko-KR" sz="1400" dirty="0" smtClean="0">
                <a:latin typeface="+mn-ea"/>
                <a:ea typeface="+mn-ea"/>
              </a:rPr>
              <a:t>run(1:1) </a:t>
            </a:r>
            <a:r>
              <a:rPr lang="ko-KR" altLang="en-US" sz="1400" dirty="0" smtClean="0">
                <a:latin typeface="+mn-ea"/>
                <a:ea typeface="+mn-ea"/>
              </a:rPr>
              <a:t>관계를 표현</a:t>
            </a:r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Graduate(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name, age,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deg_prog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dno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graduatessn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dno</a:t>
            </a:r>
            <a:r>
              <a:rPr lang="en-US" altLang="ko-KR" sz="1400" dirty="0" smtClean="0">
                <a:latin typeface="+mn-ea"/>
                <a:ea typeface="+mn-ea"/>
              </a:rPr>
              <a:t> : Dept(</a:t>
            </a:r>
            <a:r>
              <a:rPr lang="en-US" altLang="ko-KR" sz="1400" dirty="0" err="1" smtClean="0">
                <a:latin typeface="+mn-ea"/>
                <a:ea typeface="+mn-ea"/>
              </a:rPr>
              <a:t>dno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를 참조하는 </a:t>
            </a:r>
            <a:r>
              <a:rPr lang="ko-KR" altLang="en-US" sz="1400" dirty="0" err="1" smtClean="0">
                <a:latin typeface="+mn-ea"/>
                <a:ea typeface="+mn-ea"/>
              </a:rPr>
              <a:t>외래키로</a:t>
            </a:r>
            <a:r>
              <a:rPr lang="en-US" altLang="ko-KR" sz="1400" dirty="0" smtClean="0">
                <a:latin typeface="+mn-ea"/>
                <a:ea typeface="+mn-ea"/>
              </a:rPr>
              <a:t>, ⑦</a:t>
            </a:r>
            <a:r>
              <a:rPr lang="ko-KR" altLang="en-US" sz="1400" dirty="0" smtClean="0">
                <a:latin typeface="+mn-ea"/>
                <a:ea typeface="+mn-ea"/>
              </a:rPr>
              <a:t>번 요구사항 </a:t>
            </a:r>
            <a:r>
              <a:rPr lang="en-US" altLang="ko-KR" sz="1400" dirty="0" smtClean="0">
                <a:latin typeface="+mn-ea"/>
                <a:ea typeface="+mn-ea"/>
              </a:rPr>
              <a:t>major(1:N) </a:t>
            </a:r>
            <a:r>
              <a:rPr lang="ko-KR" altLang="en-US" sz="1400" dirty="0" smtClean="0">
                <a:latin typeface="+mn-ea"/>
                <a:ea typeface="+mn-ea"/>
              </a:rPr>
              <a:t>관계를 표현</a:t>
            </a:r>
            <a:endParaRPr lang="en-US" altLang="ko-KR" sz="1400" dirty="0" smtClean="0">
              <a:latin typeface="+mn-ea"/>
              <a:ea typeface="+mn-ea"/>
            </a:endParaRPr>
          </a:p>
          <a:p>
            <a:pPr algn="just"/>
            <a:r>
              <a:rPr lang="en-US" altLang="ko-KR" sz="1400" dirty="0" err="1" smtClean="0">
                <a:latin typeface="+mn-ea"/>
                <a:ea typeface="+mn-ea"/>
              </a:rPr>
              <a:t>graduatessn</a:t>
            </a:r>
            <a:r>
              <a:rPr lang="en-US" altLang="ko-KR" sz="1400" dirty="0" smtClean="0">
                <a:latin typeface="+mn-ea"/>
                <a:ea typeface="+mn-ea"/>
              </a:rPr>
              <a:t> : Graduate(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외래키로</a:t>
            </a:r>
            <a:r>
              <a:rPr lang="en-US" altLang="ko-KR" sz="1400" dirty="0" smtClean="0">
                <a:latin typeface="+mn-ea"/>
                <a:ea typeface="+mn-ea"/>
              </a:rPr>
              <a:t>, ⑧</a:t>
            </a:r>
            <a:r>
              <a:rPr lang="ko-KR" altLang="en-US" sz="1400" dirty="0" smtClean="0">
                <a:latin typeface="+mn-ea"/>
                <a:ea typeface="+mn-ea"/>
              </a:rPr>
              <a:t>번 요구사항 </a:t>
            </a:r>
            <a:r>
              <a:rPr lang="en-US" altLang="ko-KR" sz="1400" dirty="0" smtClean="0">
                <a:latin typeface="+mn-ea"/>
                <a:ea typeface="+mn-ea"/>
              </a:rPr>
              <a:t>advisor(1:N) </a:t>
            </a:r>
            <a:r>
              <a:rPr lang="ko-KR" altLang="en-US" sz="1400" dirty="0" smtClean="0">
                <a:latin typeface="+mn-ea"/>
                <a:ea typeface="+mn-ea"/>
              </a:rPr>
              <a:t>관계를 표현</a:t>
            </a:r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Project(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pid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sponsor,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start_date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end_date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budget,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managessn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managessn</a:t>
            </a:r>
            <a:r>
              <a:rPr lang="en-US" altLang="ko-KR" sz="1400" dirty="0" smtClean="0">
                <a:latin typeface="+mn-ea"/>
                <a:ea typeface="+mn-ea"/>
              </a:rPr>
              <a:t> : Professor(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외래키로</a:t>
            </a:r>
            <a:r>
              <a:rPr lang="en-US" altLang="ko-KR" sz="1400" dirty="0" smtClean="0">
                <a:latin typeface="+mn-ea"/>
                <a:ea typeface="+mn-ea"/>
              </a:rPr>
              <a:t>, ⑨</a:t>
            </a:r>
            <a:r>
              <a:rPr lang="ko-KR" altLang="en-US" sz="1400" dirty="0" smtClean="0">
                <a:latin typeface="+mn-ea"/>
                <a:ea typeface="+mn-ea"/>
              </a:rPr>
              <a:t>번 요구사항 </a:t>
            </a:r>
            <a:r>
              <a:rPr lang="en-US" altLang="ko-KR" sz="1400" dirty="0" smtClean="0">
                <a:latin typeface="+mn-ea"/>
                <a:ea typeface="+mn-ea"/>
              </a:rPr>
              <a:t>manage(1:N) </a:t>
            </a:r>
            <a:r>
              <a:rPr lang="ko-KR" altLang="en-US" sz="1400" dirty="0" smtClean="0">
                <a:latin typeface="+mn-ea"/>
                <a:ea typeface="+mn-ea"/>
              </a:rPr>
              <a:t>관계를 표현</a:t>
            </a:r>
            <a:endParaRPr lang="en-US" altLang="ko-KR" sz="1400" dirty="0" smtClean="0">
              <a:latin typeface="+mn-ea"/>
              <a:ea typeface="+mn-ea"/>
            </a:endParaRPr>
          </a:p>
          <a:p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b="1" dirty="0" smtClean="0">
                <a:latin typeface="+mn-ea"/>
                <a:ea typeface="+mn-ea"/>
              </a:rPr>
              <a:t>[</a:t>
            </a:r>
            <a:r>
              <a:rPr lang="ko-KR" altLang="en-US" sz="1400" b="1" dirty="0" smtClean="0">
                <a:latin typeface="+mn-ea"/>
                <a:ea typeface="+mn-ea"/>
              </a:rPr>
              <a:t>관계</a:t>
            </a:r>
            <a:r>
              <a:rPr lang="en-US" altLang="ko-KR" sz="1400" b="1" dirty="0" smtClean="0">
                <a:latin typeface="+mn-ea"/>
                <a:ea typeface="+mn-ea"/>
              </a:rPr>
              <a:t>] - </a:t>
            </a:r>
            <a:r>
              <a:rPr lang="en-US" altLang="ko-KR" sz="1400" dirty="0" smtClean="0">
                <a:latin typeface="+mn-ea"/>
                <a:ea typeface="+mn-ea"/>
              </a:rPr>
              <a:t>N:M </a:t>
            </a:r>
            <a:r>
              <a:rPr lang="ko-KR" altLang="en-US" sz="1400" dirty="0" smtClean="0">
                <a:latin typeface="+mn-ea"/>
                <a:ea typeface="+mn-ea"/>
              </a:rPr>
              <a:t>관계일 경우 교차 테이블을 생성한다</a:t>
            </a:r>
            <a:r>
              <a:rPr lang="en-US" altLang="ko-KR" sz="1400" dirty="0" smtClean="0">
                <a:latin typeface="+mn-ea"/>
                <a:ea typeface="+mn-ea"/>
              </a:rPr>
              <a:t>.</a:t>
            </a: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work-dept(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professorssn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dno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pct_time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 </a:t>
            </a:r>
            <a:r>
              <a:rPr lang="en-US" altLang="ko-KR" sz="1400" dirty="0" smtClean="0">
                <a:latin typeface="+mn-ea"/>
                <a:ea typeface="+mn-ea"/>
              </a:rPr>
              <a:t>/* </a:t>
            </a:r>
            <a:r>
              <a:rPr lang="ko-KR" altLang="en-US" sz="1400" dirty="0" smtClean="0">
                <a:latin typeface="+mn-ea"/>
                <a:ea typeface="+mn-ea"/>
              </a:rPr>
              <a:t>교수의 학과 참여 *</a:t>
            </a:r>
            <a:r>
              <a:rPr lang="en-US" altLang="ko-KR" sz="1400" dirty="0" smtClean="0">
                <a:latin typeface="+mn-ea"/>
                <a:ea typeface="+mn-ea"/>
              </a:rPr>
              <a:t>/</a:t>
            </a:r>
          </a:p>
          <a:p>
            <a:r>
              <a:rPr lang="ko-KR" altLang="en-US" sz="1400" dirty="0" smtClean="0">
                <a:latin typeface="+mn-ea"/>
                <a:ea typeface="+mn-ea"/>
              </a:rPr>
              <a:t>⑥번 요구사항의 </a:t>
            </a:r>
            <a:r>
              <a:rPr lang="en-US" altLang="ko-KR" sz="1400" dirty="0" smtClean="0">
                <a:latin typeface="+mn-ea"/>
                <a:ea typeface="+mn-ea"/>
              </a:rPr>
              <a:t>work-dept(N:M) </a:t>
            </a:r>
            <a:r>
              <a:rPr lang="ko-KR" altLang="en-US" sz="1400" dirty="0" smtClean="0">
                <a:latin typeface="+mn-ea"/>
                <a:ea typeface="+mn-ea"/>
              </a:rPr>
              <a:t>관계를 표현하기 위한 교차 테이블이다</a:t>
            </a:r>
            <a:r>
              <a:rPr lang="en-US" altLang="ko-KR" sz="1400" dirty="0" smtClean="0">
                <a:latin typeface="+mn-ea"/>
                <a:ea typeface="+mn-ea"/>
              </a:rPr>
              <a:t>. 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professorssn</a:t>
            </a:r>
            <a:r>
              <a:rPr lang="ko-KR" altLang="en-US" sz="1400" dirty="0" smtClean="0">
                <a:latin typeface="+mn-ea"/>
                <a:ea typeface="+mn-ea"/>
              </a:rPr>
              <a:t>은 </a:t>
            </a:r>
            <a:r>
              <a:rPr lang="en-US" altLang="ko-KR" sz="1400" dirty="0" smtClean="0">
                <a:latin typeface="+mn-ea"/>
                <a:ea typeface="+mn-ea"/>
              </a:rPr>
              <a:t>Professor(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외래키이고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en-US" altLang="ko-KR" sz="1400" dirty="0" err="1" smtClean="0">
                <a:latin typeface="+mn-ea"/>
                <a:ea typeface="+mn-ea"/>
              </a:rPr>
              <a:t>dno</a:t>
            </a:r>
            <a:r>
              <a:rPr lang="ko-KR" altLang="en-US" sz="1400" dirty="0" smtClean="0">
                <a:latin typeface="+mn-ea"/>
                <a:ea typeface="+mn-ea"/>
              </a:rPr>
              <a:t>는 </a:t>
            </a:r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dirty="0" smtClean="0">
                <a:latin typeface="+mn-ea"/>
                <a:ea typeface="+mn-ea"/>
              </a:rPr>
              <a:t>Dept(</a:t>
            </a:r>
            <a:r>
              <a:rPr lang="en-US" altLang="ko-KR" sz="1400" dirty="0" err="1" smtClean="0">
                <a:latin typeface="+mn-ea"/>
                <a:ea typeface="+mn-ea"/>
              </a:rPr>
              <a:t>dno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를 참조하는 </a:t>
            </a:r>
            <a:r>
              <a:rPr lang="ko-KR" altLang="en-US" sz="1400" dirty="0" err="1" smtClean="0">
                <a:latin typeface="+mn-ea"/>
                <a:ea typeface="+mn-ea"/>
              </a:rPr>
              <a:t>외래키이다</a:t>
            </a:r>
            <a:r>
              <a:rPr lang="en-US" altLang="ko-KR" sz="1400" dirty="0" smtClean="0">
                <a:latin typeface="+mn-ea"/>
                <a:ea typeface="+mn-ea"/>
              </a:rPr>
              <a:t>. </a:t>
            </a:r>
            <a:r>
              <a:rPr lang="en-US" altLang="ko-KR" sz="1400" dirty="0" err="1" smtClean="0">
                <a:latin typeface="+mn-ea"/>
                <a:ea typeface="+mn-ea"/>
              </a:rPr>
              <a:t>pct_time</a:t>
            </a:r>
            <a:r>
              <a:rPr lang="ko-KR" altLang="en-US" sz="1400" dirty="0" smtClean="0">
                <a:latin typeface="+mn-ea"/>
                <a:ea typeface="+mn-ea"/>
              </a:rPr>
              <a:t>은 관계에 포함된 속성이다</a:t>
            </a:r>
            <a:r>
              <a:rPr lang="en-US" altLang="ko-KR" sz="1400" dirty="0" smtClean="0">
                <a:latin typeface="+mn-ea"/>
                <a:ea typeface="+mn-ea"/>
              </a:rPr>
              <a:t>.</a:t>
            </a: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work-in(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professorssn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pid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 </a:t>
            </a:r>
            <a:r>
              <a:rPr lang="en-US" altLang="ko-KR" sz="1400" dirty="0" smtClean="0">
                <a:latin typeface="+mn-ea"/>
                <a:ea typeface="+mn-ea"/>
              </a:rPr>
              <a:t>/* </a:t>
            </a:r>
            <a:r>
              <a:rPr lang="ko-KR" altLang="en-US" sz="1400" dirty="0" smtClean="0">
                <a:latin typeface="+mn-ea"/>
                <a:ea typeface="+mn-ea"/>
              </a:rPr>
              <a:t>교수의 과제 수행 *</a:t>
            </a:r>
            <a:r>
              <a:rPr lang="en-US" altLang="ko-KR" sz="1400" dirty="0" smtClean="0">
                <a:latin typeface="+mn-ea"/>
                <a:ea typeface="+mn-ea"/>
              </a:rPr>
              <a:t>/</a:t>
            </a:r>
          </a:p>
          <a:p>
            <a:r>
              <a:rPr lang="ko-KR" altLang="en-US" sz="1400" dirty="0" smtClean="0">
                <a:latin typeface="+mn-ea"/>
                <a:ea typeface="+mn-ea"/>
              </a:rPr>
              <a:t>⑩번 요구사항의 </a:t>
            </a:r>
            <a:r>
              <a:rPr lang="en-US" altLang="ko-KR" sz="1400" dirty="0" smtClean="0">
                <a:latin typeface="+mn-ea"/>
                <a:ea typeface="+mn-ea"/>
              </a:rPr>
              <a:t>work-in(N:M) </a:t>
            </a:r>
            <a:r>
              <a:rPr lang="ko-KR" altLang="en-US" sz="1400" dirty="0" smtClean="0">
                <a:latin typeface="+mn-ea"/>
                <a:ea typeface="+mn-ea"/>
              </a:rPr>
              <a:t>관계를 표현하기 위한 교차 테이블이다</a:t>
            </a:r>
            <a:r>
              <a:rPr lang="en-US" altLang="ko-KR" sz="1400" dirty="0" smtClean="0">
                <a:latin typeface="+mn-ea"/>
                <a:ea typeface="+mn-ea"/>
              </a:rPr>
              <a:t>. 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professorssn</a:t>
            </a:r>
            <a:r>
              <a:rPr lang="ko-KR" altLang="en-US" sz="1400" dirty="0" smtClean="0">
                <a:latin typeface="+mn-ea"/>
                <a:ea typeface="+mn-ea"/>
              </a:rPr>
              <a:t>은 </a:t>
            </a:r>
            <a:r>
              <a:rPr lang="en-US" altLang="ko-KR" sz="1400" dirty="0" smtClean="0">
                <a:latin typeface="+mn-ea"/>
                <a:ea typeface="+mn-ea"/>
              </a:rPr>
              <a:t>Professor(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외래키이고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en-US" altLang="ko-KR" sz="1400" dirty="0" err="1" smtClean="0">
                <a:latin typeface="+mn-ea"/>
                <a:ea typeface="+mn-ea"/>
              </a:rPr>
              <a:t>pid</a:t>
            </a:r>
            <a:r>
              <a:rPr lang="ko-KR" altLang="en-US" sz="1400" dirty="0" smtClean="0">
                <a:latin typeface="+mn-ea"/>
                <a:ea typeface="+mn-ea"/>
              </a:rPr>
              <a:t>는 </a:t>
            </a:r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dirty="0" smtClean="0">
                <a:latin typeface="+mn-ea"/>
                <a:ea typeface="+mn-ea"/>
              </a:rPr>
              <a:t>Project(</a:t>
            </a:r>
            <a:r>
              <a:rPr lang="en-US" altLang="ko-KR" sz="1400" dirty="0" err="1" smtClean="0">
                <a:latin typeface="+mn-ea"/>
                <a:ea typeface="+mn-ea"/>
              </a:rPr>
              <a:t>pid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를 참조하는 </a:t>
            </a:r>
            <a:r>
              <a:rPr lang="ko-KR" altLang="en-US" sz="1400" dirty="0" err="1" smtClean="0">
                <a:latin typeface="+mn-ea"/>
                <a:ea typeface="+mn-ea"/>
              </a:rPr>
              <a:t>외래키이다</a:t>
            </a:r>
            <a:r>
              <a:rPr lang="en-US" altLang="ko-KR" sz="1400" dirty="0" smtClean="0">
                <a:latin typeface="+mn-ea"/>
                <a:ea typeface="+mn-ea"/>
              </a:rPr>
              <a:t>.</a:t>
            </a: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work-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prog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graduatessn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pid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 </a:t>
            </a:r>
            <a:r>
              <a:rPr lang="en-US" altLang="ko-KR" sz="1400" dirty="0" smtClean="0">
                <a:latin typeface="+mn-ea"/>
                <a:ea typeface="+mn-ea"/>
              </a:rPr>
              <a:t>/* </a:t>
            </a:r>
            <a:r>
              <a:rPr lang="ko-KR" altLang="en-US" sz="1400" dirty="0" smtClean="0">
                <a:latin typeface="+mn-ea"/>
                <a:ea typeface="+mn-ea"/>
              </a:rPr>
              <a:t>대학원생의 과제 수행 *</a:t>
            </a:r>
            <a:r>
              <a:rPr lang="en-US" altLang="ko-KR" sz="1400" dirty="0" smtClean="0">
                <a:latin typeface="+mn-ea"/>
                <a:ea typeface="+mn-ea"/>
              </a:rPr>
              <a:t>/</a:t>
            </a:r>
          </a:p>
          <a:p>
            <a:r>
              <a:rPr lang="ko-KR" altLang="en-US" sz="1400" dirty="0" smtClean="0">
                <a:latin typeface="+mn-ea"/>
                <a:ea typeface="+mn-ea"/>
              </a:rPr>
              <a:t>⑪번 요구사항의 </a:t>
            </a:r>
            <a:r>
              <a:rPr lang="en-US" altLang="ko-KR" sz="1400" dirty="0" smtClean="0">
                <a:latin typeface="+mn-ea"/>
                <a:ea typeface="+mn-ea"/>
              </a:rPr>
              <a:t>work-</a:t>
            </a:r>
            <a:r>
              <a:rPr lang="en-US" altLang="ko-KR" sz="1400" dirty="0" err="1" smtClean="0">
                <a:latin typeface="+mn-ea"/>
                <a:ea typeface="+mn-ea"/>
              </a:rPr>
              <a:t>prog</a:t>
            </a:r>
            <a:r>
              <a:rPr lang="en-US" altLang="ko-KR" sz="1400" dirty="0" smtClean="0">
                <a:latin typeface="+mn-ea"/>
                <a:ea typeface="+mn-ea"/>
              </a:rPr>
              <a:t>(N:M) </a:t>
            </a:r>
            <a:r>
              <a:rPr lang="ko-KR" altLang="en-US" sz="1400" dirty="0" smtClean="0">
                <a:latin typeface="+mn-ea"/>
                <a:ea typeface="+mn-ea"/>
              </a:rPr>
              <a:t>관계를 표현하기 위한 교차 테이블이다</a:t>
            </a:r>
            <a:r>
              <a:rPr lang="en-US" altLang="ko-KR" sz="1400" dirty="0" smtClean="0">
                <a:latin typeface="+mn-ea"/>
                <a:ea typeface="+mn-ea"/>
              </a:rPr>
              <a:t>. 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graduatessn</a:t>
            </a:r>
            <a:r>
              <a:rPr lang="ko-KR" altLang="en-US" sz="1400" dirty="0" smtClean="0">
                <a:latin typeface="+mn-ea"/>
                <a:ea typeface="+mn-ea"/>
              </a:rPr>
              <a:t>은 </a:t>
            </a:r>
            <a:r>
              <a:rPr lang="en-US" altLang="ko-KR" sz="1400" dirty="0" smtClean="0">
                <a:latin typeface="+mn-ea"/>
                <a:ea typeface="+mn-ea"/>
              </a:rPr>
              <a:t>Graduate(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외래키이고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en-US" altLang="ko-KR" sz="1400" dirty="0" err="1" smtClean="0">
                <a:latin typeface="+mn-ea"/>
                <a:ea typeface="+mn-ea"/>
              </a:rPr>
              <a:t>pid</a:t>
            </a:r>
            <a:r>
              <a:rPr lang="ko-KR" altLang="en-US" sz="1400" dirty="0" smtClean="0">
                <a:latin typeface="+mn-ea"/>
                <a:ea typeface="+mn-ea"/>
              </a:rPr>
              <a:t>는 </a:t>
            </a:r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dirty="0" smtClean="0">
                <a:latin typeface="+mn-ea"/>
                <a:ea typeface="+mn-ea"/>
              </a:rPr>
              <a:t>Project(</a:t>
            </a:r>
            <a:r>
              <a:rPr lang="en-US" altLang="ko-KR" sz="1400" dirty="0" err="1" smtClean="0">
                <a:latin typeface="+mn-ea"/>
                <a:ea typeface="+mn-ea"/>
              </a:rPr>
              <a:t>pid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를 참조하는 </a:t>
            </a:r>
            <a:r>
              <a:rPr lang="ko-KR" altLang="en-US" sz="1400" dirty="0" err="1" smtClean="0">
                <a:latin typeface="+mn-ea"/>
                <a:ea typeface="+mn-ea"/>
              </a:rPr>
              <a:t>외래키이다</a:t>
            </a:r>
            <a:r>
              <a:rPr lang="en-US" altLang="ko-KR" sz="1400" dirty="0" smtClean="0">
                <a:latin typeface="+mn-ea"/>
                <a:ea typeface="+mn-ea"/>
              </a:rPr>
              <a:t>.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780" y="652953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마당대학 데이터베이스 스키마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 dirty="0" smtClean="0"/>
              <a:t>관계 데이터 모델이 완성되면 실제 </a:t>
            </a:r>
            <a:r>
              <a:rPr lang="en-US" altLang="ko-KR" dirty="0" smtClean="0"/>
              <a:t>DBMS</a:t>
            </a:r>
            <a:r>
              <a:rPr lang="ko-KR" altLang="en-US" dirty="0" smtClean="0"/>
              <a:t>에 테이블을 생성하기 위한 물리적 모델링 과정을 거침</a:t>
            </a:r>
            <a:endParaRPr lang="ko-KR" altLang="en-US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916833"/>
            <a:ext cx="6598920" cy="431781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40718" y="628493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6-81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마당대학 데이터베이스의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요약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3960440" cy="5472608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ko-KR" altLang="en-US" dirty="0" smtClean="0"/>
              <a:t>데이터베이스 생명주기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개념적 모델링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논리적 모델링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물리적 모델링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en-US" altLang="ko-KR" dirty="0" smtClean="0"/>
              <a:t>ER </a:t>
            </a:r>
            <a:r>
              <a:rPr lang="ko-KR" altLang="en-US" dirty="0" smtClean="0"/>
              <a:t>모델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개체와 개체 타입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개체 타입의 종류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속성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속성의 종류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4572000" y="1052736"/>
            <a:ext cx="3960440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 startAt="10"/>
            </a:pPr>
            <a:r>
              <a:rPr kumimoji="0" lang="ko-KR" altLang="en-US" dirty="0"/>
              <a:t>관계와 관계 </a:t>
            </a:r>
            <a:r>
              <a:rPr kumimoji="0" lang="ko-KR" altLang="en-US" dirty="0" smtClean="0"/>
              <a:t>타입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ko-KR" altLang="en-US" dirty="0"/>
              <a:t>관계 대응 </a:t>
            </a:r>
            <a:r>
              <a:rPr kumimoji="0" lang="ko-KR" altLang="en-US" dirty="0" smtClean="0"/>
              <a:t>수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en-US" altLang="ko-KR" dirty="0"/>
              <a:t>ISA(</a:t>
            </a:r>
            <a:r>
              <a:rPr kumimoji="0" lang="ko-KR" altLang="en-US" dirty="0" err="1"/>
              <a:t>수퍼클래스와</a:t>
            </a:r>
            <a:r>
              <a:rPr kumimoji="0" lang="ko-KR" altLang="en-US" dirty="0"/>
              <a:t> 서브클래스</a:t>
            </a:r>
            <a:r>
              <a:rPr kumimoji="0" lang="en-US" altLang="ko-KR" dirty="0"/>
              <a:t>) </a:t>
            </a:r>
            <a:r>
              <a:rPr kumimoji="0" lang="ko-KR" altLang="en-US" dirty="0" smtClean="0"/>
              <a:t>관계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ko-KR" altLang="en-US" dirty="0"/>
              <a:t>전체 참여와 부분 </a:t>
            </a:r>
            <a:r>
              <a:rPr kumimoji="0" lang="ko-KR" altLang="en-US" dirty="0" smtClean="0"/>
              <a:t>참여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ko-KR" altLang="en-US" dirty="0"/>
              <a:t>순환적 </a:t>
            </a:r>
            <a:r>
              <a:rPr kumimoji="0" lang="ko-KR" altLang="en-US" dirty="0" smtClean="0"/>
              <a:t>관계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ko-KR" altLang="en-US" dirty="0" err="1" smtClean="0"/>
              <a:t>식별자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en-US" altLang="ko-KR" dirty="0"/>
              <a:t>IE </a:t>
            </a:r>
            <a:r>
              <a:rPr kumimoji="0" lang="ko-KR" altLang="en-US" dirty="0" smtClean="0"/>
              <a:t>표기법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ko-KR" altLang="en-US" dirty="0"/>
              <a:t>사상</a:t>
            </a:r>
            <a:r>
              <a:rPr kumimoji="0" lang="en-US" altLang="ko-KR" dirty="0"/>
              <a:t>(mapping, </a:t>
            </a:r>
            <a:r>
              <a:rPr kumimoji="0" lang="ko-KR" altLang="en-US" dirty="0" err="1"/>
              <a:t>매핑</a:t>
            </a:r>
            <a:r>
              <a:rPr kumimoji="0" lang="en-US" altLang="ko-KR" dirty="0" smtClean="0"/>
              <a:t>)</a:t>
            </a:r>
          </a:p>
          <a:p>
            <a:pPr>
              <a:buFont typeface="+mj-lt"/>
              <a:buAutoNum type="arabicPeriod" startAt="10"/>
            </a:pPr>
            <a:endParaRPr kumimoji="0"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6097</TotalTime>
  <Words>3896</Words>
  <Application>Microsoft Office PowerPoint</Application>
  <PresentationFormat>화면 슬라이드 쇼(4:3)</PresentationFormat>
  <Paragraphs>1063</Paragraphs>
  <Slides>70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1" baseType="lpstr">
      <vt:lpstr>Office 테마</vt:lpstr>
      <vt:lpstr>Chapter 06 데이터 모델링</vt:lpstr>
      <vt:lpstr>PowerPoint 프레젠테이션</vt:lpstr>
      <vt:lpstr>PowerPoint 프레젠테이션</vt:lpstr>
      <vt:lpstr>01. 데이터 모델링의 개념</vt:lpstr>
      <vt:lpstr>01. 데이터 모델링의 개념</vt:lpstr>
      <vt:lpstr>01. 데이터 모델링의 개념</vt:lpstr>
      <vt:lpstr>1.데이터베이스 생명주기</vt:lpstr>
      <vt:lpstr>1. 데이터베이스 생명주기</vt:lpstr>
      <vt:lpstr>2. 데이터 모델링 과정</vt:lpstr>
      <vt:lpstr>2.1 요구사항 수집 및 분석</vt:lpstr>
      <vt:lpstr>2.2 개념적 모델링</vt:lpstr>
      <vt:lpstr>2.3 논리적 모델링</vt:lpstr>
      <vt:lpstr>2.4 물리적 모델링</vt:lpstr>
      <vt:lpstr>2.4 물리적 모델링</vt:lpstr>
      <vt:lpstr>02. ER 모델</vt:lpstr>
      <vt:lpstr>02. ER 모델</vt:lpstr>
      <vt:lpstr>02. ER 모델</vt:lpstr>
      <vt:lpstr>1. 개체와 개체 타입</vt:lpstr>
      <vt:lpstr>1.1 개체 타입의 ER 다이어그램 표현</vt:lpstr>
      <vt:lpstr>2. 속성</vt:lpstr>
      <vt:lpstr>2.2 속성의 유형</vt:lpstr>
      <vt:lpstr>3. 관계와 관계 타입</vt:lpstr>
      <vt:lpstr>3.1 관계 타입의 ER 다이어그램 표현</vt:lpstr>
      <vt:lpstr>3.2 관계 타입의 유형</vt:lpstr>
      <vt:lpstr>3.2 관계 타입의 유형</vt:lpstr>
      <vt:lpstr>3.2 관계 타입의 유형</vt:lpstr>
      <vt:lpstr>3.2 관계 타입의 유형</vt:lpstr>
      <vt:lpstr>3.2 관계 타입의 유형</vt:lpstr>
      <vt:lpstr>3.2 관계 타입의 유형</vt:lpstr>
      <vt:lpstr>3.2 관계 타입의 유형</vt:lpstr>
      <vt:lpstr>3.3 ISA 관계</vt:lpstr>
      <vt:lpstr>3.4 참여 제약 조건</vt:lpstr>
      <vt:lpstr>3.5 역할</vt:lpstr>
      <vt:lpstr>3.6 순환적 관계</vt:lpstr>
      <vt:lpstr>4. 약한 개체 타입과 식별자</vt:lpstr>
      <vt:lpstr>4. 약한 개체 타입과 식별자</vt:lpstr>
      <vt:lpstr>5. IE 표기법</vt:lpstr>
      <vt:lpstr>연습문제 풀이</vt:lpstr>
      <vt:lpstr>03. ER 모델을 관계 데이터 모델로 사상</vt:lpstr>
      <vt:lpstr>03. ER 모델을 관계 데이터 모델로 사상</vt:lpstr>
      <vt:lpstr>1. 개체 타입의 사상</vt:lpstr>
      <vt:lpstr>2. 관계 타입의 사상</vt:lpstr>
      <vt:lpstr>2. 관계 타입의 사상</vt:lpstr>
      <vt:lpstr>2. 관계 타입의 사상</vt:lpstr>
      <vt:lpstr>3. 다중값 속성의 사상</vt:lpstr>
      <vt:lpstr>연습문제 풀이</vt:lpstr>
      <vt:lpstr>연습문제 풀이</vt:lpstr>
      <vt:lpstr>04. ERwin 실습</vt:lpstr>
      <vt:lpstr>04. ERwin 실습</vt:lpstr>
      <vt:lpstr>1. ERwin 기본 화면 및 툴 둘러보기</vt:lpstr>
      <vt:lpstr>1. ERwin 기본 화면 및 툴 둘러보기</vt:lpstr>
      <vt:lpstr>2. ERwin 실습을 위한 기본 환경 설정하기</vt:lpstr>
      <vt:lpstr>3. 마당서점 설계 실습</vt:lpstr>
      <vt:lpstr>연습문제 풀이</vt:lpstr>
      <vt:lpstr>3.2 도메인 정의하기</vt:lpstr>
      <vt:lpstr>3.3 마당서점의 물리적 모델링</vt:lpstr>
      <vt:lpstr>3.3 마당서점의 물리적 모델링</vt:lpstr>
      <vt:lpstr>3.4 DBMS에 접속하여 테이블 생성하기</vt:lpstr>
      <vt:lpstr>05. 모델링 연습(마당대학 데이터베이스)</vt:lpstr>
      <vt:lpstr>1. 마당대학의 요구사항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요약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KB</cp:lastModifiedBy>
  <cp:revision>821</cp:revision>
  <dcterms:created xsi:type="dcterms:W3CDTF">2012-07-11T10:23:22Z</dcterms:created>
  <dcterms:modified xsi:type="dcterms:W3CDTF">2017-08-04T07:52:26Z</dcterms:modified>
</cp:coreProperties>
</file>