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42" autoAdjust="0"/>
    <p:restoredTop sz="94660"/>
  </p:normalViewPr>
  <p:slideViewPr>
    <p:cSldViewPr snapToGrid="0">
      <p:cViewPr>
        <p:scale>
          <a:sx n="66" d="100"/>
          <a:sy n="66" d="100"/>
        </p:scale>
        <p:origin x="-2262" y="-112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11/18/2016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>
            <a:lvl1pPr>
              <a:defRPr sz="1400" b="1"/>
            </a:lvl1pPr>
          </a:lstStyle>
          <a:p>
            <a:r>
              <a:rPr lang="en-US" altLang="ko-KR" smtClean="0"/>
              <a:t>This practice makes the expert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11/18/2016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 b="1"/>
            </a:lvl1pPr>
          </a:lstStyle>
          <a:p>
            <a:endParaRPr lang="en-US" smtClean="0"/>
          </a:p>
          <a:p>
            <a:r>
              <a:rPr lang="en-US" smtClean="0"/>
              <a:t>This practice makes the expert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This practice makes the expert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11/18/2016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This practice makes the expert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This practice makes the expert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This practice makes the expert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This practice makes the expert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This practice makes the expert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altLang="ko-KR" smtClean="0"/>
          </a:p>
          <a:p>
            <a:r>
              <a:rPr lang="en-US" altLang="ko-KR" smtClean="0"/>
              <a:t>This practice makes the expert</a:t>
            </a:r>
          </a:p>
          <a:p>
            <a:endParaRPr lang="en-US" altLang="ko-KR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1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9.jpeg"/><Relationship Id="rId2" Type="http://schemas.openxmlformats.org/officeDocument/2006/relationships/hyperlink" Target="http://topcredu.co.kr/sub/crcl/view/db/1860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topcredu.co.kr/sub/crcl/view/db/1914" TargetMode="External"/><Relationship Id="rId5" Type="http://schemas.openxmlformats.org/officeDocument/2006/relationships/image" Target="../media/image8.jpeg"/><Relationship Id="rId4" Type="http://schemas.openxmlformats.org/officeDocument/2006/relationships/hyperlink" Target="http://topcredu.co.kr/sub/crcl/view/db/195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smtClean="0"/>
              <a:t>SQL </a:t>
            </a:r>
            <a:r>
              <a:rPr lang="ko-KR" altLang="en-US" b="1" smtClean="0"/>
              <a:t>기초과정 </a:t>
            </a:r>
            <a:r>
              <a:rPr lang="en-US" altLang="ko-KR" b="1" smtClean="0"/>
              <a:t>#7</a:t>
            </a:r>
            <a:endParaRPr lang="ko-KR" altLang="en-US" b="1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692398" y="3833440"/>
            <a:ext cx="6815669" cy="1320802"/>
          </a:xfrm>
        </p:spPr>
        <p:txBody>
          <a:bodyPr>
            <a:noAutofit/>
          </a:bodyPr>
          <a:lstStyle/>
          <a:p>
            <a:r>
              <a:rPr lang="ko-KR" altLang="en-US" sz="3000" smtClean="0"/>
              <a:t>상관 서브쿼리</a:t>
            </a:r>
            <a:endParaRPr lang="en-US" altLang="ko-KR" sz="3000" smtClean="0"/>
          </a:p>
          <a:p>
            <a:r>
              <a:rPr lang="en-US" altLang="ko-KR" sz="3000" smtClean="0"/>
              <a:t>(</a:t>
            </a:r>
            <a:r>
              <a:rPr lang="en-US" altLang="ko-KR" sz="3000"/>
              <a:t>Correlated Sub Query)</a:t>
            </a:r>
            <a:endParaRPr lang="ko-KR" altLang="en-US" sz="3000"/>
          </a:p>
        </p:txBody>
      </p:sp>
      <p:sp>
        <p:nvSpPr>
          <p:cNvPr id="4" name="TextBox 3"/>
          <p:cNvSpPr txBox="1"/>
          <p:nvPr/>
        </p:nvSpPr>
        <p:spPr>
          <a:xfrm>
            <a:off x="3101039" y="6139348"/>
            <a:ext cx="5998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smtClean="0"/>
              <a:t>탑크리에듀</a:t>
            </a:r>
            <a:r>
              <a:rPr lang="en-US" altLang="ko-KR" b="1" smtClean="0"/>
              <a:t>(http://www.topcredu.co.kr), </a:t>
            </a:r>
            <a:r>
              <a:rPr lang="ko-KR" altLang="en-US" b="1" smtClean="0"/>
              <a:t>이종철</a:t>
            </a:r>
            <a:endParaRPr lang="ko-KR" altLang="en-US" b="1"/>
          </a:p>
        </p:txBody>
      </p:sp>
      <p:sp>
        <p:nvSpPr>
          <p:cNvPr id="5" name="직사각형 4"/>
          <p:cNvSpPr/>
          <p:nvPr/>
        </p:nvSpPr>
        <p:spPr>
          <a:xfrm>
            <a:off x="4364416" y="1686465"/>
            <a:ext cx="32122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>
                <a:solidFill>
                  <a:srgbClr val="FF0000"/>
                </a:solidFill>
              </a:rPr>
              <a:t>This practice makes the expert</a:t>
            </a:r>
          </a:p>
        </p:txBody>
      </p:sp>
    </p:spTree>
    <p:extLst>
      <p:ext uri="{BB962C8B-B14F-4D97-AF65-F5344CB8AC3E}">
        <p14:creationId xmlns:p14="http://schemas.microsoft.com/office/powerpoint/2010/main" val="749544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smtClean="0"/>
              <a:t>강의자료</a:t>
            </a:r>
            <a:r>
              <a:rPr lang="en-US" altLang="ko-KR" smtClean="0"/>
              <a:t>, </a:t>
            </a:r>
            <a:r>
              <a:rPr lang="ko-KR" altLang="en-US" smtClean="0"/>
              <a:t>실습코드는 다음 </a:t>
            </a:r>
            <a:r>
              <a:rPr lang="en-US" altLang="ko-KR" smtClean="0"/>
              <a:t>URL</a:t>
            </a:r>
            <a:r>
              <a:rPr lang="ko-KR" altLang="en-US" smtClean="0"/>
              <a:t>에서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확인하실 수 있습니다</a:t>
            </a:r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295401" y="3472404"/>
            <a:ext cx="9601196" cy="24034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ko-KR" sz="8800" b="1" smtClean="0"/>
              <a:t>http://ojc.asia</a:t>
            </a:r>
            <a:endParaRPr lang="ko-KR" altLang="en-US" sz="8800" b="1"/>
          </a:p>
        </p:txBody>
      </p:sp>
    </p:spTree>
    <p:extLst>
      <p:ext uri="{BB962C8B-B14F-4D97-AF65-F5344CB8AC3E}">
        <p14:creationId xmlns:p14="http://schemas.microsoft.com/office/powerpoint/2010/main" val="3707997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ko-KR" b="1"/>
              <a:t>상관 서브쿼리</a:t>
            </a:r>
            <a:r>
              <a:rPr lang="en-US" altLang="ko-KR" b="1"/>
              <a:t>(Correlated Sub Query</a:t>
            </a:r>
            <a:r>
              <a:rPr lang="en-US" altLang="ko-KR" b="1" smtClean="0"/>
              <a:t>)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ko-KR"/>
              <a:t>서브 쿼리와 메인쿼리간에 서로 상관 </a:t>
            </a:r>
            <a:r>
              <a:rPr lang="ko-KR" altLang="ko-KR" smtClean="0"/>
              <a:t>참조하는 </a:t>
            </a:r>
            <a:r>
              <a:rPr lang="ko-KR" altLang="ko-KR"/>
              <a:t>쿼리로</a:t>
            </a:r>
            <a:r>
              <a:rPr lang="en-US" altLang="ko-KR"/>
              <a:t> Inner Query</a:t>
            </a:r>
            <a:r>
              <a:rPr lang="ko-KR" altLang="ko-KR"/>
              <a:t>에서</a:t>
            </a:r>
            <a:r>
              <a:rPr lang="en-US" altLang="ko-KR"/>
              <a:t> Outer Query</a:t>
            </a:r>
            <a:r>
              <a:rPr lang="ko-KR" altLang="ko-KR"/>
              <a:t>의 어떤 컬럼을 이용하는 경우다</a:t>
            </a:r>
            <a:r>
              <a:rPr lang="en-US" altLang="ko-KR"/>
              <a:t>. </a:t>
            </a:r>
            <a:endParaRPr lang="en-US" altLang="ko-KR" smtClean="0"/>
          </a:p>
          <a:p>
            <a:r>
              <a:rPr lang="ko-KR" altLang="ko-KR" smtClean="0"/>
              <a:t>일반적인</a:t>
            </a:r>
            <a:r>
              <a:rPr lang="en-US" altLang="ko-KR" smtClean="0"/>
              <a:t> Query</a:t>
            </a:r>
            <a:r>
              <a:rPr lang="ko-KR" altLang="en-US" smtClean="0"/>
              <a:t>는 </a:t>
            </a:r>
            <a:r>
              <a:rPr lang="ko-KR" altLang="ko-KR" smtClean="0"/>
              <a:t>서브 </a:t>
            </a:r>
            <a:r>
              <a:rPr lang="ko-KR" altLang="ko-KR"/>
              <a:t>쿼리의 결과를 메인에서는 단순히 이용만 </a:t>
            </a:r>
            <a:r>
              <a:rPr lang="ko-KR" altLang="ko-KR" smtClean="0"/>
              <a:t>하지만</a:t>
            </a:r>
            <a:r>
              <a:rPr lang="en-US" altLang="ko-KR" smtClean="0"/>
              <a:t>(</a:t>
            </a:r>
            <a:r>
              <a:rPr lang="ko-KR" altLang="en-US" smtClean="0"/>
              <a:t>이때 서브쿼리는 제공자로서의 역할을 한다</a:t>
            </a:r>
            <a:r>
              <a:rPr lang="en-US" altLang="ko-KR" smtClean="0"/>
              <a:t>)</a:t>
            </a:r>
            <a:r>
              <a:rPr lang="ko-KR" altLang="ko-KR" smtClean="0"/>
              <a:t> </a:t>
            </a:r>
            <a:r>
              <a:rPr lang="ko-KR" altLang="ko-KR"/>
              <a:t>상관 서브 쿼리에서는 서브 쿼리가 메인 쿼리의 값을 이용하여 값을 구하면 그 값을 다시 메인 쿼리에서 이용하는 구조이므로 서브쿼리는 값을 확인하는 확인자 역할을 하게된다</a:t>
            </a:r>
            <a:r>
              <a:rPr lang="en-US" altLang="ko-KR"/>
              <a:t>. </a:t>
            </a:r>
            <a:endParaRPr lang="en-US" altLang="ko-KR" smtClean="0"/>
          </a:p>
          <a:p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8145109" y="5777469"/>
            <a:ext cx="32122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>
                <a:solidFill>
                  <a:srgbClr val="FF0000"/>
                </a:solidFill>
              </a:rPr>
              <a:t>This practice makes the expert</a:t>
            </a:r>
          </a:p>
        </p:txBody>
      </p:sp>
    </p:spTree>
    <p:extLst>
      <p:ext uri="{BB962C8B-B14F-4D97-AF65-F5344CB8AC3E}">
        <p14:creationId xmlns:p14="http://schemas.microsoft.com/office/powerpoint/2010/main" val="3166634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상관 서브쿼리 실행 순서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1. </a:t>
            </a:r>
            <a:r>
              <a:rPr lang="en-US" altLang="ko-KR"/>
              <a:t>Outer query</a:t>
            </a:r>
            <a:r>
              <a:rPr lang="ko-KR" altLang="ko-KR"/>
              <a:t>를 실행하여 행을 하나 읽는다</a:t>
            </a:r>
            <a:r>
              <a:rPr lang="en-US" altLang="ko-KR"/>
              <a:t>.  </a:t>
            </a:r>
            <a:endParaRPr lang="ko-KR" altLang="ko-KR"/>
          </a:p>
          <a:p>
            <a:r>
              <a:rPr lang="en-US" altLang="ko-KR" smtClean="0"/>
              <a:t>2. </a:t>
            </a:r>
            <a:r>
              <a:rPr lang="en-US" altLang="ko-KR"/>
              <a:t>(1)</a:t>
            </a:r>
            <a:r>
              <a:rPr lang="ko-KR" altLang="ko-KR"/>
              <a:t>에서 읽은행의 값을 이용하여 서브쿼리에서 필요한 값을 넣고</a:t>
            </a:r>
            <a:r>
              <a:rPr lang="en-US" altLang="ko-KR"/>
              <a:t> Subquery</a:t>
            </a:r>
            <a:r>
              <a:rPr lang="ko-KR" altLang="ko-KR"/>
              <a:t>를 수행한다</a:t>
            </a:r>
            <a:r>
              <a:rPr lang="en-US" altLang="ko-KR"/>
              <a:t>.</a:t>
            </a:r>
            <a:endParaRPr lang="ko-KR" altLang="ko-KR"/>
          </a:p>
          <a:p>
            <a:r>
              <a:rPr lang="en-US" altLang="ko-KR" smtClean="0"/>
              <a:t>3. </a:t>
            </a:r>
            <a:r>
              <a:rPr lang="en-US" altLang="ko-KR"/>
              <a:t>(2)</a:t>
            </a:r>
            <a:r>
              <a:rPr lang="ko-KR" altLang="ko-KR"/>
              <a:t>의 결과값으로</a:t>
            </a:r>
            <a:r>
              <a:rPr lang="en-US" altLang="ko-KR"/>
              <a:t> Outer query</a:t>
            </a:r>
            <a:r>
              <a:rPr lang="ko-KR" altLang="ko-KR"/>
              <a:t>의</a:t>
            </a:r>
            <a:r>
              <a:rPr lang="en-US" altLang="ko-KR"/>
              <a:t> WHERE</a:t>
            </a:r>
            <a:r>
              <a:rPr lang="ko-KR" altLang="ko-KR"/>
              <a:t>절을 평가하여 읽은 행의 선택여부를 결정한다</a:t>
            </a:r>
            <a:r>
              <a:rPr lang="en-US" altLang="ko-KR"/>
              <a:t>. </a:t>
            </a:r>
            <a:r>
              <a:rPr lang="ko-KR" altLang="ko-KR"/>
              <a:t>참이면 데이터 추출</a:t>
            </a:r>
            <a:r>
              <a:rPr lang="en-US" altLang="ko-KR"/>
              <a:t>, </a:t>
            </a:r>
            <a:r>
              <a:rPr lang="ko-KR" altLang="ko-KR"/>
              <a:t>아니면 버리고</a:t>
            </a:r>
            <a:r>
              <a:rPr lang="en-US" altLang="ko-KR"/>
              <a:t> Outer Query</a:t>
            </a:r>
            <a:r>
              <a:rPr lang="ko-KR" altLang="ko-KR"/>
              <a:t>의 다음 레코드를 읽음</a:t>
            </a:r>
          </a:p>
          <a:p>
            <a:r>
              <a:rPr lang="en-US" altLang="ko-KR" smtClean="0"/>
              <a:t>4. </a:t>
            </a:r>
            <a:r>
              <a:rPr lang="en-US" altLang="ko-KR"/>
              <a:t>Outer query</a:t>
            </a:r>
            <a:r>
              <a:rPr lang="ko-KR" altLang="ko-KR"/>
              <a:t>의 테이블에 행이 없을 때까지</a:t>
            </a:r>
            <a:r>
              <a:rPr lang="en-US" altLang="ko-KR"/>
              <a:t> (1)-(3)</a:t>
            </a:r>
            <a:r>
              <a:rPr lang="ko-KR" altLang="ko-KR"/>
              <a:t>을 반복 수행한다</a:t>
            </a:r>
            <a:r>
              <a:rPr lang="en-US" altLang="ko-KR"/>
              <a:t>.</a:t>
            </a:r>
            <a:endParaRPr lang="ko-KR" altLang="ko-KR"/>
          </a:p>
          <a:p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8145109" y="5777469"/>
            <a:ext cx="32122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>
                <a:solidFill>
                  <a:srgbClr val="FF0000"/>
                </a:solidFill>
              </a:rPr>
              <a:t>This practice makes the expert</a:t>
            </a:r>
          </a:p>
        </p:txBody>
      </p:sp>
    </p:spTree>
    <p:extLst>
      <p:ext uri="{BB962C8B-B14F-4D97-AF65-F5344CB8AC3E}">
        <p14:creationId xmlns:p14="http://schemas.microsoft.com/office/powerpoint/2010/main" val="2787972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예문 </a:t>
            </a:r>
            <a:r>
              <a:rPr lang="en-US" altLang="ko-KR" smtClean="0"/>
              <a:t>- 1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ko-KR" b="1" smtClean="0">
                <a:solidFill>
                  <a:srgbClr val="0070C0"/>
                </a:solidFill>
              </a:rPr>
              <a:t>각 </a:t>
            </a:r>
            <a:r>
              <a:rPr lang="ko-KR" altLang="ko-KR" b="1">
                <a:solidFill>
                  <a:srgbClr val="0070C0"/>
                </a:solidFill>
              </a:rPr>
              <a:t>부서의 최대 급여를 받는 사원의 부서코드</a:t>
            </a:r>
            <a:r>
              <a:rPr lang="en-US" altLang="ko-KR" b="1">
                <a:solidFill>
                  <a:srgbClr val="0070C0"/>
                </a:solidFill>
              </a:rPr>
              <a:t>, </a:t>
            </a:r>
            <a:r>
              <a:rPr lang="ko-KR" altLang="ko-KR" b="1">
                <a:solidFill>
                  <a:srgbClr val="0070C0"/>
                </a:solidFill>
              </a:rPr>
              <a:t>이름</a:t>
            </a:r>
            <a:r>
              <a:rPr lang="en-US" altLang="ko-KR" b="1">
                <a:solidFill>
                  <a:srgbClr val="0070C0"/>
                </a:solidFill>
              </a:rPr>
              <a:t>, </a:t>
            </a:r>
            <a:r>
              <a:rPr lang="ko-KR" altLang="ko-KR" b="1">
                <a:solidFill>
                  <a:srgbClr val="0070C0"/>
                </a:solidFill>
              </a:rPr>
              <a:t>급여를 출력하는데 부서코드 순으로 오름차순 정렬하여 출력하는 예문 첫번째 상관서브쿼리로 </a:t>
            </a:r>
            <a:r>
              <a:rPr lang="ko-KR" altLang="ko-KR" b="1" smtClean="0">
                <a:solidFill>
                  <a:srgbClr val="0070C0"/>
                </a:solidFill>
              </a:rPr>
              <a:t>구현</a:t>
            </a:r>
            <a:endParaRPr lang="en-US" altLang="ko-KR" b="1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altLang="ko-KR" smtClean="0"/>
              <a:t>select </a:t>
            </a:r>
            <a:r>
              <a:rPr lang="en-US" altLang="ko-KR"/>
              <a:t>deptno, ename, sal from emp </a:t>
            </a:r>
            <a:r>
              <a:rPr lang="en-US" altLang="ko-KR" smtClean="0"/>
              <a:t>e1</a:t>
            </a:r>
            <a:endParaRPr lang="en-US" altLang="ko-KR"/>
          </a:p>
          <a:p>
            <a:pPr marL="0" indent="0">
              <a:buNone/>
            </a:pPr>
            <a:r>
              <a:rPr lang="en-US" altLang="ko-KR" smtClean="0"/>
              <a:t>where </a:t>
            </a:r>
            <a:r>
              <a:rPr lang="en-US" altLang="ko-KR"/>
              <a:t>sal = (select max(sal) from emp e2</a:t>
            </a:r>
            <a:endParaRPr lang="ko-KR" altLang="ko-KR"/>
          </a:p>
          <a:p>
            <a:pPr marL="0" indent="0">
              <a:buNone/>
            </a:pPr>
            <a:r>
              <a:rPr lang="en-US" altLang="ko-KR"/>
              <a:t> </a:t>
            </a:r>
            <a:r>
              <a:rPr lang="en-US" altLang="ko-KR" smtClean="0"/>
              <a:t>                   </a:t>
            </a:r>
            <a:r>
              <a:rPr lang="en-US" altLang="ko-KR"/>
              <a:t>where e1.deptno = e2.deptno</a:t>
            </a:r>
            <a:r>
              <a:rPr lang="en-US" altLang="ko-KR" smtClean="0"/>
              <a:t>)</a:t>
            </a:r>
            <a:endParaRPr lang="en-US" altLang="ko-KR"/>
          </a:p>
          <a:p>
            <a:pPr marL="0" indent="0">
              <a:buNone/>
            </a:pPr>
            <a:r>
              <a:rPr lang="en-US" altLang="ko-KR" smtClean="0"/>
              <a:t>order </a:t>
            </a:r>
            <a:r>
              <a:rPr lang="en-US" altLang="ko-KR"/>
              <a:t>by deptno</a:t>
            </a:r>
            <a:r>
              <a:rPr lang="en-US" altLang="ko-KR" smtClean="0"/>
              <a:t>;</a:t>
            </a:r>
            <a:endParaRPr lang="ko-KR" altLang="ko-KR"/>
          </a:p>
          <a:p>
            <a:pPr marL="0" indent="0">
              <a:buNone/>
            </a:pPr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7100044" y="3694837"/>
            <a:ext cx="353657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latinLnBrk="1">
              <a:spcAft>
                <a:spcPts val="0"/>
              </a:spcAft>
            </a:pPr>
            <a:r>
              <a:rPr lang="en-US" altLang="ko-KR" kern="10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DEPTNO </a:t>
            </a:r>
            <a:r>
              <a:rPr lang="en-US" altLang="ko-KR" kern="10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ENAME       </a:t>
            </a:r>
            <a:r>
              <a:rPr lang="en-US" altLang="ko-KR" kern="10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SAL</a:t>
            </a:r>
            <a:endParaRPr lang="ko-KR" altLang="ko-KR" kern="10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spcAft>
                <a:spcPts val="0"/>
              </a:spcAft>
            </a:pPr>
            <a:r>
              <a:rPr lang="en-US" altLang="ko-KR" kern="10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---------- ---------- ----------</a:t>
            </a:r>
            <a:endParaRPr lang="ko-KR" altLang="ko-KR" kern="10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spcAft>
                <a:spcPts val="0"/>
              </a:spcAft>
            </a:pPr>
            <a:r>
              <a:rPr lang="en-US" altLang="ko-KR" kern="10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en-US" altLang="ko-KR" kern="10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10       </a:t>
            </a:r>
            <a:r>
              <a:rPr lang="en-US" altLang="ko-KR" kern="10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KING      </a:t>
            </a:r>
            <a:r>
              <a:rPr lang="en-US" altLang="ko-KR" kern="10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5000</a:t>
            </a:r>
            <a:endParaRPr lang="ko-KR" altLang="ko-KR" kern="10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spcAft>
                <a:spcPts val="0"/>
              </a:spcAft>
            </a:pPr>
            <a:r>
              <a:rPr lang="en-US" altLang="ko-KR" kern="10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en-US" altLang="ko-KR" kern="10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en-US" altLang="ko-KR" kern="10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20 </a:t>
            </a:r>
            <a:r>
              <a:rPr lang="en-US" altLang="ko-KR" kern="10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 SCOTT        3000</a:t>
            </a:r>
            <a:endParaRPr lang="ko-KR" altLang="ko-KR" kern="10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spcAft>
                <a:spcPts val="0"/>
              </a:spcAft>
            </a:pPr>
            <a:r>
              <a:rPr lang="en-US" altLang="ko-KR" kern="10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en-US" altLang="ko-KR" kern="10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en-US" altLang="ko-KR" kern="10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20 </a:t>
            </a:r>
            <a:r>
              <a:rPr lang="en-US" altLang="ko-KR" kern="10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 FORD         3000</a:t>
            </a:r>
            <a:endParaRPr lang="ko-KR" altLang="ko-KR" kern="10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en-US" altLang="ko-KR" kern="100">
                <a:latin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en-US" altLang="ko-KR" kern="10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en-US" altLang="ko-KR" kern="100">
                <a:latin typeface="맑은 고딕" panose="020B0503020000020004" pitchFamily="50" charset="-127"/>
                <a:cs typeface="Times New Roman" panose="02020603050405020304" pitchFamily="18" charset="0"/>
              </a:rPr>
              <a:t>30 </a:t>
            </a:r>
            <a:r>
              <a:rPr lang="en-US" altLang="ko-KR" kern="10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    BLAKE        2850</a:t>
            </a:r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8145109" y="5777469"/>
            <a:ext cx="32122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>
                <a:solidFill>
                  <a:srgbClr val="FF0000"/>
                </a:solidFill>
              </a:rPr>
              <a:t>This practice makes the expert</a:t>
            </a:r>
          </a:p>
        </p:txBody>
      </p:sp>
    </p:spTree>
    <p:extLst>
      <p:ext uri="{BB962C8B-B14F-4D97-AF65-F5344CB8AC3E}">
        <p14:creationId xmlns:p14="http://schemas.microsoft.com/office/powerpoint/2010/main" val="425603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예문 </a:t>
            </a:r>
            <a:r>
              <a:rPr lang="en-US" altLang="ko-KR" smtClean="0"/>
              <a:t>- 2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ko-KR" b="1" smtClean="0">
                <a:solidFill>
                  <a:srgbClr val="0070C0"/>
                </a:solidFill>
              </a:rPr>
              <a:t>각 </a:t>
            </a:r>
            <a:r>
              <a:rPr lang="ko-KR" altLang="ko-KR" b="1">
                <a:solidFill>
                  <a:srgbClr val="0070C0"/>
                </a:solidFill>
              </a:rPr>
              <a:t>부서의 최대 급여를 받는 사원의 부서코드</a:t>
            </a:r>
            <a:r>
              <a:rPr lang="en-US" altLang="ko-KR" b="1">
                <a:solidFill>
                  <a:srgbClr val="0070C0"/>
                </a:solidFill>
              </a:rPr>
              <a:t>, </a:t>
            </a:r>
            <a:r>
              <a:rPr lang="ko-KR" altLang="ko-KR" b="1">
                <a:solidFill>
                  <a:srgbClr val="0070C0"/>
                </a:solidFill>
              </a:rPr>
              <a:t>이름</a:t>
            </a:r>
            <a:r>
              <a:rPr lang="en-US" altLang="ko-KR" b="1">
                <a:solidFill>
                  <a:srgbClr val="0070C0"/>
                </a:solidFill>
              </a:rPr>
              <a:t>, </a:t>
            </a:r>
            <a:r>
              <a:rPr lang="ko-KR" altLang="ko-KR" b="1">
                <a:solidFill>
                  <a:srgbClr val="0070C0"/>
                </a:solidFill>
              </a:rPr>
              <a:t>급여를 출력하는데 부서코드 순으로 오름차순 정렬하여 출력하는 예문 </a:t>
            </a:r>
            <a:endParaRPr lang="en-US" altLang="ko-KR" b="1" smtClean="0">
              <a:solidFill>
                <a:srgbClr val="0070C0"/>
              </a:solidFill>
            </a:endParaRPr>
          </a:p>
          <a:p>
            <a:r>
              <a:rPr lang="en-US" altLang="ko-KR" b="1" smtClean="0">
                <a:solidFill>
                  <a:srgbClr val="0070C0"/>
                </a:solidFill>
              </a:rPr>
              <a:t>Pairwise </a:t>
            </a:r>
            <a:r>
              <a:rPr lang="ko-KR" altLang="en-US" b="1">
                <a:solidFill>
                  <a:srgbClr val="0070C0"/>
                </a:solidFill>
              </a:rPr>
              <a:t>서브쿼리로 구현</a:t>
            </a:r>
            <a:endParaRPr lang="en-US" altLang="ko-KR" b="1" smtClean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altLang="ko-KR"/>
              <a:t>select ename, sal, deptno </a:t>
            </a:r>
          </a:p>
          <a:p>
            <a:pPr marL="0" indent="0">
              <a:buNone/>
            </a:pPr>
            <a:r>
              <a:rPr lang="en-US" altLang="ko-KR"/>
              <a:t>from emp </a:t>
            </a:r>
          </a:p>
          <a:p>
            <a:pPr marL="0" indent="0">
              <a:buNone/>
            </a:pPr>
            <a:r>
              <a:rPr lang="en-US" altLang="ko-KR"/>
              <a:t>where (deptno, sal ) in (select deptno, max(sal) </a:t>
            </a:r>
            <a:endParaRPr lang="en-US" altLang="ko-KR" smtClean="0"/>
          </a:p>
          <a:p>
            <a:pPr marL="0" indent="0">
              <a:buNone/>
            </a:pPr>
            <a:r>
              <a:rPr lang="en-US" altLang="ko-KR"/>
              <a:t> </a:t>
            </a:r>
            <a:r>
              <a:rPr lang="en-US" altLang="ko-KR" smtClean="0"/>
              <a:t>                                   from </a:t>
            </a:r>
            <a:r>
              <a:rPr lang="en-US" altLang="ko-KR"/>
              <a:t>emp </a:t>
            </a:r>
          </a:p>
          <a:p>
            <a:pPr marL="0" indent="0">
              <a:buNone/>
            </a:pPr>
            <a:r>
              <a:rPr lang="en-US" altLang="ko-KR"/>
              <a:t>                              </a:t>
            </a:r>
            <a:r>
              <a:rPr lang="en-US" altLang="ko-KR" smtClean="0"/>
              <a:t>      group </a:t>
            </a:r>
            <a:r>
              <a:rPr lang="en-US" altLang="ko-KR"/>
              <a:t>by </a:t>
            </a:r>
            <a:r>
              <a:rPr lang="en-US" altLang="ko-KR" smtClean="0"/>
              <a:t>deptno)</a:t>
            </a:r>
          </a:p>
          <a:p>
            <a:pPr marL="0" indent="0">
              <a:buNone/>
            </a:pPr>
            <a:r>
              <a:rPr lang="en-US" altLang="ko-KR" smtClean="0"/>
              <a:t>order </a:t>
            </a:r>
            <a:r>
              <a:rPr lang="en-US" altLang="ko-KR"/>
              <a:t>by deptno;</a:t>
            </a:r>
          </a:p>
          <a:p>
            <a:pPr marL="0" indent="0">
              <a:buNone/>
            </a:pPr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7100044" y="3694837"/>
            <a:ext cx="353657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latinLnBrk="1">
              <a:spcAft>
                <a:spcPts val="0"/>
              </a:spcAft>
            </a:pPr>
            <a:r>
              <a:rPr lang="en-US" altLang="ko-KR" kern="10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DEPTNO </a:t>
            </a:r>
            <a:r>
              <a:rPr lang="en-US" altLang="ko-KR" kern="10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ENAME       </a:t>
            </a:r>
            <a:r>
              <a:rPr lang="en-US" altLang="ko-KR" kern="10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SAL</a:t>
            </a:r>
            <a:endParaRPr lang="ko-KR" altLang="ko-KR" kern="10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spcAft>
                <a:spcPts val="0"/>
              </a:spcAft>
            </a:pPr>
            <a:r>
              <a:rPr lang="en-US" altLang="ko-KR" kern="10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---------- ---------- ----------</a:t>
            </a:r>
            <a:endParaRPr lang="ko-KR" altLang="ko-KR" kern="10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spcAft>
                <a:spcPts val="0"/>
              </a:spcAft>
            </a:pPr>
            <a:r>
              <a:rPr lang="en-US" altLang="ko-KR" kern="10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en-US" altLang="ko-KR" kern="10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10       </a:t>
            </a:r>
            <a:r>
              <a:rPr lang="en-US" altLang="ko-KR" kern="10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KING      </a:t>
            </a:r>
            <a:r>
              <a:rPr lang="en-US" altLang="ko-KR" kern="10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5000</a:t>
            </a:r>
            <a:endParaRPr lang="ko-KR" altLang="ko-KR" kern="10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spcAft>
                <a:spcPts val="0"/>
              </a:spcAft>
            </a:pPr>
            <a:r>
              <a:rPr lang="en-US" altLang="ko-KR" kern="10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en-US" altLang="ko-KR" kern="10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en-US" altLang="ko-KR" kern="10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20 </a:t>
            </a:r>
            <a:r>
              <a:rPr lang="en-US" altLang="ko-KR" kern="10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 SCOTT        3000</a:t>
            </a:r>
            <a:endParaRPr lang="ko-KR" altLang="ko-KR" kern="10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spcAft>
                <a:spcPts val="0"/>
              </a:spcAft>
            </a:pPr>
            <a:r>
              <a:rPr lang="en-US" altLang="ko-KR" kern="10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en-US" altLang="ko-KR" kern="10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en-US" altLang="ko-KR" kern="10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20 </a:t>
            </a:r>
            <a:r>
              <a:rPr lang="en-US" altLang="ko-KR" kern="10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 FORD         3000</a:t>
            </a:r>
            <a:endParaRPr lang="ko-KR" altLang="ko-KR" kern="10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en-US" altLang="ko-KR" kern="100">
                <a:latin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en-US" altLang="ko-KR" kern="10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en-US" altLang="ko-KR" kern="100">
                <a:latin typeface="맑은 고딕" panose="020B0503020000020004" pitchFamily="50" charset="-127"/>
                <a:cs typeface="Times New Roman" panose="02020603050405020304" pitchFamily="18" charset="0"/>
              </a:rPr>
              <a:t>30 </a:t>
            </a:r>
            <a:r>
              <a:rPr lang="en-US" altLang="ko-KR" kern="10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    BLAKE        2850</a:t>
            </a:r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8145109" y="5777469"/>
            <a:ext cx="32122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>
                <a:solidFill>
                  <a:srgbClr val="FF0000"/>
                </a:solidFill>
              </a:rPr>
              <a:t>This practice makes the expert</a:t>
            </a:r>
          </a:p>
        </p:txBody>
      </p:sp>
    </p:spTree>
    <p:extLst>
      <p:ext uri="{BB962C8B-B14F-4D97-AF65-F5344CB8AC3E}">
        <p14:creationId xmlns:p14="http://schemas.microsoft.com/office/powerpoint/2010/main" val="2305795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예문 </a:t>
            </a:r>
            <a:r>
              <a:rPr lang="en-US" altLang="ko-KR" smtClean="0"/>
              <a:t>- 3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559663"/>
          </a:xfrm>
        </p:spPr>
        <p:txBody>
          <a:bodyPr>
            <a:normAutofit fontScale="85000" lnSpcReduction="20000"/>
          </a:bodyPr>
          <a:lstStyle/>
          <a:p>
            <a:r>
              <a:rPr lang="ko-KR" altLang="ko-KR" b="1" smtClean="0">
                <a:solidFill>
                  <a:srgbClr val="0070C0"/>
                </a:solidFill>
              </a:rPr>
              <a:t>각 </a:t>
            </a:r>
            <a:r>
              <a:rPr lang="ko-KR" altLang="ko-KR" b="1">
                <a:solidFill>
                  <a:srgbClr val="0070C0"/>
                </a:solidFill>
              </a:rPr>
              <a:t>부서의 최대 급여를 받는 사원의 부서코드</a:t>
            </a:r>
            <a:r>
              <a:rPr lang="en-US" altLang="ko-KR" b="1">
                <a:solidFill>
                  <a:srgbClr val="0070C0"/>
                </a:solidFill>
              </a:rPr>
              <a:t>, </a:t>
            </a:r>
            <a:r>
              <a:rPr lang="ko-KR" altLang="ko-KR" b="1">
                <a:solidFill>
                  <a:srgbClr val="0070C0"/>
                </a:solidFill>
              </a:rPr>
              <a:t>이름</a:t>
            </a:r>
            <a:r>
              <a:rPr lang="en-US" altLang="ko-KR" b="1">
                <a:solidFill>
                  <a:srgbClr val="0070C0"/>
                </a:solidFill>
              </a:rPr>
              <a:t>, </a:t>
            </a:r>
            <a:r>
              <a:rPr lang="ko-KR" altLang="ko-KR" b="1">
                <a:solidFill>
                  <a:srgbClr val="0070C0"/>
                </a:solidFill>
              </a:rPr>
              <a:t>급여를 출력하는데 부서코드 순으로 오름차순 정렬하여 출력하는 예문 </a:t>
            </a:r>
            <a:endParaRPr lang="en-US" altLang="ko-KR" b="1" smtClean="0">
              <a:solidFill>
                <a:srgbClr val="0070C0"/>
              </a:solidFill>
            </a:endParaRPr>
          </a:p>
          <a:p>
            <a:r>
              <a:rPr lang="ko-KR" altLang="en-US" b="1" smtClean="0">
                <a:solidFill>
                  <a:srgbClr val="0070C0"/>
                </a:solidFill>
              </a:rPr>
              <a:t>조인</a:t>
            </a:r>
            <a:r>
              <a:rPr lang="en-US" altLang="ko-KR" b="1" smtClean="0">
                <a:solidFill>
                  <a:srgbClr val="0070C0"/>
                </a:solidFill>
              </a:rPr>
              <a:t>, </a:t>
            </a:r>
            <a:r>
              <a:rPr lang="ko-KR" altLang="en-US" b="1" smtClean="0">
                <a:solidFill>
                  <a:srgbClr val="0070C0"/>
                </a:solidFill>
              </a:rPr>
              <a:t>인라인뷰로 구현</a:t>
            </a:r>
            <a:endParaRPr lang="en-US" altLang="ko-KR" b="1" smtClean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altLang="ko-KR"/>
              <a:t>select e1.ename, e1.sal, e1.deptno </a:t>
            </a:r>
          </a:p>
          <a:p>
            <a:pPr marL="0" indent="0">
              <a:buNone/>
            </a:pPr>
            <a:r>
              <a:rPr lang="en-US" altLang="ko-KR"/>
              <a:t>from emp e1, ( select deptno, max(sal) as msal </a:t>
            </a:r>
            <a:endParaRPr lang="en-US" altLang="ko-KR" smtClean="0"/>
          </a:p>
          <a:p>
            <a:pPr marL="0" indent="0">
              <a:buNone/>
            </a:pPr>
            <a:r>
              <a:rPr lang="en-US" altLang="ko-KR"/>
              <a:t> </a:t>
            </a:r>
            <a:r>
              <a:rPr lang="en-US" altLang="ko-KR" smtClean="0"/>
              <a:t>                       from </a:t>
            </a:r>
            <a:r>
              <a:rPr lang="en-US" altLang="ko-KR"/>
              <a:t>emp group by deptno ) e2 </a:t>
            </a:r>
          </a:p>
          <a:p>
            <a:pPr marL="0" indent="0">
              <a:buNone/>
            </a:pPr>
            <a:r>
              <a:rPr lang="en-US" altLang="ko-KR" smtClean="0"/>
              <a:t>                        where </a:t>
            </a:r>
            <a:r>
              <a:rPr lang="en-US" altLang="ko-KR"/>
              <a:t>e1.deptno = e2.deptno </a:t>
            </a:r>
          </a:p>
          <a:p>
            <a:pPr marL="0" indent="0">
              <a:buNone/>
            </a:pPr>
            <a:r>
              <a:rPr lang="en-US" altLang="ko-KR" smtClean="0"/>
              <a:t>                        </a:t>
            </a:r>
            <a:r>
              <a:rPr lang="en-US" altLang="ko-KR"/>
              <a:t>and  e1.sal = </a:t>
            </a:r>
            <a:r>
              <a:rPr lang="en-US" altLang="ko-KR" smtClean="0"/>
              <a:t>e2.msal</a:t>
            </a:r>
          </a:p>
          <a:p>
            <a:pPr marL="0" indent="0">
              <a:buNone/>
            </a:pPr>
            <a:r>
              <a:rPr lang="en-US" altLang="ko-KR" smtClean="0"/>
              <a:t> </a:t>
            </a:r>
            <a:r>
              <a:rPr lang="en-US" altLang="ko-KR"/>
              <a:t>order by e1.deptno;</a:t>
            </a:r>
          </a:p>
          <a:p>
            <a:pPr marL="0" indent="0">
              <a:buNone/>
            </a:pPr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7100044" y="3694837"/>
            <a:ext cx="353657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latinLnBrk="1">
              <a:spcAft>
                <a:spcPts val="0"/>
              </a:spcAft>
            </a:pPr>
            <a:r>
              <a:rPr lang="en-US" altLang="ko-KR" kern="10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DEPTNO </a:t>
            </a:r>
            <a:r>
              <a:rPr lang="en-US" altLang="ko-KR" kern="10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ENAME       </a:t>
            </a:r>
            <a:r>
              <a:rPr lang="en-US" altLang="ko-KR" kern="10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SAL</a:t>
            </a:r>
            <a:endParaRPr lang="ko-KR" altLang="ko-KR" kern="10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spcAft>
                <a:spcPts val="0"/>
              </a:spcAft>
            </a:pPr>
            <a:r>
              <a:rPr lang="en-US" altLang="ko-KR" kern="10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---------- ---------- ----------</a:t>
            </a:r>
            <a:endParaRPr lang="ko-KR" altLang="ko-KR" kern="10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spcAft>
                <a:spcPts val="0"/>
              </a:spcAft>
            </a:pPr>
            <a:r>
              <a:rPr lang="en-US" altLang="ko-KR" kern="10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en-US" altLang="ko-KR" kern="10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10       </a:t>
            </a:r>
            <a:r>
              <a:rPr lang="en-US" altLang="ko-KR" kern="10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KING      </a:t>
            </a:r>
            <a:r>
              <a:rPr lang="en-US" altLang="ko-KR" kern="10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5000</a:t>
            </a:r>
            <a:endParaRPr lang="ko-KR" altLang="ko-KR" kern="10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spcAft>
                <a:spcPts val="0"/>
              </a:spcAft>
            </a:pPr>
            <a:r>
              <a:rPr lang="en-US" altLang="ko-KR" kern="10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en-US" altLang="ko-KR" kern="10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en-US" altLang="ko-KR" kern="10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20 </a:t>
            </a:r>
            <a:r>
              <a:rPr lang="en-US" altLang="ko-KR" kern="10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 SCOTT        3000</a:t>
            </a:r>
            <a:endParaRPr lang="ko-KR" altLang="ko-KR" kern="10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spcAft>
                <a:spcPts val="0"/>
              </a:spcAft>
            </a:pPr>
            <a:r>
              <a:rPr lang="en-US" altLang="ko-KR" kern="10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en-US" altLang="ko-KR" kern="10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en-US" altLang="ko-KR" kern="10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20 </a:t>
            </a:r>
            <a:r>
              <a:rPr lang="en-US" altLang="ko-KR" kern="10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 FORD         3000</a:t>
            </a:r>
            <a:endParaRPr lang="ko-KR" altLang="ko-KR" kern="10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en-US" altLang="ko-KR" kern="100">
                <a:latin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en-US" altLang="ko-KR" kern="10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en-US" altLang="ko-KR" kern="100">
                <a:latin typeface="맑은 고딕" panose="020B0503020000020004" pitchFamily="50" charset="-127"/>
                <a:cs typeface="Times New Roman" panose="02020603050405020304" pitchFamily="18" charset="0"/>
              </a:rPr>
              <a:t>30 </a:t>
            </a:r>
            <a:r>
              <a:rPr lang="en-US" altLang="ko-KR" kern="10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    BLAKE        2850</a:t>
            </a:r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8145109" y="5777469"/>
            <a:ext cx="32122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>
                <a:solidFill>
                  <a:srgbClr val="FF0000"/>
                </a:solidFill>
              </a:rPr>
              <a:t>This practice makes the expert</a:t>
            </a:r>
          </a:p>
        </p:txBody>
      </p:sp>
    </p:spTree>
    <p:extLst>
      <p:ext uri="{BB962C8B-B14F-4D97-AF65-F5344CB8AC3E}">
        <p14:creationId xmlns:p14="http://schemas.microsoft.com/office/powerpoint/2010/main" val="2939232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예문 </a:t>
            </a:r>
            <a:r>
              <a:rPr lang="en-US" altLang="ko-KR" smtClean="0"/>
              <a:t>- 4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559663"/>
          </a:xfrm>
        </p:spPr>
        <p:txBody>
          <a:bodyPr>
            <a:normAutofit/>
          </a:bodyPr>
          <a:lstStyle/>
          <a:p>
            <a:r>
              <a:rPr lang="ko-KR" altLang="en-US" b="1" smtClean="0">
                <a:solidFill>
                  <a:srgbClr val="0070C0"/>
                </a:solidFill>
              </a:rPr>
              <a:t>각 </a:t>
            </a:r>
            <a:r>
              <a:rPr lang="ko-KR" altLang="en-US" b="1">
                <a:solidFill>
                  <a:srgbClr val="0070C0"/>
                </a:solidFill>
              </a:rPr>
              <a:t>직무</a:t>
            </a:r>
            <a:r>
              <a:rPr lang="en-US" altLang="ko-KR" b="1">
                <a:solidFill>
                  <a:srgbClr val="0070C0"/>
                </a:solidFill>
              </a:rPr>
              <a:t>(JOB)</a:t>
            </a:r>
            <a:r>
              <a:rPr lang="ko-KR" altLang="en-US" b="1">
                <a:solidFill>
                  <a:srgbClr val="0070C0"/>
                </a:solidFill>
              </a:rPr>
              <a:t>별로 최대 급여를 받는 사원의 직무</a:t>
            </a:r>
            <a:r>
              <a:rPr lang="en-US" altLang="ko-KR" b="1">
                <a:solidFill>
                  <a:srgbClr val="0070C0"/>
                </a:solidFill>
              </a:rPr>
              <a:t>, </a:t>
            </a:r>
            <a:r>
              <a:rPr lang="ko-KR" altLang="en-US" b="1">
                <a:solidFill>
                  <a:srgbClr val="0070C0"/>
                </a:solidFill>
              </a:rPr>
              <a:t>이름</a:t>
            </a:r>
            <a:r>
              <a:rPr lang="en-US" altLang="ko-KR" b="1">
                <a:solidFill>
                  <a:srgbClr val="0070C0"/>
                </a:solidFill>
              </a:rPr>
              <a:t>, </a:t>
            </a:r>
            <a:r>
              <a:rPr lang="ko-KR" altLang="en-US" b="1">
                <a:solidFill>
                  <a:srgbClr val="0070C0"/>
                </a:solidFill>
              </a:rPr>
              <a:t>급여를 출력하는데 </a:t>
            </a:r>
            <a:r>
              <a:rPr lang="ko-KR" altLang="en-US" b="1" smtClean="0">
                <a:solidFill>
                  <a:srgbClr val="0070C0"/>
                </a:solidFill>
              </a:rPr>
              <a:t>직무명순으로 </a:t>
            </a:r>
            <a:r>
              <a:rPr lang="ko-KR" altLang="en-US" b="1">
                <a:solidFill>
                  <a:srgbClr val="0070C0"/>
                </a:solidFill>
              </a:rPr>
              <a:t>오름차순 정렬하여 출력하는 예문</a:t>
            </a:r>
          </a:p>
          <a:p>
            <a:pPr marL="0" indent="0">
              <a:buNone/>
            </a:pPr>
            <a:r>
              <a:rPr lang="en-US" altLang="ko-KR" smtClean="0">
                <a:solidFill>
                  <a:schemeClr val="tx1"/>
                </a:solidFill>
              </a:rPr>
              <a:t>select </a:t>
            </a:r>
            <a:r>
              <a:rPr lang="en-US" altLang="ko-KR">
                <a:solidFill>
                  <a:schemeClr val="tx1"/>
                </a:solidFill>
              </a:rPr>
              <a:t>job, ename, sal from emp e1</a:t>
            </a:r>
          </a:p>
          <a:p>
            <a:pPr marL="0" indent="0">
              <a:buNone/>
            </a:pPr>
            <a:r>
              <a:rPr lang="en-US" altLang="ko-KR">
                <a:solidFill>
                  <a:schemeClr val="tx1"/>
                </a:solidFill>
              </a:rPr>
              <a:t>    where sal = (select max(sal) from emp e2</a:t>
            </a:r>
          </a:p>
          <a:p>
            <a:pPr marL="0" indent="0">
              <a:buNone/>
            </a:pPr>
            <a:r>
              <a:rPr lang="en-US" altLang="ko-KR">
                <a:solidFill>
                  <a:schemeClr val="tx1"/>
                </a:solidFill>
              </a:rPr>
              <a:t>                 </a:t>
            </a:r>
            <a:r>
              <a:rPr lang="en-US" altLang="ko-KR" smtClean="0">
                <a:solidFill>
                  <a:schemeClr val="tx1"/>
                </a:solidFill>
              </a:rPr>
              <a:t>       where </a:t>
            </a:r>
            <a:r>
              <a:rPr lang="en-US" altLang="ko-KR">
                <a:solidFill>
                  <a:schemeClr val="tx1"/>
                </a:solidFill>
              </a:rPr>
              <a:t>e1.job = e2.job)</a:t>
            </a:r>
          </a:p>
          <a:p>
            <a:pPr marL="0" indent="0">
              <a:buNone/>
            </a:pPr>
            <a:r>
              <a:rPr lang="en-US" altLang="ko-KR" smtClean="0">
                <a:solidFill>
                  <a:schemeClr val="tx1"/>
                </a:solidFill>
              </a:rPr>
              <a:t>order </a:t>
            </a:r>
            <a:r>
              <a:rPr lang="en-US" altLang="ko-KR">
                <a:solidFill>
                  <a:schemeClr val="tx1"/>
                </a:solidFill>
              </a:rPr>
              <a:t>by deptno;</a:t>
            </a:r>
          </a:p>
          <a:p>
            <a:pPr marL="0" indent="0">
              <a:buNone/>
            </a:pPr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7100044" y="3694837"/>
            <a:ext cx="402103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latinLnBrk="1">
              <a:spcAft>
                <a:spcPts val="0"/>
              </a:spcAft>
            </a:pPr>
            <a:r>
              <a:rPr lang="en-US" altLang="ko-KR" kern="10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JOB       </a:t>
            </a:r>
            <a:r>
              <a:rPr lang="en-US" altLang="ko-KR" kern="10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 ENAME             </a:t>
            </a:r>
            <a:r>
              <a:rPr lang="en-US" altLang="ko-KR" kern="10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SAL</a:t>
            </a:r>
          </a:p>
          <a:p>
            <a:pPr algn="just" latinLnBrk="1">
              <a:spcAft>
                <a:spcPts val="0"/>
              </a:spcAft>
            </a:pPr>
            <a:r>
              <a:rPr lang="en-US" altLang="ko-KR" kern="10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--------- </a:t>
            </a:r>
            <a:r>
              <a:rPr lang="en-US" altLang="ko-KR" kern="10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 ----------       ----------</a:t>
            </a:r>
            <a:endParaRPr lang="en-US" altLang="ko-KR" kern="10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spcAft>
                <a:spcPts val="0"/>
              </a:spcAft>
            </a:pPr>
            <a:r>
              <a:rPr lang="en-US" altLang="ko-KR" kern="10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PRESIDENT  </a:t>
            </a:r>
            <a:r>
              <a:rPr lang="en-US" altLang="ko-KR" kern="10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KING             </a:t>
            </a:r>
            <a:r>
              <a:rPr lang="en-US" altLang="ko-KR" kern="10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5000</a:t>
            </a:r>
          </a:p>
          <a:p>
            <a:pPr algn="just" latinLnBrk="1">
              <a:spcAft>
                <a:spcPts val="0"/>
              </a:spcAft>
            </a:pPr>
            <a:r>
              <a:rPr lang="en-US" altLang="ko-KR" kern="10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CLERK      </a:t>
            </a:r>
            <a:r>
              <a:rPr lang="en-US" altLang="ko-KR" kern="10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MILLER           </a:t>
            </a:r>
            <a:r>
              <a:rPr lang="en-US" altLang="ko-KR" kern="10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1300</a:t>
            </a:r>
          </a:p>
          <a:p>
            <a:pPr algn="just" latinLnBrk="1">
              <a:spcAft>
                <a:spcPts val="0"/>
              </a:spcAft>
            </a:pPr>
            <a:r>
              <a:rPr lang="en-US" altLang="ko-KR" kern="10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MANAGER   </a:t>
            </a:r>
            <a:r>
              <a:rPr lang="en-US" altLang="ko-KR" kern="10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JONES            </a:t>
            </a:r>
            <a:r>
              <a:rPr lang="en-US" altLang="ko-KR" kern="10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2975</a:t>
            </a:r>
          </a:p>
          <a:p>
            <a:pPr algn="just" latinLnBrk="1">
              <a:spcAft>
                <a:spcPts val="0"/>
              </a:spcAft>
            </a:pPr>
            <a:r>
              <a:rPr lang="en-US" altLang="ko-KR" kern="10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ANALYST    </a:t>
            </a:r>
            <a:r>
              <a:rPr lang="en-US" altLang="ko-KR" kern="10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SCOTT            3000</a:t>
            </a:r>
          </a:p>
          <a:p>
            <a:pPr algn="just" latinLnBrk="1">
              <a:spcAft>
                <a:spcPts val="0"/>
              </a:spcAft>
            </a:pPr>
            <a:r>
              <a:rPr lang="en-US" altLang="ko-KR" kern="10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……</a:t>
            </a:r>
          </a:p>
          <a:p>
            <a:pPr algn="just" latinLnBrk="1">
              <a:spcAft>
                <a:spcPts val="0"/>
              </a:spcAft>
            </a:pPr>
            <a:r>
              <a:rPr lang="en-US" altLang="ko-KR" kern="10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……</a:t>
            </a:r>
            <a:endParaRPr lang="en-US" altLang="ko-KR" kern="10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8145109" y="5777469"/>
            <a:ext cx="32122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>
                <a:solidFill>
                  <a:srgbClr val="FF0000"/>
                </a:solidFill>
              </a:rPr>
              <a:t>This practice makes the expert</a:t>
            </a:r>
          </a:p>
        </p:txBody>
      </p:sp>
    </p:spTree>
    <p:extLst>
      <p:ext uri="{BB962C8B-B14F-4D97-AF65-F5344CB8AC3E}">
        <p14:creationId xmlns:p14="http://schemas.microsoft.com/office/powerpoint/2010/main" val="2553370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예문 </a:t>
            </a:r>
            <a:r>
              <a:rPr lang="en-US" altLang="ko-KR" smtClean="0"/>
              <a:t>- 5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559663"/>
          </a:xfrm>
        </p:spPr>
        <p:txBody>
          <a:bodyPr>
            <a:normAutofit/>
          </a:bodyPr>
          <a:lstStyle/>
          <a:p>
            <a:r>
              <a:rPr lang="ko-KR" altLang="ko-KR" b="1" smtClean="0"/>
              <a:t>자신이 </a:t>
            </a:r>
            <a:r>
              <a:rPr lang="ko-KR" altLang="ko-KR" b="1"/>
              <a:t>속한 부서의 평균 급여보다 급여를 적게 받는 사원의 부서</a:t>
            </a:r>
            <a:r>
              <a:rPr lang="en-US" altLang="ko-KR" b="1"/>
              <a:t>, </a:t>
            </a:r>
            <a:r>
              <a:rPr lang="ko-KR" altLang="ko-KR" b="1"/>
              <a:t>사원명</a:t>
            </a:r>
            <a:r>
              <a:rPr lang="en-US" altLang="ko-KR" b="1"/>
              <a:t>, </a:t>
            </a:r>
            <a:r>
              <a:rPr lang="ko-KR" altLang="ko-KR" b="1"/>
              <a:t>급여를 출력하되 부서 순으로 오름차순 정렬하여 </a:t>
            </a:r>
            <a:r>
              <a:rPr lang="ko-KR" altLang="ko-KR" b="1" smtClean="0"/>
              <a:t>출력</a:t>
            </a:r>
            <a:r>
              <a:rPr lang="en-US" altLang="ko-KR"/>
              <a:t> </a:t>
            </a:r>
            <a:endParaRPr lang="ko-KR" altLang="ko-KR"/>
          </a:p>
          <a:p>
            <a:pPr marL="0" indent="0">
              <a:buNone/>
            </a:pPr>
            <a:r>
              <a:rPr lang="en-US" altLang="ko-KR" smtClean="0"/>
              <a:t>select </a:t>
            </a:r>
            <a:r>
              <a:rPr lang="en-US" altLang="ko-KR"/>
              <a:t>deptno, ename, sal from emp e1</a:t>
            </a:r>
            <a:endParaRPr lang="ko-KR" altLang="ko-KR"/>
          </a:p>
          <a:p>
            <a:pPr marL="0" indent="0">
              <a:buNone/>
            </a:pPr>
            <a:r>
              <a:rPr lang="en-US" altLang="ko-KR"/>
              <a:t>    where sal &lt; (select avg(sal) from emp e2</a:t>
            </a:r>
            <a:endParaRPr lang="ko-KR" altLang="ko-KR"/>
          </a:p>
          <a:p>
            <a:pPr marL="0" indent="0">
              <a:buNone/>
            </a:pPr>
            <a:r>
              <a:rPr lang="en-US" altLang="ko-KR"/>
              <a:t>                 </a:t>
            </a:r>
            <a:r>
              <a:rPr lang="en-US" altLang="ko-KR" smtClean="0"/>
              <a:t>      where </a:t>
            </a:r>
            <a:r>
              <a:rPr lang="en-US" altLang="ko-KR"/>
              <a:t>e1.deptno = e2.deptno)</a:t>
            </a:r>
            <a:endParaRPr lang="ko-KR" altLang="ko-KR"/>
          </a:p>
          <a:p>
            <a:pPr marL="0" indent="0">
              <a:buNone/>
            </a:pPr>
            <a:r>
              <a:rPr lang="en-US" altLang="ko-KR" smtClean="0"/>
              <a:t>order </a:t>
            </a:r>
            <a:r>
              <a:rPr lang="en-US" altLang="ko-KR"/>
              <a:t>by deptno;</a:t>
            </a:r>
            <a:endParaRPr lang="ko-KR" altLang="ko-KR"/>
          </a:p>
          <a:p>
            <a:pPr marL="0" indent="0">
              <a:buNone/>
            </a:pPr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7100044" y="3694837"/>
            <a:ext cx="402103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/>
            <a:r>
              <a:rPr lang="en-US" altLang="ko-KR"/>
              <a:t>DEPTNO </a:t>
            </a:r>
            <a:r>
              <a:rPr lang="en-US" altLang="ko-KR" smtClean="0"/>
              <a:t>     ENAME             </a:t>
            </a:r>
            <a:r>
              <a:rPr lang="en-US" altLang="ko-KR"/>
              <a:t>SAL</a:t>
            </a:r>
            <a:endParaRPr lang="ko-KR" altLang="ko-KR"/>
          </a:p>
          <a:p>
            <a:pPr latinLnBrk="1"/>
            <a:r>
              <a:rPr lang="en-US" altLang="ko-KR"/>
              <a:t>---------- </a:t>
            </a:r>
            <a:r>
              <a:rPr lang="en-US" altLang="ko-KR" smtClean="0"/>
              <a:t>         ------------          </a:t>
            </a:r>
            <a:r>
              <a:rPr lang="en-US" altLang="ko-KR"/>
              <a:t>----------</a:t>
            </a:r>
            <a:endParaRPr lang="ko-KR" altLang="ko-KR"/>
          </a:p>
          <a:p>
            <a:pPr latinLnBrk="1"/>
            <a:r>
              <a:rPr lang="en-US" altLang="ko-KR"/>
              <a:t>        10 </a:t>
            </a:r>
            <a:r>
              <a:rPr lang="en-US" altLang="ko-KR" smtClean="0"/>
              <a:t>          CLARK            </a:t>
            </a:r>
            <a:r>
              <a:rPr lang="en-US" altLang="ko-KR"/>
              <a:t>2450</a:t>
            </a:r>
            <a:endParaRPr lang="ko-KR" altLang="ko-KR"/>
          </a:p>
          <a:p>
            <a:pPr latinLnBrk="1"/>
            <a:r>
              <a:rPr lang="en-US" altLang="ko-KR"/>
              <a:t>        10 </a:t>
            </a:r>
            <a:r>
              <a:rPr lang="en-US" altLang="ko-KR" smtClean="0"/>
              <a:t>         MILLER           </a:t>
            </a:r>
            <a:r>
              <a:rPr lang="en-US" altLang="ko-KR"/>
              <a:t>1300</a:t>
            </a:r>
            <a:endParaRPr lang="ko-KR" altLang="ko-KR"/>
          </a:p>
          <a:p>
            <a:pPr latinLnBrk="1"/>
            <a:r>
              <a:rPr lang="en-US" altLang="ko-KR"/>
              <a:t>        20 </a:t>
            </a:r>
            <a:r>
              <a:rPr lang="en-US" altLang="ko-KR" smtClean="0"/>
              <a:t>         SMITH               800</a:t>
            </a:r>
            <a:endParaRPr lang="ko-KR" altLang="ko-KR"/>
          </a:p>
          <a:p>
            <a:pPr latinLnBrk="1"/>
            <a:r>
              <a:rPr lang="en-US" altLang="ko-KR"/>
              <a:t>        20 </a:t>
            </a:r>
            <a:r>
              <a:rPr lang="en-US" altLang="ko-KR" smtClean="0"/>
              <a:t>         ADAMS            1100</a:t>
            </a:r>
          </a:p>
          <a:p>
            <a:pPr latinLnBrk="1"/>
            <a:r>
              <a:rPr lang="en-US" altLang="ko-KR" smtClean="0"/>
              <a:t>……</a:t>
            </a:r>
          </a:p>
          <a:p>
            <a:pPr latinLnBrk="1"/>
            <a:r>
              <a:rPr lang="en-US" altLang="ko-KR" smtClean="0"/>
              <a:t>……</a:t>
            </a:r>
            <a:endParaRPr lang="ko-KR" altLang="ko-KR"/>
          </a:p>
        </p:txBody>
      </p:sp>
      <p:sp>
        <p:nvSpPr>
          <p:cNvPr id="6" name="직사각형 5"/>
          <p:cNvSpPr/>
          <p:nvPr/>
        </p:nvSpPr>
        <p:spPr>
          <a:xfrm>
            <a:off x="8145109" y="5777469"/>
            <a:ext cx="32122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>
                <a:solidFill>
                  <a:srgbClr val="FF0000"/>
                </a:solidFill>
              </a:rPr>
              <a:t>This practice makes the expert</a:t>
            </a:r>
          </a:p>
        </p:txBody>
      </p:sp>
    </p:spTree>
    <p:extLst>
      <p:ext uri="{BB962C8B-B14F-4D97-AF65-F5344CB8AC3E}">
        <p14:creationId xmlns:p14="http://schemas.microsoft.com/office/powerpoint/2010/main" val="2153022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예문 </a:t>
            </a:r>
            <a:r>
              <a:rPr lang="en-US" altLang="ko-KR" smtClean="0"/>
              <a:t>- 6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559663"/>
          </a:xfrm>
        </p:spPr>
        <p:txBody>
          <a:bodyPr>
            <a:normAutofit/>
          </a:bodyPr>
          <a:lstStyle/>
          <a:p>
            <a:r>
              <a:rPr lang="en-US" altLang="ko-KR" b="1" smtClean="0"/>
              <a:t>EMP </a:t>
            </a:r>
            <a:r>
              <a:rPr lang="ko-KR" altLang="ko-KR" b="1"/>
              <a:t>테이블에서 급여가 높은 사원</a:t>
            </a:r>
            <a:r>
              <a:rPr lang="en-US" altLang="ko-KR" b="1"/>
              <a:t> 5</a:t>
            </a:r>
            <a:r>
              <a:rPr lang="ko-KR" altLang="ko-KR" b="1"/>
              <a:t>명을 출력 하는 예문</a:t>
            </a:r>
            <a:endParaRPr lang="ko-KR" altLang="ko-KR"/>
          </a:p>
          <a:p>
            <a:pPr marL="0" indent="0">
              <a:buNone/>
            </a:pPr>
            <a:r>
              <a:rPr lang="en-US" altLang="ko-KR" smtClean="0"/>
              <a:t>select </a:t>
            </a:r>
            <a:r>
              <a:rPr lang="en-US" altLang="ko-KR"/>
              <a:t>ename, sal from emp e1</a:t>
            </a:r>
            <a:endParaRPr lang="ko-KR" altLang="ko-KR"/>
          </a:p>
          <a:p>
            <a:pPr marL="0" indent="0">
              <a:buNone/>
            </a:pPr>
            <a:r>
              <a:rPr lang="en-US" altLang="ko-KR"/>
              <a:t>    where 5 &gt; (select count(*) from emp e2</a:t>
            </a:r>
            <a:endParaRPr lang="ko-KR" altLang="ko-KR"/>
          </a:p>
          <a:p>
            <a:pPr marL="0" indent="0">
              <a:buNone/>
            </a:pPr>
            <a:r>
              <a:rPr lang="en-US" altLang="ko-KR"/>
              <a:t>               where e2.sal &gt; e1.sal)</a:t>
            </a:r>
            <a:endParaRPr lang="ko-KR" altLang="ko-KR"/>
          </a:p>
          <a:p>
            <a:pPr marL="0" indent="0">
              <a:buNone/>
            </a:pPr>
            <a:r>
              <a:rPr lang="en-US" altLang="ko-KR" smtClean="0"/>
              <a:t> </a:t>
            </a:r>
            <a:r>
              <a:rPr lang="en-US" altLang="ko-KR"/>
              <a:t>order by sal desc;</a:t>
            </a:r>
            <a:endParaRPr lang="ko-KR" altLang="ko-KR"/>
          </a:p>
          <a:p>
            <a:pPr marL="0" indent="0">
              <a:buNone/>
            </a:pPr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7446034" y="3633053"/>
            <a:ext cx="238994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/>
            <a:r>
              <a:rPr lang="en-US" altLang="ko-KR"/>
              <a:t>ENAME        </a:t>
            </a:r>
            <a:r>
              <a:rPr lang="en-US" altLang="ko-KR" smtClean="0"/>
              <a:t>   </a:t>
            </a:r>
            <a:r>
              <a:rPr lang="en-US" altLang="ko-KR"/>
              <a:t>SAL</a:t>
            </a:r>
            <a:endParaRPr lang="ko-KR" altLang="ko-KR"/>
          </a:p>
          <a:p>
            <a:pPr latinLnBrk="1"/>
            <a:r>
              <a:rPr lang="en-US" altLang="ko-KR"/>
              <a:t>---------- </a:t>
            </a:r>
            <a:r>
              <a:rPr lang="en-US" altLang="ko-KR" smtClean="0"/>
              <a:t>          ----------</a:t>
            </a:r>
            <a:endParaRPr lang="ko-KR" altLang="ko-KR"/>
          </a:p>
          <a:p>
            <a:pPr latinLnBrk="1"/>
            <a:r>
              <a:rPr lang="en-US" altLang="ko-KR"/>
              <a:t>KING          </a:t>
            </a:r>
            <a:r>
              <a:rPr lang="en-US" altLang="ko-KR" smtClean="0"/>
              <a:t>    </a:t>
            </a:r>
            <a:r>
              <a:rPr lang="en-US" altLang="ko-KR"/>
              <a:t>5000</a:t>
            </a:r>
            <a:endParaRPr lang="ko-KR" altLang="ko-KR"/>
          </a:p>
          <a:p>
            <a:pPr latinLnBrk="1"/>
            <a:r>
              <a:rPr lang="en-US" altLang="ko-KR"/>
              <a:t>SCOTT            3000</a:t>
            </a:r>
            <a:endParaRPr lang="ko-KR" altLang="ko-KR"/>
          </a:p>
          <a:p>
            <a:pPr latinLnBrk="1"/>
            <a:r>
              <a:rPr lang="en-US" altLang="ko-KR"/>
              <a:t>FORD             3000</a:t>
            </a:r>
            <a:endParaRPr lang="ko-KR" altLang="ko-KR"/>
          </a:p>
          <a:p>
            <a:pPr latinLnBrk="1"/>
            <a:r>
              <a:rPr lang="en-US" altLang="ko-KR"/>
              <a:t>JONES            2975</a:t>
            </a:r>
            <a:endParaRPr lang="ko-KR" altLang="ko-KR"/>
          </a:p>
          <a:p>
            <a:pPr latinLnBrk="1"/>
            <a:r>
              <a:rPr lang="en-US" altLang="ko-KR"/>
              <a:t>BLAKE         </a:t>
            </a:r>
            <a:r>
              <a:rPr lang="en-US" altLang="ko-KR" smtClean="0"/>
              <a:t>  </a:t>
            </a:r>
            <a:r>
              <a:rPr lang="en-US" altLang="ko-KR"/>
              <a:t>2850</a:t>
            </a:r>
            <a:endParaRPr lang="ko-KR" altLang="ko-KR"/>
          </a:p>
        </p:txBody>
      </p:sp>
      <p:sp>
        <p:nvSpPr>
          <p:cNvPr id="6" name="직사각형 5"/>
          <p:cNvSpPr/>
          <p:nvPr/>
        </p:nvSpPr>
        <p:spPr>
          <a:xfrm>
            <a:off x="8145109" y="5777469"/>
            <a:ext cx="32122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>
                <a:solidFill>
                  <a:srgbClr val="FF0000"/>
                </a:solidFill>
              </a:rPr>
              <a:t>This practice makes the expert</a:t>
            </a:r>
          </a:p>
        </p:txBody>
      </p:sp>
    </p:spTree>
    <p:extLst>
      <p:ext uri="{BB962C8B-B14F-4D97-AF65-F5344CB8AC3E}">
        <p14:creationId xmlns:p14="http://schemas.microsoft.com/office/powerpoint/2010/main" val="1380542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예문 </a:t>
            </a:r>
            <a:r>
              <a:rPr lang="en-US" altLang="ko-KR" smtClean="0"/>
              <a:t>- 7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559663"/>
          </a:xfrm>
        </p:spPr>
        <p:txBody>
          <a:bodyPr>
            <a:normAutofit/>
          </a:bodyPr>
          <a:lstStyle/>
          <a:p>
            <a:r>
              <a:rPr lang="ko-KR" altLang="ko-KR" b="1" smtClean="0">
                <a:solidFill>
                  <a:srgbClr val="0070C0"/>
                </a:solidFill>
              </a:rPr>
              <a:t>각 </a:t>
            </a:r>
            <a:r>
              <a:rPr lang="ko-KR" altLang="ko-KR" b="1">
                <a:solidFill>
                  <a:srgbClr val="0070C0"/>
                </a:solidFill>
              </a:rPr>
              <a:t>부서별로 급여가 높은 사람</a:t>
            </a:r>
            <a:r>
              <a:rPr lang="en-US" altLang="ko-KR" b="1">
                <a:solidFill>
                  <a:srgbClr val="0070C0"/>
                </a:solidFill>
              </a:rPr>
              <a:t> 2</a:t>
            </a:r>
            <a:r>
              <a:rPr lang="ko-KR" altLang="ko-KR" b="1">
                <a:solidFill>
                  <a:srgbClr val="0070C0"/>
                </a:solidFill>
              </a:rPr>
              <a:t>명씩 출력 하는 예문</a:t>
            </a:r>
          </a:p>
          <a:p>
            <a:pPr marL="0" indent="0">
              <a:buNone/>
            </a:pPr>
            <a:r>
              <a:rPr lang="en-US" altLang="ko-KR" smtClean="0"/>
              <a:t>select </a:t>
            </a:r>
            <a:r>
              <a:rPr lang="en-US" altLang="ko-KR"/>
              <a:t>deptno, ename, sal from emp e1</a:t>
            </a:r>
            <a:endParaRPr lang="ko-KR" altLang="ko-KR"/>
          </a:p>
          <a:p>
            <a:pPr marL="0" indent="0">
              <a:buNone/>
            </a:pPr>
            <a:r>
              <a:rPr lang="en-US" altLang="ko-KR" smtClean="0"/>
              <a:t>where </a:t>
            </a:r>
            <a:r>
              <a:rPr lang="en-US" altLang="ko-KR"/>
              <a:t>2 &gt; (select count(*) from emp e2</a:t>
            </a:r>
            <a:endParaRPr lang="ko-KR" altLang="ko-KR"/>
          </a:p>
          <a:p>
            <a:pPr marL="0" indent="0">
              <a:buNone/>
            </a:pPr>
            <a:r>
              <a:rPr lang="en-US" altLang="ko-KR"/>
              <a:t>  </a:t>
            </a:r>
            <a:r>
              <a:rPr lang="en-US" altLang="ko-KR" smtClean="0"/>
              <a:t>                where </a:t>
            </a:r>
            <a:r>
              <a:rPr lang="en-US" altLang="ko-KR"/>
              <a:t>e2.sal &gt; e1.sal</a:t>
            </a:r>
            <a:endParaRPr lang="ko-KR" altLang="ko-KR"/>
          </a:p>
          <a:p>
            <a:pPr marL="0" indent="0">
              <a:buNone/>
            </a:pPr>
            <a:r>
              <a:rPr lang="en-US" altLang="ko-KR"/>
              <a:t>  </a:t>
            </a:r>
            <a:r>
              <a:rPr lang="en-US" altLang="ko-KR" smtClean="0"/>
              <a:t>                and </a:t>
            </a:r>
            <a:r>
              <a:rPr lang="en-US" altLang="ko-KR"/>
              <a:t>e2.deptno = e1.deptno)</a:t>
            </a:r>
            <a:endParaRPr lang="ko-KR" altLang="ko-KR"/>
          </a:p>
          <a:p>
            <a:pPr marL="0" indent="0">
              <a:buNone/>
            </a:pPr>
            <a:r>
              <a:rPr lang="en-US" altLang="ko-KR" smtClean="0"/>
              <a:t>order </a:t>
            </a:r>
            <a:r>
              <a:rPr lang="en-US" altLang="ko-KR"/>
              <a:t>by deptno, sal desc;</a:t>
            </a:r>
            <a:endParaRPr lang="ko-KR" altLang="ko-KR"/>
          </a:p>
          <a:p>
            <a:pPr marL="0" indent="0">
              <a:buNone/>
            </a:pPr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7094341" y="3263776"/>
            <a:ext cx="369976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/>
            <a:r>
              <a:rPr lang="en-US" altLang="ko-KR"/>
              <a:t> DEPTNO </a:t>
            </a:r>
            <a:r>
              <a:rPr lang="en-US" altLang="ko-KR" smtClean="0"/>
              <a:t>  ENAME           </a:t>
            </a:r>
            <a:r>
              <a:rPr lang="en-US" altLang="ko-KR"/>
              <a:t>SAL</a:t>
            </a:r>
            <a:endParaRPr lang="ko-KR" altLang="ko-KR"/>
          </a:p>
          <a:p>
            <a:pPr latinLnBrk="1"/>
            <a:r>
              <a:rPr lang="en-US" altLang="ko-KR"/>
              <a:t>---------- </a:t>
            </a:r>
            <a:r>
              <a:rPr lang="en-US" altLang="ko-KR" smtClean="0"/>
              <a:t>      -------------        ----------</a:t>
            </a:r>
            <a:endParaRPr lang="ko-KR" altLang="ko-KR"/>
          </a:p>
          <a:p>
            <a:pPr latinLnBrk="1"/>
            <a:r>
              <a:rPr lang="en-US" altLang="ko-KR"/>
              <a:t>        10 </a:t>
            </a:r>
            <a:r>
              <a:rPr lang="en-US" altLang="ko-KR" smtClean="0"/>
              <a:t>         KING             </a:t>
            </a:r>
            <a:r>
              <a:rPr lang="en-US" altLang="ko-KR"/>
              <a:t>5000</a:t>
            </a:r>
            <a:endParaRPr lang="ko-KR" altLang="ko-KR"/>
          </a:p>
          <a:p>
            <a:pPr latinLnBrk="1"/>
            <a:r>
              <a:rPr lang="en-US" altLang="ko-KR"/>
              <a:t>        10 </a:t>
            </a:r>
            <a:r>
              <a:rPr lang="en-US" altLang="ko-KR" smtClean="0"/>
              <a:t>         CLARK           </a:t>
            </a:r>
            <a:r>
              <a:rPr lang="en-US" altLang="ko-KR"/>
              <a:t>2450</a:t>
            </a:r>
            <a:endParaRPr lang="ko-KR" altLang="ko-KR"/>
          </a:p>
          <a:p>
            <a:pPr latinLnBrk="1"/>
            <a:r>
              <a:rPr lang="en-US" altLang="ko-KR"/>
              <a:t>        20 </a:t>
            </a:r>
            <a:r>
              <a:rPr lang="en-US" altLang="ko-KR" smtClean="0"/>
              <a:t>         SCOTT           </a:t>
            </a:r>
            <a:r>
              <a:rPr lang="en-US" altLang="ko-KR"/>
              <a:t>3000</a:t>
            </a:r>
            <a:endParaRPr lang="ko-KR" altLang="ko-KR"/>
          </a:p>
          <a:p>
            <a:pPr latinLnBrk="1"/>
            <a:r>
              <a:rPr lang="en-US" altLang="ko-KR"/>
              <a:t>        20 </a:t>
            </a:r>
            <a:r>
              <a:rPr lang="en-US" altLang="ko-KR" smtClean="0"/>
              <a:t>         FORD            </a:t>
            </a:r>
            <a:r>
              <a:rPr lang="en-US" altLang="ko-KR"/>
              <a:t>3000</a:t>
            </a:r>
            <a:endParaRPr lang="ko-KR" altLang="ko-KR"/>
          </a:p>
          <a:p>
            <a:pPr latinLnBrk="1"/>
            <a:r>
              <a:rPr lang="en-US" altLang="ko-KR"/>
              <a:t>        30 </a:t>
            </a:r>
            <a:r>
              <a:rPr lang="en-US" altLang="ko-KR" smtClean="0"/>
              <a:t>        BLAKE           </a:t>
            </a:r>
            <a:r>
              <a:rPr lang="en-US" altLang="ko-KR"/>
              <a:t>2850</a:t>
            </a:r>
            <a:endParaRPr lang="ko-KR" altLang="ko-KR"/>
          </a:p>
          <a:p>
            <a:pPr latinLnBrk="1"/>
            <a:r>
              <a:rPr lang="en-US" altLang="ko-KR"/>
              <a:t>        30 </a:t>
            </a:r>
            <a:r>
              <a:rPr lang="en-US" altLang="ko-KR" smtClean="0"/>
              <a:t>        ALLEN           </a:t>
            </a:r>
            <a:r>
              <a:rPr lang="en-US" altLang="ko-KR"/>
              <a:t>1600</a:t>
            </a:r>
            <a:endParaRPr lang="ko-KR" altLang="ko-KR"/>
          </a:p>
        </p:txBody>
      </p:sp>
      <p:sp>
        <p:nvSpPr>
          <p:cNvPr id="6" name="직사각형 5"/>
          <p:cNvSpPr/>
          <p:nvPr/>
        </p:nvSpPr>
        <p:spPr>
          <a:xfrm>
            <a:off x="8145109" y="5777469"/>
            <a:ext cx="32122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>
                <a:solidFill>
                  <a:srgbClr val="FF0000"/>
                </a:solidFill>
              </a:rPr>
              <a:t>This practice makes the expert</a:t>
            </a:r>
          </a:p>
        </p:txBody>
      </p:sp>
    </p:spTree>
    <p:extLst>
      <p:ext uri="{BB962C8B-B14F-4D97-AF65-F5344CB8AC3E}">
        <p14:creationId xmlns:p14="http://schemas.microsoft.com/office/powerpoint/2010/main" val="4209735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예문 </a:t>
            </a:r>
            <a:r>
              <a:rPr lang="en-US" altLang="ko-KR" smtClean="0"/>
              <a:t>- 8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559663"/>
          </a:xfrm>
        </p:spPr>
        <p:txBody>
          <a:bodyPr>
            <a:normAutofit fontScale="85000" lnSpcReduction="20000"/>
          </a:bodyPr>
          <a:lstStyle/>
          <a:p>
            <a:r>
              <a:rPr lang="ko-KR" altLang="ko-KR" b="1" smtClean="0">
                <a:solidFill>
                  <a:srgbClr val="0070C0"/>
                </a:solidFill>
              </a:rPr>
              <a:t>사원이 </a:t>
            </a:r>
            <a:r>
              <a:rPr lang="ko-KR" altLang="ko-KR" b="1">
                <a:solidFill>
                  <a:srgbClr val="0070C0"/>
                </a:solidFill>
              </a:rPr>
              <a:t>한명이라도 있는 부서명 출력</a:t>
            </a:r>
          </a:p>
          <a:p>
            <a:pPr marL="0" indent="0">
              <a:buNone/>
            </a:pPr>
            <a:r>
              <a:rPr lang="en-US" altLang="ko-KR" smtClean="0"/>
              <a:t>SELECT </a:t>
            </a:r>
            <a:r>
              <a:rPr lang="en-US" altLang="ko-KR"/>
              <a:t>dname FROM dept d</a:t>
            </a:r>
            <a:endParaRPr lang="ko-KR" altLang="ko-KR"/>
          </a:p>
          <a:p>
            <a:pPr marL="0" indent="0">
              <a:buNone/>
            </a:pPr>
            <a:r>
              <a:rPr lang="en-US" altLang="ko-KR"/>
              <a:t>    WHERE EXISTS ( SELECT 1 FROM emp WHERE deptno = d.deptno);</a:t>
            </a:r>
            <a:endParaRPr lang="ko-KR" altLang="ko-KR"/>
          </a:p>
          <a:p>
            <a:pPr marL="0" indent="0">
              <a:buNone/>
            </a:pPr>
            <a:r>
              <a:rPr lang="en-US" altLang="ko-KR"/>
              <a:t> </a:t>
            </a:r>
            <a:endParaRPr lang="ko-KR" altLang="ko-KR"/>
          </a:p>
          <a:p>
            <a:pPr marL="0" indent="0">
              <a:buNone/>
            </a:pPr>
            <a:r>
              <a:rPr lang="en-US" altLang="ko-KR" smtClean="0"/>
              <a:t>     DNAME</a:t>
            </a:r>
            <a:endParaRPr lang="ko-KR" altLang="ko-KR"/>
          </a:p>
          <a:p>
            <a:pPr marL="0" indent="0">
              <a:buNone/>
            </a:pPr>
            <a:r>
              <a:rPr lang="en-US" altLang="ko-KR" smtClean="0"/>
              <a:t>-----------------------</a:t>
            </a:r>
            <a:endParaRPr lang="ko-KR" altLang="ko-KR"/>
          </a:p>
          <a:p>
            <a:pPr marL="0" indent="0">
              <a:buNone/>
            </a:pPr>
            <a:r>
              <a:rPr lang="en-US" altLang="ko-KR"/>
              <a:t>ACCOUNTING</a:t>
            </a:r>
            <a:endParaRPr lang="ko-KR" altLang="ko-KR"/>
          </a:p>
          <a:p>
            <a:pPr marL="0" indent="0">
              <a:buNone/>
            </a:pPr>
            <a:r>
              <a:rPr lang="en-US" altLang="ko-KR"/>
              <a:t>RESEARCH</a:t>
            </a:r>
            <a:endParaRPr lang="ko-KR" altLang="ko-KR"/>
          </a:p>
          <a:p>
            <a:pPr marL="0" indent="0">
              <a:buNone/>
            </a:pPr>
            <a:r>
              <a:rPr lang="en-US" altLang="ko-KR"/>
              <a:t>SALES</a:t>
            </a:r>
            <a:endParaRPr lang="ko-KR" altLang="ko-KR"/>
          </a:p>
          <a:p>
            <a:pPr marL="0" indent="0">
              <a:buNone/>
            </a:pPr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8145109" y="5777469"/>
            <a:ext cx="32122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>
                <a:solidFill>
                  <a:srgbClr val="FF0000"/>
                </a:solidFill>
              </a:rPr>
              <a:t>This practice makes the expert</a:t>
            </a:r>
          </a:p>
        </p:txBody>
      </p:sp>
    </p:spTree>
    <p:extLst>
      <p:ext uri="{BB962C8B-B14F-4D97-AF65-F5344CB8AC3E}">
        <p14:creationId xmlns:p14="http://schemas.microsoft.com/office/powerpoint/2010/main" val="1339417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1289070" y="1295082"/>
            <a:ext cx="9613861" cy="1080938"/>
          </a:xfrm>
        </p:spPr>
        <p:txBody>
          <a:bodyPr/>
          <a:lstStyle/>
          <a:p>
            <a:r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This practice makes Expert!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Picture 4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88946" y="3276427"/>
            <a:ext cx="2280788" cy="2736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4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01975" y="3276428"/>
            <a:ext cx="2280787" cy="273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4">
            <a:hlinkClick r:id="rId6"/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75658" y="3276427"/>
            <a:ext cx="2280787" cy="2736304"/>
          </a:xfrm>
          <a:prstGeom prst="rect">
            <a:avLst/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7981203" y="2611947"/>
            <a:ext cx="2869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>
                <a:latin typeface="맑은 고딕" panose="020B0503020000020004" pitchFamily="50" charset="-127"/>
                <a:ea typeface="맑은 고딕" panose="020B0503020000020004" pitchFamily="50" charset="-127"/>
              </a:rPr>
              <a:t>PL/SQL</a:t>
            </a:r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단기속성</a:t>
            </a:r>
            <a:r>
              <a:rPr lang="en-US" altLang="ko-KR" b="1">
                <a:latin typeface="맑은 고딕" panose="020B0503020000020004" pitchFamily="50" charset="-127"/>
                <a:ea typeface="맑은 고딕" panose="020B0503020000020004" pitchFamily="50" charset="-127"/>
              </a:rPr>
              <a:t>(1</a:t>
            </a:r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일완성</a:t>
            </a:r>
            <a:r>
              <a:rPr lang="en-US" altLang="ko-KR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483884" y="2611947"/>
            <a:ext cx="3090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t"/>
            <a:r>
              <a:rPr lang="en-US" altLang="ko-KR" b="1">
                <a:latin typeface="맑은 고딕" panose="020B0503020000020004" pitchFamily="50" charset="-127"/>
                <a:ea typeface="맑은 고딕" panose="020B0503020000020004" pitchFamily="50" charset="-127"/>
              </a:rPr>
              <a:t>SQL</a:t>
            </a:r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힌트</a:t>
            </a:r>
            <a:r>
              <a:rPr lang="en-US" altLang="ko-KR" b="1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튜닝</a:t>
            </a:r>
            <a:r>
              <a:rPr lang="en-US" altLang="ko-KR" b="1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단기</a:t>
            </a:r>
            <a:r>
              <a:rPr lang="en-US" altLang="ko-KR" b="1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일교육</a:t>
            </a:r>
            <a:r>
              <a:rPr lang="en-US" altLang="ko-KR" b="1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369" y="2611947"/>
            <a:ext cx="1535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t"/>
            <a:r>
              <a:rPr lang="en-US" altLang="ko-KR" b="1">
                <a:latin typeface="맑은 고딕" panose="020B0503020000020004" pitchFamily="50" charset="-127"/>
                <a:ea typeface="맑은 고딕" panose="020B0503020000020004" pitchFamily="50" charset="-127"/>
              </a:rPr>
              <a:t>SQL</a:t>
            </a:r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기초과정</a:t>
            </a:r>
          </a:p>
        </p:txBody>
      </p:sp>
    </p:spTree>
    <p:extLst>
      <p:ext uri="{BB962C8B-B14F-4D97-AF65-F5344CB8AC3E}">
        <p14:creationId xmlns:p14="http://schemas.microsoft.com/office/powerpoint/2010/main" val="6703273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자연주의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75</TotalTime>
  <Words>777</Words>
  <Application>Microsoft Office PowerPoint</Application>
  <PresentationFormat>사용자 지정</PresentationFormat>
  <Paragraphs>137</Paragraphs>
  <Slides>13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4" baseType="lpstr">
      <vt:lpstr>자연주의</vt:lpstr>
      <vt:lpstr>SQL 기초과정 #7</vt:lpstr>
      <vt:lpstr>강의자료, 실습코드는 다음 URL에서  확인하실 수 있습니다.</vt:lpstr>
      <vt:lpstr>상관 서브쿼리(Correlated Sub Query)</vt:lpstr>
      <vt:lpstr>상관 서브쿼리 실행 순서</vt:lpstr>
      <vt:lpstr>예문 - 1</vt:lpstr>
      <vt:lpstr>예문 - 2</vt:lpstr>
      <vt:lpstr>예문 - 3</vt:lpstr>
      <vt:lpstr>예문 - 4</vt:lpstr>
      <vt:lpstr>예문 - 5</vt:lpstr>
      <vt:lpstr>예문 - 6</vt:lpstr>
      <vt:lpstr>예문 - 7</vt:lpstr>
      <vt:lpstr>예문 - 8</vt:lpstr>
      <vt:lpstr>This practice makes Expert!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기초과정</dc:title>
  <dc:creator>topcreate</dc:creator>
  <cp:lastModifiedBy>Registered User</cp:lastModifiedBy>
  <cp:revision>11</cp:revision>
  <dcterms:created xsi:type="dcterms:W3CDTF">2016-10-22T07:33:04Z</dcterms:created>
  <dcterms:modified xsi:type="dcterms:W3CDTF">2016-11-18T05:47:14Z</dcterms:modified>
</cp:coreProperties>
</file>